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Machine learning</a:t>
            </a:r>
          </a:p>
        </p:txBody>
      </p:sp>
      <p:sp>
        <p:nvSpPr>
          <p:cNvPr id="3" name="Subtitle 2"/>
          <p:cNvSpPr>
            <a:spLocks noGrp="1"/>
          </p:cNvSpPr>
          <p:nvPr>
            <p:ph type="subTitle" idx="1"/>
          </p:nvPr>
        </p:nvSpPr>
        <p:spPr/>
        <p:txBody>
          <a:bodyPr/>
          <a:lstStyle/>
          <a:p>
            <a:r>
              <a:t>Generated by AI Course Creator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 1.1: What is Machine Learning? (Part 1)</a:t>
            </a:r>
          </a:p>
        </p:txBody>
      </p:sp>
      <p:sp>
        <p:nvSpPr>
          <p:cNvPr id="3" name="Content Placeholder 2"/>
          <p:cNvSpPr>
            <a:spLocks noGrp="1"/>
          </p:cNvSpPr>
          <p:nvPr>
            <p:ph idx="1"/>
          </p:nvPr>
        </p:nvSpPr>
        <p:spPr/>
        <p:txBody>
          <a:bodyPr/>
          <a:lstStyle/>
          <a:p/>
          <a:p>
            <a:pPr>
              <a:spcAft>
                <a:spcPts val="500"/>
              </a:spcAft>
              <a:defRPr sz="1800">
                <a:latin typeface="DejaVu Sans"/>
              </a:defRPr>
            </a:pPr>
            <a:r>
              <a:t>• Machine Learning (ML) is a subset of AI that allows systems to learn from data, identify patterns, and make decisions or predictions with minimal human intervention, continuously improving with more experience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 1.1: What is Machine Learning? (Part 2)</a:t>
            </a:r>
          </a:p>
        </p:txBody>
      </p:sp>
      <p:sp>
        <p:nvSpPr>
          <p:cNvPr id="3" name="Content Placeholder 2"/>
          <p:cNvSpPr>
            <a:spLocks noGrp="1"/>
          </p:cNvSpPr>
          <p:nvPr>
            <p:ph idx="1"/>
          </p:nvPr>
        </p:nvSpPr>
        <p:spPr/>
        <p:txBody>
          <a:bodyPr/>
          <a:lstStyle/>
          <a:p/>
          <a:p>
            <a:pPr>
              <a:spcAft>
                <a:spcPts val="500"/>
              </a:spcAft>
              <a:defRPr sz="1800">
                <a:latin typeface="DejaVu Sans"/>
              </a:defRPr>
            </a:pPr>
            <a:r>
              <a:t>• Unlike traditional programming which relies on explicit, handcrafted rules, ML algorithms are designed to learn these rules directly from vast datasets, making them effective for complex and dynamic problems.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 1.1: What is Machine Learning? (Part 3)</a:t>
            </a:r>
          </a:p>
        </p:txBody>
      </p:sp>
      <p:sp>
        <p:nvSpPr>
          <p:cNvPr id="3" name="Content Placeholder 2"/>
          <p:cNvSpPr>
            <a:spLocks noGrp="1"/>
          </p:cNvSpPr>
          <p:nvPr>
            <p:ph idx="1"/>
          </p:nvPr>
        </p:nvSpPr>
        <p:spPr/>
        <p:txBody>
          <a:bodyPr/>
          <a:lstStyle/>
          <a:p/>
          <a:p>
            <a:pPr>
              <a:spcAft>
                <a:spcPts val="500"/>
              </a:spcAft>
              <a:defRPr sz="1800">
                <a:latin typeface="DejaVu Sans"/>
              </a:defRPr>
            </a:pPr>
            <a:r>
              <a:t>• Core components of an ML system include Data (raw material), Features (measurable properties), an Algorithm (learning process), and a Model (the learned patterns).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 1.1: What is Machine Learning? (Part 4)</a:t>
            </a:r>
          </a:p>
        </p:txBody>
      </p:sp>
      <p:sp>
        <p:nvSpPr>
          <p:cNvPr id="3" name="Content Placeholder 2"/>
          <p:cNvSpPr>
            <a:spLocks noGrp="1"/>
          </p:cNvSpPr>
          <p:nvPr>
            <p:ph idx="1"/>
          </p:nvPr>
        </p:nvSpPr>
        <p:spPr/>
        <p:txBody>
          <a:bodyPr/>
          <a:lstStyle/>
          <a:p/>
          <a:p>
            <a:pPr>
              <a:spcAft>
                <a:spcPts val="500"/>
              </a:spcAft>
              <a:defRPr sz="1800">
                <a:latin typeface="DejaVu Sans"/>
              </a:defRPr>
            </a:pPr>
            <a:r>
              <a:t>• ML is broadly categorized into three main types: Supervised Learning (learns from labeled data for prediction/classification), Unsupervised Learning (finds patterns in unlabeled data), and Reinforcement Learning (learns via interaction, rewards, and penalties).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 1.2: Types of Machine Learning: Supervised, Unsupervised, Reinforcement (Part 1)</a:t>
            </a:r>
          </a:p>
        </p:txBody>
      </p:sp>
      <p:sp>
        <p:nvSpPr>
          <p:cNvPr id="3" name="Content Placeholder 2"/>
          <p:cNvSpPr>
            <a:spLocks noGrp="1"/>
          </p:cNvSpPr>
          <p:nvPr>
            <p:ph idx="1"/>
          </p:nvPr>
        </p:nvSpPr>
        <p:spPr/>
        <p:txBody>
          <a:bodyPr/>
          <a:lstStyle/>
          <a:p/>
          <a:p>
            <a:pPr>
              <a:spcAft>
                <a:spcPts val="500"/>
              </a:spcAft>
              <a:defRPr sz="1800">
                <a:latin typeface="DejaVu Sans"/>
              </a:defRPr>
            </a:pPr>
            <a:r>
              <a:t>• Welcome to Lesson 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 1.2: Types of Machine Learning: Supervised, Unsupervised, Reinforcement (Part 2)</a:t>
            </a:r>
          </a:p>
        </p:txBody>
      </p:sp>
      <p:sp>
        <p:nvSpPr>
          <p:cNvPr id="3" name="Content Placeholder 2"/>
          <p:cNvSpPr>
            <a:spLocks noGrp="1"/>
          </p:cNvSpPr>
          <p:nvPr>
            <p:ph idx="1"/>
          </p:nvPr>
        </p:nvSpPr>
        <p:spPr/>
        <p:txBody>
          <a:bodyPr/>
          <a:lstStyle/>
          <a:p/>
          <a:p>
            <a:pPr>
              <a:spcAft>
                <a:spcPts val="500"/>
              </a:spcAft>
              <a:defRPr sz="1800">
                <a:latin typeface="DejaVu Sans"/>
              </a:defRPr>
            </a:pPr>
            <a:r>
              <a:t>• 2: Types of Machine Learning: Supervised, Unsupervised, Reinforcement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 1.2: Types of Machine Learning: Supervised, Unsupervised, Reinforcement (Part 3)</a:t>
            </a:r>
          </a:p>
        </p:txBody>
      </p:sp>
      <p:sp>
        <p:nvSpPr>
          <p:cNvPr id="3" name="Content Placeholder 2"/>
          <p:cNvSpPr>
            <a:spLocks noGrp="1"/>
          </p:cNvSpPr>
          <p:nvPr>
            <p:ph idx="1"/>
          </p:nvPr>
        </p:nvSpPr>
        <p:spPr/>
        <p:txBody>
          <a:bodyPr/>
          <a:lstStyle/>
          <a:p/>
          <a:p>
            <a:pPr>
              <a:spcAft>
                <a:spcPts val="500"/>
              </a:spcAft>
              <a:defRPr sz="1800">
                <a:latin typeface="DejaVu Sans"/>
              </a:defRPr>
            </a:pPr>
            <a:r>
              <a:t>•  In the previous lesson, we introduced the fundamental concept of machine learning and its importance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 1.2: Types of Machine Learning: Supervised, Unsupervised, Reinforcement (Part 4)</a:t>
            </a:r>
          </a:p>
        </p:txBody>
      </p:sp>
      <p:sp>
        <p:nvSpPr>
          <p:cNvPr id="3" name="Content Placeholder 2"/>
          <p:cNvSpPr>
            <a:spLocks noGrp="1"/>
          </p:cNvSpPr>
          <p:nvPr>
            <p:ph idx="1"/>
          </p:nvPr>
        </p:nvSpPr>
        <p:spPr/>
        <p:txBody>
          <a:bodyPr/>
          <a:lstStyle/>
          <a:p/>
          <a:p>
            <a:pPr>
              <a:spcAft>
                <a:spcPts val="500"/>
              </a:spcAft>
              <a:defRPr sz="1800">
                <a:latin typeface="DejaVu Sans"/>
              </a:defRPr>
            </a:pPr>
            <a:r>
              <a:t>•  Now, we'll delve into the different categories of machine learning algorithms, which are broadly classified based on how they learn from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 1.3: Key Concepts: Data, Features, Labels, Models (Part 1)</a:t>
            </a:r>
          </a:p>
        </p:txBody>
      </p:sp>
      <p:sp>
        <p:nvSpPr>
          <p:cNvPr id="3" name="Content Placeholder 2"/>
          <p:cNvSpPr>
            <a:spLocks noGrp="1"/>
          </p:cNvSpPr>
          <p:nvPr>
            <p:ph idx="1"/>
          </p:nvPr>
        </p:nvSpPr>
        <p:spPr/>
        <p:txBody>
          <a:bodyPr/>
          <a:lstStyle/>
          <a:p/>
          <a:p>
            <a:pPr>
              <a:spcAft>
                <a:spcPts val="500"/>
              </a:spcAft>
              <a:defRPr sz="1800">
                <a:latin typeface="DejaVu Sans"/>
              </a:defRPr>
            </a:pPr>
            <a:r>
              <a:t>• Data is the raw information (facts, figures, observations) that fuels machine learning algorithms, enabling them to identify patterns.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 1.3: Key Concepts: Data, Features, Labels, Models (Part 2)</a:t>
            </a:r>
          </a:p>
        </p:txBody>
      </p:sp>
      <p:sp>
        <p:nvSpPr>
          <p:cNvPr id="3" name="Content Placeholder 2"/>
          <p:cNvSpPr>
            <a:spLocks noGrp="1"/>
          </p:cNvSpPr>
          <p:nvPr>
            <p:ph idx="1"/>
          </p:nvPr>
        </p:nvSpPr>
        <p:spPr/>
        <p:txBody>
          <a:bodyPr/>
          <a:lstStyle/>
          <a:p/>
          <a:p>
            <a:pPr>
              <a:spcAft>
                <a:spcPts val="500"/>
              </a:spcAft>
              <a:defRPr sz="1800">
                <a:latin typeface="DejaVu Sans"/>
              </a:defRPr>
            </a:pPr>
            <a:r>
              <a:t>• Features are the specific, measurable input attributes or characteristics within the data that an algorithm uses to learn.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 1.3: Key Concepts: Data, Features, Labels, Models (Part 3)</a:t>
            </a:r>
          </a:p>
        </p:txBody>
      </p:sp>
      <p:sp>
        <p:nvSpPr>
          <p:cNvPr id="3" name="Content Placeholder 2"/>
          <p:cNvSpPr>
            <a:spLocks noGrp="1"/>
          </p:cNvSpPr>
          <p:nvPr>
            <p:ph idx="1"/>
          </p:nvPr>
        </p:nvSpPr>
        <p:spPr/>
        <p:txBody>
          <a:bodyPr/>
          <a:lstStyle/>
          <a:p/>
          <a:p>
            <a:pPr>
              <a:spcAft>
                <a:spcPts val="500"/>
              </a:spcAft>
              <a:defRPr sz="1800">
                <a:latin typeface="DejaVu Sans"/>
              </a:defRPr>
            </a:pPr>
            <a:r>
              <a:t>• Labels are the target outputs or the 'answers' that a supervised machine learning model is trained to predict based on given features.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 1.3: Key Concepts: Data, Features, Labels, Models (Part 4)</a:t>
            </a:r>
          </a:p>
        </p:txBody>
      </p:sp>
      <p:sp>
        <p:nvSpPr>
          <p:cNvPr id="3" name="Content Placeholder 2"/>
          <p:cNvSpPr>
            <a:spLocks noGrp="1"/>
          </p:cNvSpPr>
          <p:nvPr>
            <p:ph idx="1"/>
          </p:nvPr>
        </p:nvSpPr>
        <p:spPr/>
        <p:txBody>
          <a:bodyPr/>
          <a:lstStyle/>
          <a:p/>
          <a:p>
            <a:pPr>
              <a:spcAft>
                <a:spcPts val="500"/>
              </a:spcAft>
              <a:defRPr sz="1800">
                <a:latin typeface="DejaVu Sans"/>
              </a:defRPr>
            </a:pPr>
            <a:r>
              <a:t>• A Model is the core algorithm or mathematical function that, once trained, has learned the relationship between features and labels.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1.4: 1.4: Machine Learning Workflow: Data Collection to Deployment (Part 1)</a:t>
            </a:r>
          </a:p>
        </p:txBody>
      </p:sp>
      <p:sp>
        <p:nvSpPr>
          <p:cNvPr id="3" name="Content Placeholder 2"/>
          <p:cNvSpPr>
            <a:spLocks noGrp="1"/>
          </p:cNvSpPr>
          <p:nvPr>
            <p:ph idx="1"/>
          </p:nvPr>
        </p:nvSpPr>
        <p:spPr/>
        <p:txBody>
          <a:bodyPr/>
          <a:lstStyle/>
          <a:p/>
          <a:p>
            <a:pPr>
              <a:spcAft>
                <a:spcPts val="500"/>
              </a:spcAft>
              <a:defRPr sz="1800">
                <a:latin typeface="DejaVu Sans"/>
              </a:defRPr>
            </a:pPr>
            <a:r>
              <a:t>• The ML workflow begins with clearly defining the problem, business objective, and ML task.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1.4: 1.4: Machine Learning Workflow: Data Collection to Deployment (Part 2)</a:t>
            </a:r>
          </a:p>
        </p:txBody>
      </p:sp>
      <p:sp>
        <p:nvSpPr>
          <p:cNvPr id="3" name="Content Placeholder 2"/>
          <p:cNvSpPr>
            <a:spLocks noGrp="1"/>
          </p:cNvSpPr>
          <p:nvPr>
            <p:ph idx="1"/>
          </p:nvPr>
        </p:nvSpPr>
        <p:spPr/>
        <p:txBody>
          <a:bodyPr/>
          <a:lstStyle/>
          <a:p/>
          <a:p>
            <a:pPr>
              <a:spcAft>
                <a:spcPts val="500"/>
              </a:spcAft>
              <a:defRPr sz="1800">
                <a:latin typeface="DejaVu Sans"/>
              </a:defRPr>
            </a:pPr>
            <a:r>
              <a:t>• Data is collected, then rigorously preprocessed through cleaning, transformation, and feature engineering to prepare it for modeling.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1.4: 1.4: Machine Learning Workflow: Data Collection to Deployment (Part 3)</a:t>
            </a:r>
          </a:p>
        </p:txBody>
      </p:sp>
      <p:sp>
        <p:nvSpPr>
          <p:cNvPr id="3" name="Content Placeholder 2"/>
          <p:cNvSpPr>
            <a:spLocks noGrp="1"/>
          </p:cNvSpPr>
          <p:nvPr>
            <p:ph idx="1"/>
          </p:nvPr>
        </p:nvSpPr>
        <p:spPr/>
        <p:txBody>
          <a:bodyPr/>
          <a:lstStyle/>
          <a:p/>
          <a:p>
            <a:pPr>
              <a:spcAft>
                <a:spcPts val="500"/>
              </a:spcAft>
              <a:defRPr sz="1800">
                <a:latin typeface="DejaVu Sans"/>
              </a:defRPr>
            </a:pPr>
            <a:r>
              <a:t>• An appropriate ML model is selected, trained on prepared data (split into train/validation/test sets), and its hyperparameters are tuned.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1.4: 1.4: Machine Learning Workflow: Data Collection to Deployment (Part 4)</a:t>
            </a:r>
          </a:p>
        </p:txBody>
      </p:sp>
      <p:sp>
        <p:nvSpPr>
          <p:cNvPr id="3" name="Content Placeholder 2"/>
          <p:cNvSpPr>
            <a:spLocks noGrp="1"/>
          </p:cNvSpPr>
          <p:nvPr>
            <p:ph idx="1"/>
          </p:nvPr>
        </p:nvSpPr>
        <p:spPr/>
        <p:txBody>
          <a:bodyPr/>
          <a:lstStyle/>
          <a:p/>
          <a:p>
            <a:pPr>
              <a:spcAft>
                <a:spcPts val="500"/>
              </a:spcAft>
              <a:defRPr sz="1800">
                <a:latin typeface="DejaVu Sans"/>
              </a:defRPr>
            </a:pPr>
            <a:r>
              <a:t>• Model performance is rigorously evaluated using specific metrics on an unseen test set to ensure its effectiveness and reliability.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1.5: 1.5: Ethical Considerations and Bias in ML (Part 1)</a:t>
            </a:r>
          </a:p>
        </p:txBody>
      </p:sp>
      <p:sp>
        <p:nvSpPr>
          <p:cNvPr id="3" name="Content Placeholder 2"/>
          <p:cNvSpPr>
            <a:spLocks noGrp="1"/>
          </p:cNvSpPr>
          <p:nvPr>
            <p:ph idx="1"/>
          </p:nvPr>
        </p:nvSpPr>
        <p:spPr/>
        <p:txBody>
          <a:bodyPr/>
          <a:lstStyle/>
          <a:p/>
          <a:p>
            <a:pPr>
              <a:spcAft>
                <a:spcPts val="500"/>
              </a:spcAft>
              <a:defRPr sz="1800">
                <a:latin typeface="DejaVu Sans"/>
              </a:defRPr>
            </a:pPr>
            <a:r>
              <a:t>• ML ethics addresses systematic bias—unfair discrimination introduced at various stages of the ML pipeline—which significantly impacts societal fairness and well-being.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1.5: 1.5: Ethical Considerations and Bias in ML (Part 2)</a:t>
            </a:r>
          </a:p>
        </p:txBody>
      </p:sp>
      <p:sp>
        <p:nvSpPr>
          <p:cNvPr id="3" name="Content Placeholder 2"/>
          <p:cNvSpPr>
            <a:spLocks noGrp="1"/>
          </p:cNvSpPr>
          <p:nvPr>
            <p:ph idx="1"/>
          </p:nvPr>
        </p:nvSpPr>
        <p:spPr/>
        <p:txBody>
          <a:bodyPr/>
          <a:lstStyle/>
          <a:p/>
          <a:p>
            <a:pPr>
              <a:spcAft>
                <a:spcPts val="500"/>
              </a:spcAft>
              <a:defRPr sz="1800">
                <a:latin typeface="DejaVu Sans"/>
              </a:defRPr>
            </a:pPr>
            <a:r>
              <a:t>• Primary sources of bias include unrepresentative training data (selection, historical, measurement, representation bias), algorithmic design choices, and human biases from developers and users.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1.5: 1.5: Ethical Considerations and Bias in ML (Part 3)</a:t>
            </a:r>
          </a:p>
        </p:txBody>
      </p:sp>
      <p:sp>
        <p:nvSpPr>
          <p:cNvPr id="3" name="Content Placeholder 2"/>
          <p:cNvSpPr>
            <a:spLocks noGrp="1"/>
          </p:cNvSpPr>
          <p:nvPr>
            <p:ph idx="1"/>
          </p:nvPr>
        </p:nvSpPr>
        <p:spPr/>
        <p:txBody>
          <a:bodyPr/>
          <a:lstStyle/>
          <a:p/>
          <a:p>
            <a:pPr>
              <a:spcAft>
                <a:spcPts val="500"/>
              </a:spcAft>
              <a:defRPr sz="1800">
                <a:latin typeface="DejaVu Sans"/>
              </a:defRPr>
            </a:pPr>
            <a:r>
              <a:t>• Unchecked bias leads to severe consequences like discrimination, unfairness in critical applications (e.g., healthcare, justice), eroded public trust, and potential safety issues.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1.5: 1.5: Ethical Considerations and Bias in ML (Part 4)</a:t>
            </a:r>
          </a:p>
        </p:txBody>
      </p:sp>
      <p:sp>
        <p:nvSpPr>
          <p:cNvPr id="3" name="Content Placeholder 2"/>
          <p:cNvSpPr>
            <a:spLocks noGrp="1"/>
          </p:cNvSpPr>
          <p:nvPr>
            <p:ph idx="1"/>
          </p:nvPr>
        </p:nvSpPr>
        <p:spPr/>
        <p:txBody>
          <a:bodyPr/>
          <a:lstStyle/>
          <a:p/>
          <a:p>
            <a:pPr>
              <a:spcAft>
                <a:spcPts val="500"/>
              </a:spcAft>
              <a:defRPr sz="1800">
                <a:latin typeface="DejaVu Sans"/>
              </a:defRPr>
            </a:pPr>
            <a:r>
              <a:t>• Mitigation requires a multi-faceted approach including ensuring diverse and representative datasets, employing fairness-aware algorithms, and leveraging Explainable AI (XAI) techniques.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2.1: 2.1: Introduction to Supervised Learning (Part 1)</a:t>
            </a:r>
          </a:p>
        </p:txBody>
      </p:sp>
      <p:sp>
        <p:nvSpPr>
          <p:cNvPr id="3" name="Content Placeholder 2"/>
          <p:cNvSpPr>
            <a:spLocks noGrp="1"/>
          </p:cNvSpPr>
          <p:nvPr>
            <p:ph idx="1"/>
          </p:nvPr>
        </p:nvSpPr>
        <p:spPr/>
        <p:txBody>
          <a:bodyPr/>
          <a:lstStyle/>
          <a:p/>
          <a:p>
            <a:pPr>
              <a:spcAft>
                <a:spcPts val="500"/>
              </a:spcAft>
              <a:defRPr sz="1800">
                <a:latin typeface="DejaVu Sans"/>
              </a:defRPr>
            </a:pPr>
            <a:r>
              <a:t>• Supervised Learning (SL) is a machine learning paradigm where algorithms learn from datasets containing both input features and their corresponding correct output labels.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2.1: 2.1: Introduction to Supervised Learning (Part 2)</a:t>
            </a:r>
          </a:p>
        </p:txBody>
      </p:sp>
      <p:sp>
        <p:nvSpPr>
          <p:cNvPr id="3" name="Content Placeholder 2"/>
          <p:cNvSpPr>
            <a:spLocks noGrp="1"/>
          </p:cNvSpPr>
          <p:nvPr>
            <p:ph idx="1"/>
          </p:nvPr>
        </p:nvSpPr>
        <p:spPr/>
        <p:txBody>
          <a:bodyPr/>
          <a:lstStyle/>
          <a:p/>
          <a:p>
            <a:pPr>
              <a:spcAft>
                <a:spcPts val="500"/>
              </a:spcAft>
              <a:defRPr sz="1800">
                <a:latin typeface="DejaVu Sans"/>
              </a:defRPr>
            </a:pPr>
            <a:r>
              <a:t>• The core process involves training a model with labeled data to learn a mapping function, which is then used to predict outputs for new, unseen input data, followed by evaluation.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2.1: 2.1: Introduction to Supervised Learning (Part 3)</a:t>
            </a:r>
          </a:p>
        </p:txBody>
      </p:sp>
      <p:sp>
        <p:nvSpPr>
          <p:cNvPr id="3" name="Content Placeholder 2"/>
          <p:cNvSpPr>
            <a:spLocks noGrp="1"/>
          </p:cNvSpPr>
          <p:nvPr>
            <p:ph idx="1"/>
          </p:nvPr>
        </p:nvSpPr>
        <p:spPr/>
        <p:txBody>
          <a:bodyPr/>
          <a:lstStyle/>
          <a:p/>
          <a:p>
            <a:pPr>
              <a:spcAft>
                <a:spcPts val="500"/>
              </a:spcAft>
              <a:defRPr sz="1800">
                <a:latin typeface="DejaVu Sans"/>
              </a:defRPr>
            </a:pPr>
            <a:r>
              <a:t>• SL problems are broadly categorized into Regression (predicting continuous numerical values, e.g., house prices) and Classification (predicting discrete categories or class labels, e.g., 'spam' or 'not spam').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2.1: 2.1: Introduction to Supervised Learning (Part 4)</a:t>
            </a:r>
          </a:p>
        </p:txBody>
      </p:sp>
      <p:sp>
        <p:nvSpPr>
          <p:cNvPr id="3" name="Content Placeholder 2"/>
          <p:cNvSpPr>
            <a:spLocks noGrp="1"/>
          </p:cNvSpPr>
          <p:nvPr>
            <p:ph idx="1"/>
          </p:nvPr>
        </p:nvSpPr>
        <p:spPr/>
        <p:txBody>
          <a:bodyPr/>
          <a:lstStyle/>
          <a:p/>
          <a:p>
            <a:pPr>
              <a:spcAft>
                <a:spcPts val="500"/>
              </a:spcAft>
              <a:defRPr sz="1800">
                <a:latin typeface="DejaVu Sans"/>
              </a:defRPr>
            </a:pPr>
            <a:r>
              <a:t>• Key components include labeled data, a chosen model/algorithm (like Linear Regression, Decision Trees, SVMs), training the model, making predictions, and evaluating performance.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2.2: 2.2: Linear Regression: Simple and Multiple (Part 1)</a:t>
            </a:r>
          </a:p>
        </p:txBody>
      </p:sp>
      <p:sp>
        <p:nvSpPr>
          <p:cNvPr id="3" name="Content Placeholder 2"/>
          <p:cNvSpPr>
            <a:spLocks noGrp="1"/>
          </p:cNvSpPr>
          <p:nvPr>
            <p:ph idx="1"/>
          </p:nvPr>
        </p:nvSpPr>
        <p:spPr/>
        <p:txBody>
          <a:bodyPr/>
          <a:lstStyle/>
          <a:p/>
          <a:p>
            <a:pPr>
              <a:spcAft>
                <a:spcPts val="500"/>
              </a:spcAft>
              <a:defRPr sz="1800">
                <a:latin typeface="DejaVu Sans"/>
              </a:defRPr>
            </a:pPr>
            <a:r>
              <a:t>• Linear Regression (LR) is a foundational supervised learning algorithm used to predict continuous target variables by modeling a linear relationship between a dependent variable (Y) and one or more independent variables (X).</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2.2: 2.2: Linear Regression: Simple and Multiple (Part 2)</a:t>
            </a:r>
          </a:p>
        </p:txBody>
      </p:sp>
      <p:sp>
        <p:nvSpPr>
          <p:cNvPr id="3" name="Content Placeholder 2"/>
          <p:cNvSpPr>
            <a:spLocks noGrp="1"/>
          </p:cNvSpPr>
          <p:nvPr>
            <p:ph idx="1"/>
          </p:nvPr>
        </p:nvSpPr>
        <p:spPr/>
        <p:txBody>
          <a:bodyPr/>
          <a:lstStyle/>
          <a:p/>
          <a:p>
            <a:pPr>
              <a:spcAft>
                <a:spcPts val="500"/>
              </a:spcAft>
              <a:defRPr sz="1800">
                <a:latin typeface="DejaVu Sans"/>
              </a:defRPr>
            </a:pPr>
            <a:r>
              <a:t>• Simple Linear Regression (SLR) models Y based on a single X (Y = β₀ + β₁X + ε), while Multiple Linear Regression (MLR) extends this to multiple predictors (Y = β₀ + β₁X₁ + ... + βₚXₚ + ε).</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2.2: 2.2: Linear Regression: Simple and Multiple (Part 3)</a:t>
            </a:r>
          </a:p>
        </p:txBody>
      </p:sp>
      <p:sp>
        <p:nvSpPr>
          <p:cNvPr id="3" name="Content Placeholder 2"/>
          <p:cNvSpPr>
            <a:spLocks noGrp="1"/>
          </p:cNvSpPr>
          <p:nvPr>
            <p:ph idx="1"/>
          </p:nvPr>
        </p:nvSpPr>
        <p:spPr/>
        <p:txBody>
          <a:bodyPr/>
          <a:lstStyle/>
          <a:p/>
          <a:p>
            <a:pPr>
              <a:spcAft>
                <a:spcPts val="500"/>
              </a:spcAft>
              <a:defRPr sz="1800">
                <a:latin typeface="DejaVu Sans"/>
              </a:defRPr>
            </a:pPr>
            <a:r>
              <a:t>• Both SLR and MLR aim to find optimal coefficients by minimizing the sum of squared errors using the Ordinary Least Squares (OLS) method.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2.2: 2.2: Linear Regression: Simple and Multiple (Part 4)</a:t>
            </a:r>
          </a:p>
        </p:txBody>
      </p:sp>
      <p:sp>
        <p:nvSpPr>
          <p:cNvPr id="3" name="Content Placeholder 2"/>
          <p:cNvSpPr>
            <a:spLocks noGrp="1"/>
          </p:cNvSpPr>
          <p:nvPr>
            <p:ph idx="1"/>
          </p:nvPr>
        </p:nvSpPr>
        <p:spPr/>
        <p:txBody>
          <a:bodyPr/>
          <a:lstStyle/>
          <a:p/>
          <a:p>
            <a:pPr>
              <a:spcAft>
                <a:spcPts val="500"/>
              </a:spcAft>
              <a:defRPr sz="1800">
                <a:latin typeface="DejaVu Sans"/>
              </a:defRPr>
            </a:pPr>
            <a:r>
              <a:t>• Reliable linear regression models depend on key assumptions, including linearity, independence and normality of errors, homoscedasticity, and for MLR, no multicollinearity among predictors.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 2.3: Polynomial Regression and Feature Engineering (Part 1)</a:t>
            </a:r>
          </a:p>
        </p:txBody>
      </p:sp>
      <p:sp>
        <p:nvSpPr>
          <p:cNvPr id="3" name="Content Placeholder 2"/>
          <p:cNvSpPr>
            <a:spLocks noGrp="1"/>
          </p:cNvSpPr>
          <p:nvPr>
            <p:ph idx="1"/>
          </p:nvPr>
        </p:nvSpPr>
        <p:spPr/>
        <p:txBody>
          <a:bodyPr/>
          <a:lstStyle/>
          <a:p/>
          <a:p>
            <a:pPr>
              <a:spcAft>
                <a:spcPts val="500"/>
              </a:spcAft>
              <a:defRPr sz="1800">
                <a:latin typeface="DejaVu Sans"/>
              </a:defRPr>
            </a:pPr>
            <a:r>
              <a:t>• Polynomial Regression extends linear regression to model non-linear relationships by transforming independent variables into polynomial terms (e.g., x, x², x³), while still being linear in its coefficients.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 2.3: Polynomial Regression and Feature Engineering (Part 2)</a:t>
            </a:r>
          </a:p>
        </p:txBody>
      </p:sp>
      <p:sp>
        <p:nvSpPr>
          <p:cNvPr id="3" name="Content Placeholder 2"/>
          <p:cNvSpPr>
            <a:spLocks noGrp="1"/>
          </p:cNvSpPr>
          <p:nvPr>
            <p:ph idx="1"/>
          </p:nvPr>
        </p:nvSpPr>
        <p:spPr/>
        <p:txBody>
          <a:bodyPr/>
          <a:lstStyle/>
          <a:p/>
          <a:p>
            <a:pPr>
              <a:spcAft>
                <a:spcPts val="500"/>
              </a:spcAft>
              <a:defRPr sz="1800">
                <a:latin typeface="DejaVu Sans"/>
              </a:defRPr>
            </a:pPr>
            <a:r>
              <a:t>• The core concept involves 'feature engineering,' where original features are transformed into higher-order polynomial features and interaction terms, allowing a standard linear model to fit curved data patterns.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 2.3: Polynomial Regression and Feature Engineering (Part 3)</a:t>
            </a:r>
          </a:p>
        </p:txBody>
      </p:sp>
      <p:sp>
        <p:nvSpPr>
          <p:cNvPr id="3" name="Content Placeholder 2"/>
          <p:cNvSpPr>
            <a:spLocks noGrp="1"/>
          </p:cNvSpPr>
          <p:nvPr>
            <p:ph idx="1"/>
          </p:nvPr>
        </p:nvSpPr>
        <p:spPr/>
        <p:txBody>
          <a:bodyPr/>
          <a:lstStyle/>
          <a:p/>
          <a:p>
            <a:pPr>
              <a:spcAft>
                <a:spcPts val="500"/>
              </a:spcAft>
              <a:defRPr sz="1800">
                <a:latin typeface="DejaVu Sans"/>
              </a:defRPr>
            </a:pPr>
            <a:r>
              <a:t>• Implementation is facilitated by tools like scikit-learn's `PolynomialFeatures`, which automates the generation of these new features before fitting them with a `LinearRegression` model.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 2.3: Polynomial Regression and Feature Engineering (Part 4)</a:t>
            </a:r>
          </a:p>
        </p:txBody>
      </p:sp>
      <p:sp>
        <p:nvSpPr>
          <p:cNvPr id="3" name="Content Placeholder 2"/>
          <p:cNvSpPr>
            <a:spLocks noGrp="1"/>
          </p:cNvSpPr>
          <p:nvPr>
            <p:ph idx="1"/>
          </p:nvPr>
        </p:nvSpPr>
        <p:spPr/>
        <p:txBody>
          <a:bodyPr/>
          <a:lstStyle/>
          <a:p/>
          <a:p>
            <a:pPr>
              <a:spcAft>
                <a:spcPts val="500"/>
              </a:spcAft>
              <a:defRPr sz="1800">
                <a:latin typeface="DejaVu Sans"/>
              </a:defRPr>
            </a:pPr>
            <a:r>
              <a:t>• Choosing the correct polynomial degree is crucial; a low degree leads to underfitting, while a high degree significantly increases the risk of overfitting by capturing noise instead of the general trend.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2.4: 2.4: Model Evaluation for Regression: MSE, R-squared (Part 1)</a:t>
            </a:r>
          </a:p>
        </p:txBody>
      </p:sp>
      <p:sp>
        <p:nvSpPr>
          <p:cNvPr id="3" name="Content Placeholder 2"/>
          <p:cNvSpPr>
            <a:spLocks noGrp="1"/>
          </p:cNvSpPr>
          <p:nvPr>
            <p:ph idx="1"/>
          </p:nvPr>
        </p:nvSpPr>
        <p:spPr/>
        <p:txBody>
          <a:bodyPr/>
          <a:lstStyle/>
          <a:p/>
          <a:p>
            <a:pPr>
              <a:spcAft>
                <a:spcPts val="500"/>
              </a:spcAft>
              <a:defRPr sz="1800">
                <a:latin typeface="DejaVu Sans"/>
              </a:defRPr>
            </a:pPr>
            <a:r>
              <a:t>• Model evaluation for regression assesses how well predictions of continuous values align with actual outcomes, primarily using Mean Squared Error (MSE) and R-squared.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2.4: 2.4: Model Evaluation for Regression: MSE, R-squared (Part 2)</a:t>
            </a:r>
          </a:p>
        </p:txBody>
      </p:sp>
      <p:sp>
        <p:nvSpPr>
          <p:cNvPr id="3" name="Content Placeholder 2"/>
          <p:cNvSpPr>
            <a:spLocks noGrp="1"/>
          </p:cNvSpPr>
          <p:nvPr>
            <p:ph idx="1"/>
          </p:nvPr>
        </p:nvSpPr>
        <p:spPr/>
        <p:txBody>
          <a:bodyPr/>
          <a:lstStyle/>
          <a:p/>
          <a:p>
            <a:pPr>
              <a:spcAft>
                <a:spcPts val="500"/>
              </a:spcAft>
              <a:defRPr sz="1800">
                <a:latin typeface="DejaVu Sans"/>
              </a:defRPr>
            </a:pPr>
            <a:r>
              <a:t>• Mean Squared Error (MSE) calculates the average of squared differences between actual and predicted values. A lower MSE indicates a better fit, with squaring errors penalizing larger discrepancies more heavily.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2.4: 2.4: Model Evaluation for Regression: MSE, R-squared (Part 3)</a:t>
            </a:r>
          </a:p>
        </p:txBody>
      </p:sp>
      <p:sp>
        <p:nvSpPr>
          <p:cNvPr id="3" name="Content Placeholder 2"/>
          <p:cNvSpPr>
            <a:spLocks noGrp="1"/>
          </p:cNvSpPr>
          <p:nvPr>
            <p:ph idx="1"/>
          </p:nvPr>
        </p:nvSpPr>
        <p:spPr/>
        <p:txBody>
          <a:bodyPr/>
          <a:lstStyle/>
          <a:p/>
          <a:p>
            <a:pPr>
              <a:spcAft>
                <a:spcPts val="500"/>
              </a:spcAft>
              <a:defRPr sz="1800">
                <a:latin typeface="DejaVu Sans"/>
              </a:defRPr>
            </a:pPr>
            <a:r>
              <a:t>• R-squared (Coefficient of Determination) measures the proportion of variance in the dependent variable explained by the model. Ranging from 0 to 1 (higher is better), it indicates the model's explanatory power.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2.4: 2.4: Model Evaluation for Regression: MSE, R-squared (Part 4)</a:t>
            </a:r>
          </a:p>
        </p:txBody>
      </p:sp>
      <p:sp>
        <p:nvSpPr>
          <p:cNvPr id="3" name="Content Placeholder 2"/>
          <p:cNvSpPr>
            <a:spLocks noGrp="1"/>
          </p:cNvSpPr>
          <p:nvPr>
            <p:ph idx="1"/>
          </p:nvPr>
        </p:nvSpPr>
        <p:spPr/>
        <p:txBody>
          <a:bodyPr/>
          <a:lstStyle/>
          <a:p/>
          <a:p>
            <a:pPr>
              <a:spcAft>
                <a:spcPts val="500"/>
              </a:spcAft>
              <a:defRPr sz="1800">
                <a:latin typeface="DejaVu Sans"/>
              </a:defRPr>
            </a:pPr>
            <a:r>
              <a:t>• MSE is calculated as (1/n) * Σ(yi - ŷi)^2, while R-squared is 1 - (SSR / SST). A limitation of R-squared is that it can increase with irrelevant variables, potentially indicating overfitting.</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2.5: 2.5: Regularization: Ridge and Lasso Regression (Part 1)</a:t>
            </a:r>
          </a:p>
        </p:txBody>
      </p:sp>
      <p:sp>
        <p:nvSpPr>
          <p:cNvPr id="3" name="Content Placeholder 2"/>
          <p:cNvSpPr>
            <a:spLocks noGrp="1"/>
          </p:cNvSpPr>
          <p:nvPr>
            <p:ph idx="1"/>
          </p:nvPr>
        </p:nvSpPr>
        <p:spPr/>
        <p:txBody>
          <a:bodyPr/>
          <a:lstStyle/>
          <a:p/>
          <a:p>
            <a:pPr>
              <a:spcAft>
                <a:spcPts val="500"/>
              </a:spcAft>
              <a:defRPr sz="1800">
                <a:latin typeface="DejaVu Sans"/>
              </a:defRPr>
            </a:pPr>
            <a:r>
              <a:t>• Regularization, including Ridge (L2) and Lasso (L1), is a technique to combat model overfitting by adding a penalty to the loss function, thereby discouraging overly large coefficient values and encouraging simpler models.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2.5: 2.5: Regularization: Ridge and Lasso Regression (Part 2)</a:t>
            </a:r>
          </a:p>
        </p:txBody>
      </p:sp>
      <p:sp>
        <p:nvSpPr>
          <p:cNvPr id="3" name="Content Placeholder 2"/>
          <p:cNvSpPr>
            <a:spLocks noGrp="1"/>
          </p:cNvSpPr>
          <p:nvPr>
            <p:ph idx="1"/>
          </p:nvPr>
        </p:nvSpPr>
        <p:spPr/>
        <p:txBody>
          <a:bodyPr/>
          <a:lstStyle/>
          <a:p/>
          <a:p>
            <a:pPr>
              <a:spcAft>
                <a:spcPts val="500"/>
              </a:spcAft>
              <a:defRPr sz="1800">
                <a:latin typeface="DejaVu Sans"/>
              </a:defRPr>
            </a:pPr>
            <a:r>
              <a:t>• Ridge Regression (L2 regularization) adds a penalty proportional to the sum of squared coefficients, which shrinks them towards zero but rarely to exactly zero, thus retaining all features and being effective for multicollinearity.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2.5: 2.5: Regularization: Ridge and Lasso Regression (Part 3)</a:t>
            </a:r>
          </a:p>
        </p:txBody>
      </p:sp>
      <p:sp>
        <p:nvSpPr>
          <p:cNvPr id="3" name="Content Placeholder 2"/>
          <p:cNvSpPr>
            <a:spLocks noGrp="1"/>
          </p:cNvSpPr>
          <p:nvPr>
            <p:ph idx="1"/>
          </p:nvPr>
        </p:nvSpPr>
        <p:spPr/>
        <p:txBody>
          <a:bodyPr/>
          <a:lstStyle/>
          <a:p/>
          <a:p>
            <a:pPr>
              <a:spcAft>
                <a:spcPts val="500"/>
              </a:spcAft>
              <a:defRPr sz="1800">
                <a:latin typeface="DejaVu Sans"/>
              </a:defRPr>
            </a:pPr>
            <a:r>
              <a:t>• Lasso Regression (L1 regularization) adds a penalty proportional to the sum of the absolute values of coefficients, which can shrink some coefficients exactly to zero, effectively performing automatic feature selection.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2.5: 2.5: Regularization: Ridge and Lasso Regression (Part 4)</a:t>
            </a:r>
          </a:p>
        </p:txBody>
      </p:sp>
      <p:sp>
        <p:nvSpPr>
          <p:cNvPr id="3" name="Content Placeholder 2"/>
          <p:cNvSpPr>
            <a:spLocks noGrp="1"/>
          </p:cNvSpPr>
          <p:nvPr>
            <p:ph idx="1"/>
          </p:nvPr>
        </p:nvSpPr>
        <p:spPr/>
        <p:txBody>
          <a:bodyPr/>
          <a:lstStyle/>
          <a:p/>
          <a:p>
            <a:pPr>
              <a:spcAft>
                <a:spcPts val="500"/>
              </a:spcAft>
              <a:defRPr sz="1800">
                <a:latin typeface="DejaVu Sans"/>
              </a:defRPr>
            </a:pPr>
            <a:r>
              <a:t>• The core difference is that Ridge shrinks all coefficients while retaining all features, whereas Lasso can drive some coefficients to zero, making it useful for creating sparse models with automatic feature selection.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 3.1: Introduction to Classification Problems (Part 1)</a:t>
            </a:r>
          </a:p>
        </p:txBody>
      </p:sp>
      <p:sp>
        <p:nvSpPr>
          <p:cNvPr id="3" name="Content Placeholder 2"/>
          <p:cNvSpPr>
            <a:spLocks noGrp="1"/>
          </p:cNvSpPr>
          <p:nvPr>
            <p:ph idx="1"/>
          </p:nvPr>
        </p:nvSpPr>
        <p:spPr/>
        <p:txBody>
          <a:bodyPr/>
          <a:lstStyle/>
          <a:p/>
          <a:p>
            <a:pPr>
              <a:spcAft>
                <a:spcPts val="500"/>
              </a:spcAft>
              <a:defRPr sz="1800">
                <a:latin typeface="DejaVu Sans"/>
              </a:defRPr>
            </a:pPr>
            <a:r>
              <a:t>• Classification is a supervised machine learning task that predicts discrete, categorical labels for new data, differing from regression which predicts continuous values.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 3.1: Introduction to Classification Problems (Part 2)</a:t>
            </a:r>
          </a:p>
        </p:txBody>
      </p:sp>
      <p:sp>
        <p:nvSpPr>
          <p:cNvPr id="3" name="Content Placeholder 2"/>
          <p:cNvSpPr>
            <a:spLocks noGrp="1"/>
          </p:cNvSpPr>
          <p:nvPr>
            <p:ph idx="1"/>
          </p:nvPr>
        </p:nvSpPr>
        <p:spPr/>
        <p:txBody>
          <a:bodyPr/>
          <a:lstStyle/>
          <a:p/>
          <a:p>
            <a:pPr>
              <a:spcAft>
                <a:spcPts val="500"/>
              </a:spcAft>
              <a:defRPr sz="1800">
                <a:latin typeface="DejaVu Sans"/>
              </a:defRPr>
            </a:pPr>
            <a:r>
              <a:t>• Its core goal is to train a 'classifier' model on labeled data to learn patterns and assign unseen input data points (features) to predefined categories (labels).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 3.1: Introduction to Classification Problems (Part 3)</a:t>
            </a:r>
          </a:p>
        </p:txBody>
      </p:sp>
      <p:sp>
        <p:nvSpPr>
          <p:cNvPr id="3" name="Content Placeholder 2"/>
          <p:cNvSpPr>
            <a:spLocks noGrp="1"/>
          </p:cNvSpPr>
          <p:nvPr>
            <p:ph idx="1"/>
          </p:nvPr>
        </p:nvSpPr>
        <p:spPr/>
        <p:txBody>
          <a:bodyPr/>
          <a:lstStyle/>
          <a:p/>
          <a:p>
            <a:pPr>
              <a:spcAft>
                <a:spcPts val="500"/>
              </a:spcAft>
              <a:defRPr sz="1800">
                <a:latin typeface="DejaVu Sans"/>
              </a:defRPr>
            </a:pPr>
            <a:r>
              <a:t>• Common applications include spam detection, image recognition, medical diagnosis, customer churn prediction, and sentiment analysis.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 3.1: Introduction to Classification Problems (Part 4)</a:t>
            </a:r>
          </a:p>
        </p:txBody>
      </p:sp>
      <p:sp>
        <p:nvSpPr>
          <p:cNvPr id="3" name="Content Placeholder 2"/>
          <p:cNvSpPr>
            <a:spLocks noGrp="1"/>
          </p:cNvSpPr>
          <p:nvPr>
            <p:ph idx="1"/>
          </p:nvPr>
        </p:nvSpPr>
        <p:spPr/>
        <p:txBody>
          <a:bodyPr/>
          <a:lstStyle/>
          <a:p/>
          <a:p>
            <a:pPr>
              <a:spcAft>
                <a:spcPts val="500"/>
              </a:spcAft>
              <a:defRPr sz="1800">
                <a:latin typeface="DejaVu Sans"/>
              </a:defRPr>
            </a:pPr>
            <a:r>
              <a:t>• Classification problems are categorized into Binary (two classes), Multi-class (one of many classes), and Multi-label (multiple classes per instance).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3.2: 3.2: Logistic Regression for Binary Classification (Part 1)</a:t>
            </a:r>
          </a:p>
        </p:txBody>
      </p:sp>
      <p:sp>
        <p:nvSpPr>
          <p:cNvPr id="3" name="Content Placeholder 2"/>
          <p:cNvSpPr>
            <a:spLocks noGrp="1"/>
          </p:cNvSpPr>
          <p:nvPr>
            <p:ph idx="1"/>
          </p:nvPr>
        </p:nvSpPr>
        <p:spPr/>
        <p:txBody>
          <a:bodyPr/>
          <a:lstStyle/>
          <a:p/>
          <a:p>
            <a:pPr>
              <a:spcAft>
                <a:spcPts val="500"/>
              </a:spcAft>
              <a:defRPr sz="1800">
                <a:latin typeface="DejaVu Sans"/>
              </a:defRPr>
            </a:pPr>
            <a:r>
              <a:t>• Logistic Regression is a classification algorithm, not a regression algorithm, primarily used for binary classification to predict the probability (0-1) of an instance belonging to one of two classes.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3.2: 3.2: Logistic Regression for Binary Classification (Part 2)</a:t>
            </a:r>
          </a:p>
        </p:txBody>
      </p:sp>
      <p:sp>
        <p:nvSpPr>
          <p:cNvPr id="3" name="Content Placeholder 2"/>
          <p:cNvSpPr>
            <a:spLocks noGrp="1"/>
          </p:cNvSpPr>
          <p:nvPr>
            <p:ph idx="1"/>
          </p:nvPr>
        </p:nvSpPr>
        <p:spPr/>
        <p:txBody>
          <a:bodyPr/>
          <a:lstStyle/>
          <a:p/>
          <a:p>
            <a:pPr>
              <a:spcAft>
                <a:spcPts val="500"/>
              </a:spcAft>
              <a:defRPr sz="1800">
                <a:latin typeface="DejaVu Sans"/>
              </a:defRPr>
            </a:pPr>
            <a:r>
              <a:t>• It employs the sigmoid (logistic) function to map a linear combination of input features into a probability estimate between 0 and 1, forming its hypothesis function h_θ(x).</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3.2: 3.2: Logistic Regression for Binary Classification (Part 3)</a:t>
            </a:r>
          </a:p>
        </p:txBody>
      </p:sp>
      <p:sp>
        <p:nvSpPr>
          <p:cNvPr id="3" name="Content Placeholder 2"/>
          <p:cNvSpPr>
            <a:spLocks noGrp="1"/>
          </p:cNvSpPr>
          <p:nvPr>
            <p:ph idx="1"/>
          </p:nvPr>
        </p:nvSpPr>
        <p:spPr/>
        <p:txBody>
          <a:bodyPr/>
          <a:lstStyle/>
          <a:p/>
          <a:p>
            <a:pPr>
              <a:spcAft>
                <a:spcPts val="500"/>
              </a:spcAft>
              <a:defRPr sz="1800">
                <a:latin typeface="DejaVu Sans"/>
              </a:defRPr>
            </a:pPr>
            <a:r>
              <a:t>• Classification decisions are made by applying a threshold (commonly 0.5) to the estimated probability, which defines a linear (or potentially non-linear with feature engineering) decision boundary in the feature space.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3.2: 3.2: Logistic Regression for Binary Classification (Part 4)</a:t>
            </a:r>
          </a:p>
        </p:txBody>
      </p:sp>
      <p:sp>
        <p:nvSpPr>
          <p:cNvPr id="3" name="Content Placeholder 2"/>
          <p:cNvSpPr>
            <a:spLocks noGrp="1"/>
          </p:cNvSpPr>
          <p:nvPr>
            <p:ph idx="1"/>
          </p:nvPr>
        </p:nvSpPr>
        <p:spPr/>
        <p:txBody>
          <a:bodyPr/>
          <a:lstStyle/>
          <a:p/>
          <a:p>
            <a:pPr>
              <a:spcAft>
                <a:spcPts val="500"/>
              </a:spcAft>
              <a:defRPr sz="1800">
                <a:latin typeface="DejaVu Sans"/>
              </a:defRPr>
            </a:pPr>
            <a:r>
              <a:t>• Unlike linear regression, it uses a log-loss (cross-entropy) cost function, which is convex, to measure prediction error and ensure efficient optimization without encountering multiple local minima.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3.3: 3.3: Support Vector Machines (SVMs) (Part 1)</a:t>
            </a:r>
          </a:p>
        </p:txBody>
      </p:sp>
      <p:sp>
        <p:nvSpPr>
          <p:cNvPr id="3" name="Content Placeholder 2"/>
          <p:cNvSpPr>
            <a:spLocks noGrp="1"/>
          </p:cNvSpPr>
          <p:nvPr>
            <p:ph idx="1"/>
          </p:nvPr>
        </p:nvSpPr>
        <p:spPr/>
        <p:txBody>
          <a:bodyPr/>
          <a:lstStyle/>
          <a:p/>
          <a:p>
            <a:pPr>
              <a:spcAft>
                <a:spcPts val="500"/>
              </a:spcAft>
              <a:defRPr sz="1800">
                <a:latin typeface="DejaVu Sans"/>
              </a:defRPr>
            </a:pPr>
            <a:r>
              <a:t>• Support Vector Machines (SVMs) are powerful supervised learning algorithms for classification (and regression), aiming to find an optimal hyperplane that maximizes the margin between classes in high-dimensional spaces, defined by critical 'support vectors'.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3.3: 3.3: Support Vector Machines (SVMs) (Part 2)</a:t>
            </a:r>
          </a:p>
        </p:txBody>
      </p:sp>
      <p:sp>
        <p:nvSpPr>
          <p:cNvPr id="3" name="Content Placeholder 2"/>
          <p:cNvSpPr>
            <a:spLocks noGrp="1"/>
          </p:cNvSpPr>
          <p:nvPr>
            <p:ph idx="1"/>
          </p:nvPr>
        </p:nvSpPr>
        <p:spPr/>
        <p:txBody>
          <a:bodyPr/>
          <a:lstStyle/>
          <a:p/>
          <a:p>
            <a:pPr>
              <a:spcAft>
                <a:spcPts val="500"/>
              </a:spcAft>
              <a:defRPr sz="1800">
                <a:latin typeface="DejaVu Sans"/>
              </a:defRPr>
            </a:pPr>
            <a:r>
              <a:t>• Soft Margin SVMs address real-world noisy data by allowing some misclassifications, controlled by a cost parameter 'C', balancing margin maximization and error minimization for robustness.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3.3: 3.3: Support Vector Machines (SVMs) (Part 3)</a:t>
            </a:r>
          </a:p>
        </p:txBody>
      </p:sp>
      <p:sp>
        <p:nvSpPr>
          <p:cNvPr id="3" name="Content Placeholder 2"/>
          <p:cNvSpPr>
            <a:spLocks noGrp="1"/>
          </p:cNvSpPr>
          <p:nvPr>
            <p:ph idx="1"/>
          </p:nvPr>
        </p:nvSpPr>
        <p:spPr/>
        <p:txBody>
          <a:bodyPr/>
          <a:lstStyle/>
          <a:p/>
          <a:p>
            <a:pPr>
              <a:spcAft>
                <a:spcPts val="500"/>
              </a:spcAft>
              <a:defRPr sz="1800">
                <a:latin typeface="DejaVu Sans"/>
              </a:defRPr>
            </a:pPr>
            <a:r>
              <a:t>• The Kernel Trick allows SVMs to classify non-linearly separable data by implicitly mapping it into a higher-dimensional feature space where a linear separation is possible, using functions like RBF, Polynomial, or Linear kernels.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3.3: 3.3: Support Vector Machines (SVMs) (Part 4)</a:t>
            </a:r>
          </a:p>
        </p:txBody>
      </p:sp>
      <p:sp>
        <p:nvSpPr>
          <p:cNvPr id="3" name="Content Placeholder 2"/>
          <p:cNvSpPr>
            <a:spLocks noGrp="1"/>
          </p:cNvSpPr>
          <p:nvPr>
            <p:ph idx="1"/>
          </p:nvPr>
        </p:nvSpPr>
        <p:spPr/>
        <p:txBody>
          <a:bodyPr/>
          <a:lstStyle/>
          <a:p/>
          <a:p>
            <a:pPr>
              <a:spcAft>
                <a:spcPts val="500"/>
              </a:spcAft>
              <a:defRPr sz="1800">
                <a:latin typeface="DejaVu Sans"/>
              </a:defRPr>
            </a:pPr>
            <a:r>
              <a:t>• SVMs are effective in high-dimensional spaces, memory-efficient due to their reliance on support vectors, and versatile in modeling various decision boundaries through different kernel functions.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3.4: 3.4: Decision Trees and Random Forests (Part 1)</a:t>
            </a:r>
          </a:p>
        </p:txBody>
      </p:sp>
      <p:sp>
        <p:nvSpPr>
          <p:cNvPr id="3" name="Content Placeholder 2"/>
          <p:cNvSpPr>
            <a:spLocks noGrp="1"/>
          </p:cNvSpPr>
          <p:nvPr>
            <p:ph idx="1"/>
          </p:nvPr>
        </p:nvSpPr>
        <p:spPr/>
        <p:txBody>
          <a:bodyPr/>
          <a:lstStyle/>
          <a:p/>
          <a:p>
            <a:pPr>
              <a:spcAft>
                <a:spcPts val="500"/>
              </a:spcAft>
              <a:defRPr sz="1800">
                <a:latin typeface="DejaVu Sans"/>
              </a:defRPr>
            </a:pPr>
            <a:r>
              <a:t>• Decision Trees (DTs) are supervised learning algorithms that model decisions by recursively splitting data into a tree-like structure based on feature values; they are intuitive but prone to overfitting.</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3.4: 3.4: Decision Trees and Random Forests (Part 2)</a:t>
            </a:r>
          </a:p>
        </p:txBody>
      </p:sp>
      <p:sp>
        <p:nvSpPr>
          <p:cNvPr id="3" name="Content Placeholder 2"/>
          <p:cNvSpPr>
            <a:spLocks noGrp="1"/>
          </p:cNvSpPr>
          <p:nvPr>
            <p:ph idx="1"/>
          </p:nvPr>
        </p:nvSpPr>
        <p:spPr/>
        <p:txBody>
          <a:bodyPr/>
          <a:lstStyle/>
          <a:p/>
          <a:p>
            <a:pPr>
              <a:spcAft>
                <a:spcPts val="500"/>
              </a:spcAft>
              <a:defRPr sz="1800">
                <a:latin typeface="DejaVu Sans"/>
              </a:defRPr>
            </a:pPr>
            <a:r>
              <a:t>• Random Forests (RFs) are ensemble methods that build upon DTs, overcoming overfitting by combining predictions from a multitude of individual decision trees.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3.4: 3.4: Decision Trees and Random Forests (Part 3)</a:t>
            </a:r>
          </a:p>
        </p:txBody>
      </p:sp>
      <p:sp>
        <p:nvSpPr>
          <p:cNvPr id="3" name="Content Placeholder 2"/>
          <p:cNvSpPr>
            <a:spLocks noGrp="1"/>
          </p:cNvSpPr>
          <p:nvPr>
            <p:ph idx="1"/>
          </p:nvPr>
        </p:nvSpPr>
        <p:spPr/>
        <p:txBody>
          <a:bodyPr/>
          <a:lstStyle/>
          <a:p/>
          <a:p>
            <a:pPr>
              <a:spcAft>
                <a:spcPts val="500"/>
              </a:spcAft>
              <a:defRPr sz="1800">
                <a:latin typeface="DejaVu Sans"/>
              </a:defRPr>
            </a:pPr>
            <a:r>
              <a:t>• RFs achieve robustness and decorrelation through two key randomizations: training each tree on a bootstrapped subset of data (bagging) and considering only a random subset of features at each split.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3.4: 3.4: Decision Trees and Random Forests (Part 4)</a:t>
            </a:r>
          </a:p>
        </p:txBody>
      </p:sp>
      <p:sp>
        <p:nvSpPr>
          <p:cNvPr id="3" name="Content Placeholder 2"/>
          <p:cNvSpPr>
            <a:spLocks noGrp="1"/>
          </p:cNvSpPr>
          <p:nvPr>
            <p:ph idx="1"/>
          </p:nvPr>
        </p:nvSpPr>
        <p:spPr/>
        <p:txBody>
          <a:bodyPr/>
          <a:lstStyle/>
          <a:p/>
          <a:p>
            <a:pPr>
              <a:spcAft>
                <a:spcPts val="500"/>
              </a:spcAft>
              <a:defRPr sz="1800">
                <a:latin typeface="DejaVu Sans"/>
              </a:defRPr>
            </a:pPr>
            <a:r>
              <a:t>• By aggregating diverse tree predictions (mode for classification, mean for regression), RFs significantly improve accuracy, generalization, and robustness compared to a single DT.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3.5: 3.5: Model Evaluation for Classification: Accuracy, Precision, Recall, F1-Score, ROC (Part 1)</a:t>
            </a:r>
          </a:p>
        </p:txBody>
      </p:sp>
      <p:sp>
        <p:nvSpPr>
          <p:cNvPr id="3" name="Content Placeholder 2"/>
          <p:cNvSpPr>
            <a:spLocks noGrp="1"/>
          </p:cNvSpPr>
          <p:nvPr>
            <p:ph idx="1"/>
          </p:nvPr>
        </p:nvSpPr>
        <p:spPr/>
        <p:txBody>
          <a:bodyPr/>
          <a:lstStyle/>
          <a:p/>
          <a:p>
            <a:pPr>
              <a:spcAft>
                <a:spcPts val="500"/>
              </a:spcAft>
              <a:defRPr sz="1800">
                <a:latin typeface="DejaVu Sans"/>
              </a:defRPr>
            </a:pPr>
            <a:r>
              <a:t>• Model evaluation is crucial for classification tasks, starting with the foundational Confusion Matrix that categorizes predictions into True Positives, True Negatives, False Positives (Type I error), and False Negatives (Type II error).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3.5: 3.5: Model Evaluation for Classification: Accuracy, Precision, Recall, F1-Score, ROC (Part 2)</a:t>
            </a:r>
          </a:p>
        </p:txBody>
      </p:sp>
      <p:sp>
        <p:nvSpPr>
          <p:cNvPr id="3" name="Content Placeholder 2"/>
          <p:cNvSpPr>
            <a:spLocks noGrp="1"/>
          </p:cNvSpPr>
          <p:nvPr>
            <p:ph idx="1"/>
          </p:nvPr>
        </p:nvSpPr>
        <p:spPr/>
        <p:txBody>
          <a:bodyPr/>
          <a:lstStyle/>
          <a:p/>
          <a:p>
            <a:pPr>
              <a:spcAft>
                <a:spcPts val="500"/>
              </a:spcAft>
              <a:defRPr sz="1800">
                <a:latin typeface="DejaVu Sans"/>
              </a:defRPr>
            </a:pPr>
            <a:r>
              <a:t>• Accuracy, while intuitive, measures overall correct predictions and is suitable for balanced datasets but can be misleading for imbalanced ones.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3.5: 3.5: Model Evaluation for Classification: Accuracy, Precision, Recall, F1-Score, ROC (Part 3)</a:t>
            </a:r>
          </a:p>
        </p:txBody>
      </p:sp>
      <p:sp>
        <p:nvSpPr>
          <p:cNvPr id="3" name="Content Placeholder 2"/>
          <p:cNvSpPr>
            <a:spLocks noGrp="1"/>
          </p:cNvSpPr>
          <p:nvPr>
            <p:ph idx="1"/>
          </p:nvPr>
        </p:nvSpPr>
        <p:spPr/>
        <p:txBody>
          <a:bodyPr/>
          <a:lstStyle/>
          <a:p/>
          <a:p>
            <a:pPr>
              <a:spcAft>
                <a:spcPts val="500"/>
              </a:spcAft>
              <a:defRPr sz="1800">
                <a:latin typeface="DejaVu Sans"/>
              </a:defRPr>
            </a:pPr>
            <a:r>
              <a:t>• Precision focuses on minimizing False Positives (costly incorrect positive predictions, e.g., spam) and Recall focuses on minimizing False Negatives (costly missed actual positives, e.g., disease detection), often presenting a trade-off.</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3.5: 3.5: Model Evaluation for Classification: Accuracy, Precision, Recall, F1-Score, ROC (Part 4)</a:t>
            </a:r>
          </a:p>
        </p:txBody>
      </p:sp>
      <p:sp>
        <p:nvSpPr>
          <p:cNvPr id="3" name="Content Placeholder 2"/>
          <p:cNvSpPr>
            <a:spLocks noGrp="1"/>
          </p:cNvSpPr>
          <p:nvPr>
            <p:ph idx="1"/>
          </p:nvPr>
        </p:nvSpPr>
        <p:spPr/>
        <p:txBody>
          <a:bodyPr/>
          <a:lstStyle/>
          <a:p/>
          <a:p>
            <a:pPr>
              <a:spcAft>
                <a:spcPts val="500"/>
              </a:spcAft>
              <a:defRPr sz="1800">
                <a:latin typeface="DejaVu Sans"/>
              </a:defRPr>
            </a:pPr>
            <a:r>
              <a:t>• The F1-Score provides a balanced evaluation by being the harmonic mean of Precision and Recall, making it particularly useful for models on imbalanced datasets.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 4.1: Introduction to Unsupervised Learning (Part 1)</a:t>
            </a:r>
          </a:p>
        </p:txBody>
      </p:sp>
      <p:sp>
        <p:nvSpPr>
          <p:cNvPr id="3" name="Content Placeholder 2"/>
          <p:cNvSpPr>
            <a:spLocks noGrp="1"/>
          </p:cNvSpPr>
          <p:nvPr>
            <p:ph idx="1"/>
          </p:nvPr>
        </p:nvSpPr>
        <p:spPr/>
        <p:txBody>
          <a:bodyPr/>
          <a:lstStyle/>
          <a:p/>
          <a:p>
            <a:pPr>
              <a:spcAft>
                <a:spcPts val="500"/>
              </a:spcAft>
              <a:defRPr sz="1800">
                <a:latin typeface="DejaVu Sans"/>
              </a:defRPr>
            </a:pPr>
            <a:r>
              <a:t>• Unsupervised Learning (UL) discovers hidden patterns and structures in unlabeled data, focusing on understanding data distribution rather than predicting explicit outcomes.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 4.1: Introduction to Unsupervised Learning (Part 2)</a:t>
            </a:r>
          </a:p>
        </p:txBody>
      </p:sp>
      <p:sp>
        <p:nvSpPr>
          <p:cNvPr id="3" name="Content Placeholder 2"/>
          <p:cNvSpPr>
            <a:spLocks noGrp="1"/>
          </p:cNvSpPr>
          <p:nvPr>
            <p:ph idx="1"/>
          </p:nvPr>
        </p:nvSpPr>
        <p:spPr/>
        <p:txBody>
          <a:bodyPr/>
          <a:lstStyle/>
          <a:p/>
          <a:p>
            <a:pPr>
              <a:spcAft>
                <a:spcPts val="500"/>
              </a:spcAft>
              <a:defRPr sz="1800">
                <a:latin typeface="DejaVu Sans"/>
              </a:defRPr>
            </a:pPr>
            <a:r>
              <a:t>• UL is characterized by the absence of labels, its data-driven nature for pattern discovery, and its crucial role in overcoming labeling costs, revealing hidden insights, and enabling data pre-processing and anomaly detection.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 4.1: Introduction to Unsupervised Learning (Part 3)</a:t>
            </a:r>
          </a:p>
        </p:txBody>
      </p:sp>
      <p:sp>
        <p:nvSpPr>
          <p:cNvPr id="3" name="Content Placeholder 2"/>
          <p:cNvSpPr>
            <a:spLocks noGrp="1"/>
          </p:cNvSpPr>
          <p:nvPr>
            <p:ph idx="1"/>
          </p:nvPr>
        </p:nvSpPr>
        <p:spPr/>
        <p:txBody>
          <a:bodyPr/>
          <a:lstStyle/>
          <a:p/>
          <a:p>
            <a:pPr>
              <a:spcAft>
                <a:spcPts val="500"/>
              </a:spcAft>
              <a:defRPr sz="1800">
                <a:latin typeface="DejaVu Sans"/>
              </a:defRPr>
            </a:pPr>
            <a:r>
              <a:t>• Clustering is a core UL task that groups similar data points into distinct clusters based on intrinsic similarities; common algorithms include K-Means, Hierarchical Clustering, and DBSCAN, used for applications like customer segmentation.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 4.1: Introduction to Unsupervised Learning (Part 4)</a:t>
            </a:r>
          </a:p>
        </p:txBody>
      </p:sp>
      <p:sp>
        <p:nvSpPr>
          <p:cNvPr id="3" name="Content Placeholder 2"/>
          <p:cNvSpPr>
            <a:spLocks noGrp="1"/>
          </p:cNvSpPr>
          <p:nvPr>
            <p:ph idx="1"/>
          </p:nvPr>
        </p:nvSpPr>
        <p:spPr/>
        <p:txBody>
          <a:bodyPr/>
          <a:lstStyle/>
          <a:p/>
          <a:p>
            <a:pPr>
              <a:spcAft>
                <a:spcPts val="500"/>
              </a:spcAft>
              <a:defRPr sz="1800">
                <a:latin typeface="DejaVu Sans"/>
              </a:defRPr>
            </a:pPr>
            <a:r>
              <a:t>• Dimensionality Reduction, another key UL technique, simplifies complex data by reducing the number of features while retaining essential information, employing algorithms such as PCA, t-SNE, and Autoencoders for data visualization and feature extraction.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 4.2: Clustering Algorithms: K-Means (Part 1)</a:t>
            </a:r>
          </a:p>
        </p:txBody>
      </p:sp>
      <p:sp>
        <p:nvSpPr>
          <p:cNvPr id="3" name="Content Placeholder 2"/>
          <p:cNvSpPr>
            <a:spLocks noGrp="1"/>
          </p:cNvSpPr>
          <p:nvPr>
            <p:ph idx="1"/>
          </p:nvPr>
        </p:nvSpPr>
        <p:spPr/>
        <p:txBody>
          <a:bodyPr/>
          <a:lstStyle/>
          <a:p/>
          <a:p>
            <a:pPr>
              <a:spcAft>
                <a:spcPts val="500"/>
              </a:spcAft>
              <a:defRPr sz="1800">
                <a:latin typeface="DejaVu Sans"/>
              </a:defRPr>
            </a:pPr>
            <a:r>
              <a:t>• K-Means is an unsupervised machine learning algorithm that partitions 'n' observations into 'k' distinct clusters, grouping data points based on their similarity (e.g., Euclidean distance) to cluster centroids (means).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 4.2: Clustering Algorithms: K-Means (Part 2)</a:t>
            </a:r>
          </a:p>
        </p:txBody>
      </p:sp>
      <p:sp>
        <p:nvSpPr>
          <p:cNvPr id="3" name="Content Placeholder 2"/>
          <p:cNvSpPr>
            <a:spLocks noGrp="1"/>
          </p:cNvSpPr>
          <p:nvPr>
            <p:ph idx="1"/>
          </p:nvPr>
        </p:nvSpPr>
        <p:spPr/>
        <p:txBody>
          <a:bodyPr/>
          <a:lstStyle/>
          <a:p/>
          <a:p>
            <a:pPr>
              <a:spcAft>
                <a:spcPts val="500"/>
              </a:spcAft>
              <a:defRPr sz="1800">
                <a:latin typeface="DejaVu Sans"/>
              </a:defRPr>
            </a:pPr>
            <a:r>
              <a:t>• The core algorithm is iterative: it initializes 'k' random centroids, then repeatedly assigns each data point to its nearest centroid and updates the centroids by calculating the mean of all assigned points, until convergence.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 4.2: Clustering Algorithms: K-Means (Part 3)</a:t>
            </a:r>
          </a:p>
        </p:txBody>
      </p:sp>
      <p:sp>
        <p:nvSpPr>
          <p:cNvPr id="3" name="Content Placeholder 2"/>
          <p:cNvSpPr>
            <a:spLocks noGrp="1"/>
          </p:cNvSpPr>
          <p:nvPr>
            <p:ph idx="1"/>
          </p:nvPr>
        </p:nvSpPr>
        <p:spPr/>
        <p:txBody>
          <a:bodyPr/>
          <a:lstStyle/>
          <a:p/>
          <a:p>
            <a:pPr>
              <a:spcAft>
                <a:spcPts val="500"/>
              </a:spcAft>
              <a:defRPr sz="1800">
                <a:latin typeface="DejaVu Sans"/>
              </a:defRPr>
            </a:pPr>
            <a:r>
              <a:t>• Key implementation steps include Initialization (choosing K and initial centroids), Assignment (E-step: assigning points to nearest centroid), and Update (M-step: recalculating centroids) which are iterated.</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 4.2: Clustering Algorithms: K-Means (Part 4)</a:t>
            </a:r>
          </a:p>
        </p:txBody>
      </p:sp>
      <p:sp>
        <p:nvSpPr>
          <p:cNvPr id="3" name="Content Placeholder 2"/>
          <p:cNvSpPr>
            <a:spLocks noGrp="1"/>
          </p:cNvSpPr>
          <p:nvPr>
            <p:ph idx="1"/>
          </p:nvPr>
        </p:nvSpPr>
        <p:spPr/>
        <p:txBody>
          <a:bodyPr/>
          <a:lstStyle/>
          <a:p/>
          <a:p>
            <a:pPr>
              <a:spcAft>
                <a:spcPts val="500"/>
              </a:spcAft>
              <a:defRPr sz="1800">
                <a:latin typeface="DejaVu Sans"/>
              </a:defRPr>
            </a:pPr>
            <a:r>
              <a:t>• Determining the optimal number of clusters ('K') is a critical challenge, often addressed using heuristic methods like the Elbow Method (based on WCSS) or the Silhouette Score.</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 4.3: Hierarchical Clustering (Part 1)</a:t>
            </a:r>
          </a:p>
        </p:txBody>
      </p:sp>
      <p:sp>
        <p:nvSpPr>
          <p:cNvPr id="3" name="Content Placeholder 2"/>
          <p:cNvSpPr>
            <a:spLocks noGrp="1"/>
          </p:cNvSpPr>
          <p:nvPr>
            <p:ph idx="1"/>
          </p:nvPr>
        </p:nvSpPr>
        <p:spPr/>
        <p:txBody>
          <a:bodyPr/>
          <a:lstStyle/>
          <a:p/>
          <a:p>
            <a:pPr>
              <a:spcAft>
                <a:spcPts val="500"/>
              </a:spcAft>
              <a:defRPr sz="1800">
                <a:latin typeface="DejaVu Sans"/>
              </a:defRPr>
            </a:pPr>
            <a:r>
              <a:t>• Hierarchical Clustering is an unsupervised technique that builds a nested hierarchy of data clusters, allowing the number of clusters to be determined after the process, unlike K-Means.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 4.3: Hierarchical Clustering (Part 2)</a:t>
            </a:r>
          </a:p>
        </p:txBody>
      </p:sp>
      <p:sp>
        <p:nvSpPr>
          <p:cNvPr id="3" name="Content Placeholder 2"/>
          <p:cNvSpPr>
            <a:spLocks noGrp="1"/>
          </p:cNvSpPr>
          <p:nvPr>
            <p:ph idx="1"/>
          </p:nvPr>
        </p:nvSpPr>
        <p:spPr/>
        <p:txBody>
          <a:bodyPr/>
          <a:lstStyle/>
          <a:p/>
          <a:p>
            <a:pPr>
              <a:spcAft>
                <a:spcPts val="500"/>
              </a:spcAft>
              <a:defRPr sz="1800">
                <a:latin typeface="DejaVu Sans"/>
              </a:defRPr>
            </a:pPr>
            <a:r>
              <a:t>• The common approach is agglomerative (bottom-up), starting with each data point as its own cluster and iteratively merging the closest clusters based on a chosen distance metric.</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 4.3: Hierarchical Clustering (Part 3)</a:t>
            </a:r>
          </a:p>
        </p:txBody>
      </p:sp>
      <p:sp>
        <p:nvSpPr>
          <p:cNvPr id="3" name="Content Placeholder 2"/>
          <p:cNvSpPr>
            <a:spLocks noGrp="1"/>
          </p:cNvSpPr>
          <p:nvPr>
            <p:ph idx="1"/>
          </p:nvPr>
        </p:nvSpPr>
        <p:spPr/>
        <p:txBody>
          <a:bodyPr/>
          <a:lstStyle/>
          <a:p/>
          <a:p>
            <a:pPr>
              <a:spcAft>
                <a:spcPts val="500"/>
              </a:spcAft>
              <a:defRPr sz="1800">
                <a:latin typeface="DejaVu Sans"/>
              </a:defRPr>
            </a:pPr>
            <a:r>
              <a:t>• Core to the merging process are 'linkage criteria' (e.g., Single, Complete, Average, Ward's), which define how distances between clusters are calculated, with Ward's often preferred for producing compact clusters.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 4.3: Hierarchical Clustering (Part 4)</a:t>
            </a:r>
          </a:p>
        </p:txBody>
      </p:sp>
      <p:sp>
        <p:nvSpPr>
          <p:cNvPr id="3" name="Content Placeholder 2"/>
          <p:cNvSpPr>
            <a:spLocks noGrp="1"/>
          </p:cNvSpPr>
          <p:nvPr>
            <p:ph idx="1"/>
          </p:nvPr>
        </p:nvSpPr>
        <p:spPr/>
        <p:txBody>
          <a:bodyPr/>
          <a:lstStyle/>
          <a:p/>
          <a:p>
            <a:pPr>
              <a:spcAft>
                <a:spcPts val="500"/>
              </a:spcAft>
              <a:defRPr sz="1800">
                <a:latin typeface="DejaVu Sans"/>
              </a:defRPr>
            </a:pPr>
            <a:r>
              <a:t>• The output is visualized as a dendrogram, a tree-like diagram showing the sequence of merges and their associated distances; the optimal number of clusters is determined by 'cutting' this dendrogram.</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 4.4: Dimensionality Reduction: Principal Component Analysis (PCA) (Part 1)</a:t>
            </a:r>
          </a:p>
        </p:txBody>
      </p:sp>
      <p:sp>
        <p:nvSpPr>
          <p:cNvPr id="3" name="Content Placeholder 2"/>
          <p:cNvSpPr>
            <a:spLocks noGrp="1"/>
          </p:cNvSpPr>
          <p:nvPr>
            <p:ph idx="1"/>
          </p:nvPr>
        </p:nvSpPr>
        <p:spPr/>
        <p:txBody>
          <a:bodyPr/>
          <a:lstStyle/>
          <a:p/>
          <a:p>
            <a:pPr>
              <a:spcAft>
                <a:spcPts val="500"/>
              </a:spcAft>
              <a:defRPr sz="1800">
                <a:latin typeface="DejaVu Sans"/>
              </a:defRPr>
            </a:pPr>
            <a:r>
              <a:t>• Dimensionality reduction addresses the 'curse of dimensionality' (data sparsity, high computational cost, overfitting) by reducing the number of features, thus improving efficiency, model generalization, and data visualization.</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 4.4: Dimensionality Reduction: Principal Component Analysis (PCA) (Part 2)</a:t>
            </a:r>
          </a:p>
        </p:txBody>
      </p:sp>
      <p:sp>
        <p:nvSpPr>
          <p:cNvPr id="3" name="Content Placeholder 2"/>
          <p:cNvSpPr>
            <a:spLocks noGrp="1"/>
          </p:cNvSpPr>
          <p:nvPr>
            <p:ph idx="1"/>
          </p:nvPr>
        </p:nvSpPr>
        <p:spPr/>
        <p:txBody>
          <a:bodyPr/>
          <a:lstStyle/>
          <a:p/>
          <a:p>
            <a:pPr>
              <a:spcAft>
                <a:spcPts val="500"/>
              </a:spcAft>
              <a:defRPr sz="1800">
                <a:latin typeface="DejaVu Sans"/>
              </a:defRPr>
            </a:pPr>
            <a:r>
              <a:t>• Principal Component Analysis (PCA) is a linear dimensionality reduction technique that transforms data into a new, lower-dimensional space by identifying orthogonal 'principal components' (PCs) which capture the maximum variance in the data.</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 4.4: Dimensionality Reduction: Principal Component Analysis (PCA) (Part 3)</a:t>
            </a:r>
          </a:p>
        </p:txBody>
      </p:sp>
      <p:sp>
        <p:nvSpPr>
          <p:cNvPr id="3" name="Content Placeholder 2"/>
          <p:cNvSpPr>
            <a:spLocks noGrp="1"/>
          </p:cNvSpPr>
          <p:nvPr>
            <p:ph idx="1"/>
          </p:nvPr>
        </p:nvSpPr>
        <p:spPr/>
        <p:txBody>
          <a:bodyPr/>
          <a:lstStyle/>
          <a:p/>
          <a:p>
            <a:pPr>
              <a:spcAft>
                <a:spcPts val="500"/>
              </a:spcAft>
              <a:defRPr sz="1800">
                <a:latin typeface="DejaVu Sans"/>
              </a:defRPr>
            </a:pPr>
            <a:r>
              <a:t>• PCA's core process involves standardizing data, computing its covariance matrix, performing eigenvalue and eigenvector decomposition, selecting principal components based on explained variance, and projecting the data onto these selected components.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 4.4: Dimensionality Reduction: Principal Component Analysis (PCA) (Part 4)</a:t>
            </a:r>
          </a:p>
        </p:txBody>
      </p:sp>
      <p:sp>
        <p:nvSpPr>
          <p:cNvPr id="3" name="Content Placeholder 2"/>
          <p:cNvSpPr>
            <a:spLocks noGrp="1"/>
          </p:cNvSpPr>
          <p:nvPr>
            <p:ph idx="1"/>
          </p:nvPr>
        </p:nvSpPr>
        <p:spPr/>
        <p:txBody>
          <a:bodyPr/>
          <a:lstStyle/>
          <a:p/>
          <a:p>
            <a:pPr>
              <a:spcAft>
                <a:spcPts val="500"/>
              </a:spcAft>
              <a:defRPr sz="1800">
                <a:latin typeface="DejaVu Sans"/>
              </a:defRPr>
            </a:pPr>
            <a:r>
              <a:t>• The benefits of PCA include reduced overfitting, faster model training, improved data visualization, and noise reduction by focusing on the most informative variance.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 4.5: Anomaly Detection (Part 1)</a:t>
            </a:r>
          </a:p>
        </p:txBody>
      </p:sp>
      <p:sp>
        <p:nvSpPr>
          <p:cNvPr id="3" name="Content Placeholder 2"/>
          <p:cNvSpPr>
            <a:spLocks noGrp="1"/>
          </p:cNvSpPr>
          <p:nvPr>
            <p:ph idx="1"/>
          </p:nvPr>
        </p:nvSpPr>
        <p:spPr/>
        <p:txBody>
          <a:bodyPr/>
          <a:lstStyle/>
          <a:p/>
          <a:p>
            <a:pPr>
              <a:spcAft>
                <a:spcPts val="500"/>
              </a:spcAft>
              <a:defRPr sz="1800">
                <a:latin typeface="DejaVu Sans"/>
              </a:defRPr>
            </a:pPr>
            <a:r>
              <a:t>• Anomaly detection identifies rare, significant deviations from normal data, crucial for signaling critical issues like fraud or defects across various domains.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 4.5: Anomaly Detection (Part 2)</a:t>
            </a:r>
          </a:p>
        </p:txBody>
      </p:sp>
      <p:sp>
        <p:nvSpPr>
          <p:cNvPr id="3" name="Content Placeholder 2"/>
          <p:cNvSpPr>
            <a:spLocks noGrp="1"/>
          </p:cNvSpPr>
          <p:nvPr>
            <p:ph idx="1"/>
          </p:nvPr>
        </p:nvSpPr>
        <p:spPr/>
        <p:txBody>
          <a:bodyPr/>
          <a:lstStyle/>
          <a:p/>
          <a:p>
            <a:pPr>
              <a:spcAft>
                <a:spcPts val="500"/>
              </a:spcAft>
              <a:defRPr sz="1800">
                <a:latin typeface="DejaVu Sans"/>
              </a:defRPr>
            </a:pPr>
            <a:r>
              <a:t>• Anomalies are classified as Point (individual outliers), Contextual (anomalous in specific conditions), or Collective (a group of points forming an unusual pattern).</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 4.5: Anomaly Detection (Part 3)</a:t>
            </a:r>
          </a:p>
        </p:txBody>
      </p:sp>
      <p:sp>
        <p:nvSpPr>
          <p:cNvPr id="3" name="Content Placeholder 2"/>
          <p:cNvSpPr>
            <a:spLocks noGrp="1"/>
          </p:cNvSpPr>
          <p:nvPr>
            <p:ph idx="1"/>
          </p:nvPr>
        </p:nvSpPr>
        <p:spPr/>
        <p:txBody>
          <a:bodyPr/>
          <a:lstStyle/>
          <a:p/>
          <a:p>
            <a:pPr>
              <a:spcAft>
                <a:spcPts val="500"/>
              </a:spcAft>
              <a:defRPr sz="1800">
                <a:latin typeface="DejaVu Sans"/>
              </a:defRPr>
            </a:pPr>
            <a:r>
              <a:t>• Key challenges include data rarity (imbalance), the evolving definition of 'normal' behavior, and complexities in high-dimensional data (curse of dimensionality).</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 4.5: Anomaly Detection (Part 4)</a:t>
            </a:r>
          </a:p>
        </p:txBody>
      </p:sp>
      <p:sp>
        <p:nvSpPr>
          <p:cNvPr id="3" name="Content Placeholder 2"/>
          <p:cNvSpPr>
            <a:spLocks noGrp="1"/>
          </p:cNvSpPr>
          <p:nvPr>
            <p:ph idx="1"/>
          </p:nvPr>
        </p:nvSpPr>
        <p:spPr/>
        <p:txBody>
          <a:bodyPr/>
          <a:lstStyle/>
          <a:p/>
          <a:p>
            <a:pPr>
              <a:spcAft>
                <a:spcPts val="500"/>
              </a:spcAft>
              <a:defRPr sz="1800">
                <a:latin typeface="DejaVu Sans"/>
              </a:defRPr>
            </a:pPr>
            <a:r>
              <a:t>• Common techniques include statistical methods (Z-score, IQR), distance/density-based approaches (k-Nearest Neighbors, Local Outlier Factor), and model-based algorithms like Isolation Forest and One-Class SVM.</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 5.1: Introduction to Neural Networks (Part 1)</a:t>
            </a:r>
          </a:p>
        </p:txBody>
      </p:sp>
      <p:sp>
        <p:nvSpPr>
          <p:cNvPr id="3" name="Content Placeholder 2"/>
          <p:cNvSpPr>
            <a:spLocks noGrp="1"/>
          </p:cNvSpPr>
          <p:nvPr>
            <p:ph idx="1"/>
          </p:nvPr>
        </p:nvSpPr>
        <p:spPr/>
        <p:txBody>
          <a:bodyPr/>
          <a:lstStyle/>
          <a:p/>
          <a:p>
            <a:pPr>
              <a:spcAft>
                <a:spcPts val="500"/>
              </a:spcAft>
              <a:defRPr sz="1800">
                <a:latin typeface="DejaVu Sans"/>
              </a:defRPr>
            </a:pPr>
            <a:r>
              <a:t>• Artificial Neural Networks (ANNs) are computational models inspired by the human brain, designed to recognize patterns and make predictions using interconnected artificial neurons with adjustable weighted connections.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 5.1: Introduction to Neural Networks (Part 2)</a:t>
            </a:r>
          </a:p>
        </p:txBody>
      </p:sp>
      <p:sp>
        <p:nvSpPr>
          <p:cNvPr id="3" name="Content Placeholder 2"/>
          <p:cNvSpPr>
            <a:spLocks noGrp="1"/>
          </p:cNvSpPr>
          <p:nvPr>
            <p:ph idx="1"/>
          </p:nvPr>
        </p:nvSpPr>
        <p:spPr/>
        <p:txBody>
          <a:bodyPr/>
          <a:lstStyle/>
          <a:p/>
          <a:p>
            <a:pPr>
              <a:spcAft>
                <a:spcPts val="500"/>
              </a:spcAft>
              <a:defRPr sz="1800">
                <a:latin typeface="DejaVu Sans"/>
              </a:defRPr>
            </a:pPr>
            <a:r>
              <a:t>• The fundamental building block is the artificial neuron (perceptron), which receives weighted inputs, sums them with a bias, and applies a non-linear activation function (e.g., ReLU, Sigmoid) to produce an output.</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 5.1: Introduction to Neural Networks (Part 3)</a:t>
            </a:r>
          </a:p>
        </p:txBody>
      </p:sp>
      <p:sp>
        <p:nvSpPr>
          <p:cNvPr id="3" name="Content Placeholder 2"/>
          <p:cNvSpPr>
            <a:spLocks noGrp="1"/>
          </p:cNvSpPr>
          <p:nvPr>
            <p:ph idx="1"/>
          </p:nvPr>
        </p:nvSpPr>
        <p:spPr/>
        <p:txBody>
          <a:bodyPr/>
          <a:lstStyle/>
          <a:p/>
          <a:p>
            <a:pPr>
              <a:spcAft>
                <a:spcPts val="500"/>
              </a:spcAft>
              <a:defRPr sz="1800">
                <a:latin typeface="DejaVu Sans"/>
              </a:defRPr>
            </a:pPr>
            <a:r>
              <a:t>• ANNs are organized into layers: an Input layer for raw data, one or more Hidden layers for complex feature extraction and computations, and an Output layer that provides the final prediction.</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 5.1: Introduction to Neural Networks (Part 4)</a:t>
            </a:r>
          </a:p>
        </p:txBody>
      </p:sp>
      <p:sp>
        <p:nvSpPr>
          <p:cNvPr id="3" name="Content Placeholder 2"/>
          <p:cNvSpPr>
            <a:spLocks noGrp="1"/>
          </p:cNvSpPr>
          <p:nvPr>
            <p:ph idx="1"/>
          </p:nvPr>
        </p:nvSpPr>
        <p:spPr/>
        <p:txBody>
          <a:bodyPr/>
          <a:lstStyle/>
          <a:p/>
          <a:p>
            <a:pPr>
              <a:spcAft>
                <a:spcPts val="500"/>
              </a:spcAft>
              <a:defRPr sz="1800">
                <a:latin typeface="DejaVu Sans"/>
              </a:defRPr>
            </a:pPr>
            <a:r>
              <a:t>• Neural networks learn through an iterative process involving Forward Propagation (generating a prediction), a Loss Function (quantifying error), Backpropagation (calculating error gradients for weights/biases), and Optimization (e.g., Gradient Descent) to adjust parameters and minimize loss.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 5.2: Perceptrons and Activation Functions (Part 1)</a:t>
            </a:r>
          </a:p>
        </p:txBody>
      </p:sp>
      <p:sp>
        <p:nvSpPr>
          <p:cNvPr id="3" name="Content Placeholder 2"/>
          <p:cNvSpPr>
            <a:spLocks noGrp="1"/>
          </p:cNvSpPr>
          <p:nvPr>
            <p:ph idx="1"/>
          </p:nvPr>
        </p:nvSpPr>
        <p:spPr/>
        <p:txBody>
          <a:bodyPr/>
          <a:lstStyle/>
          <a:p/>
          <a:p>
            <a:pPr>
              <a:spcAft>
                <a:spcPts val="500"/>
              </a:spcAft>
              <a:defRPr sz="1800">
                <a:latin typeface="DejaVu Sans"/>
              </a:defRPr>
            </a:pPr>
            <a:r>
              <a:t>• The perceptron is the basic building block of neural networks, a linear classifier that computes a weighted sum of inputs plus bias, then applies an activation function to produce an output.</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 5.2: Perceptrons and Activation Functions (Part 2)</a:t>
            </a:r>
          </a:p>
        </p:txBody>
      </p:sp>
      <p:sp>
        <p:nvSpPr>
          <p:cNvPr id="3" name="Content Placeholder 2"/>
          <p:cNvSpPr>
            <a:spLocks noGrp="1"/>
          </p:cNvSpPr>
          <p:nvPr>
            <p:ph idx="1"/>
          </p:nvPr>
        </p:nvSpPr>
        <p:spPr/>
        <p:txBody>
          <a:bodyPr/>
          <a:lstStyle/>
          <a:p/>
          <a:p>
            <a:pPr>
              <a:spcAft>
                <a:spcPts val="500"/>
              </a:spcAft>
              <a:defRPr sz="1800">
                <a:latin typeface="DejaVu Sans"/>
              </a:defRPr>
            </a:pPr>
            <a:r>
              <a:t>• Activation functions are critical for introducing non-linearity into neural networks, allowing them to learn complex patterns beyond simple linear relationships.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 5.2: Perceptrons and Activation Functions (Part 3)</a:t>
            </a:r>
          </a:p>
        </p:txBody>
      </p:sp>
      <p:sp>
        <p:nvSpPr>
          <p:cNvPr id="3" name="Content Placeholder 2"/>
          <p:cNvSpPr>
            <a:spLocks noGrp="1"/>
          </p:cNvSpPr>
          <p:nvPr>
            <p:ph idx="1"/>
          </p:nvPr>
        </p:nvSpPr>
        <p:spPr/>
        <p:txBody>
          <a:bodyPr/>
          <a:lstStyle/>
          <a:p/>
          <a:p>
            <a:pPr>
              <a:spcAft>
                <a:spcPts val="500"/>
              </a:spcAft>
              <a:defRPr sz="1800">
                <a:latin typeface="DejaVu Sans"/>
              </a:defRPr>
            </a:pPr>
            <a:r>
              <a:t>• The original perceptron uses a simple step function, which is not differentiable and only produces binary outputs, limiting its use in modern neural networks.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 5.2: Perceptrons and Activation Functions (Part 4)</a:t>
            </a:r>
          </a:p>
        </p:txBody>
      </p:sp>
      <p:sp>
        <p:nvSpPr>
          <p:cNvPr id="3" name="Content Placeholder 2"/>
          <p:cNvSpPr>
            <a:spLocks noGrp="1"/>
          </p:cNvSpPr>
          <p:nvPr>
            <p:ph idx="1"/>
          </p:nvPr>
        </p:nvSpPr>
        <p:spPr/>
        <p:txBody>
          <a:bodyPr/>
          <a:lstStyle/>
          <a:p/>
          <a:p>
            <a:pPr>
              <a:spcAft>
                <a:spcPts val="500"/>
              </a:spcAft>
              <a:defRPr sz="1800">
                <a:latin typeface="DejaVu Sans"/>
              </a:defRPr>
            </a:pPr>
            <a:r>
              <a:t>• Common modern activation functions include Sigmoid (outputs 0-1, suffers vanishing gradients), Tanh (outputs -1 to 1, zero-centered, also vanishing gradients), and ReLU (max(0,x), computationally efficient, mitigates vanishing gradients but can 'die').</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 5.3: Building a Simple Feedforward Neural Network (Part 1)</a:t>
            </a:r>
          </a:p>
        </p:txBody>
      </p:sp>
      <p:sp>
        <p:nvSpPr>
          <p:cNvPr id="3" name="Content Placeholder 2"/>
          <p:cNvSpPr>
            <a:spLocks noGrp="1"/>
          </p:cNvSpPr>
          <p:nvPr>
            <p:ph idx="1"/>
          </p:nvPr>
        </p:nvSpPr>
        <p:spPr/>
        <p:txBody>
          <a:bodyPr/>
          <a:lstStyle/>
          <a:p/>
          <a:p>
            <a:pPr>
              <a:spcAft>
                <a:spcPts val="500"/>
              </a:spcAft>
              <a:defRPr sz="1800">
                <a:latin typeface="DejaVu Sans"/>
              </a:defRPr>
            </a:pPr>
            <a:r>
              <a:t>• A Feedforward Neural Network (FNN), or Multilayer Perceptron (MLP), is a fundamental neural network structured into input, hidden, and output layers, where information flows strictly unidirectionally.</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 5.3: Building a Simple Feedforward Neural Network (Part 2)</a:t>
            </a:r>
          </a:p>
        </p:txBody>
      </p:sp>
      <p:sp>
        <p:nvSpPr>
          <p:cNvPr id="3" name="Content Placeholder 2"/>
          <p:cNvSpPr>
            <a:spLocks noGrp="1"/>
          </p:cNvSpPr>
          <p:nvPr>
            <p:ph idx="1"/>
          </p:nvPr>
        </p:nvSpPr>
        <p:spPr/>
        <p:txBody>
          <a:bodyPr/>
          <a:lstStyle/>
          <a:p/>
          <a:p>
            <a:pPr>
              <a:spcAft>
                <a:spcPts val="500"/>
              </a:spcAft>
              <a:defRPr sz="1800">
                <a:latin typeface="DejaVu Sans"/>
              </a:defRPr>
            </a:pPr>
            <a:r>
              <a:t>• Each neuron within an FNN computes a weighted sum of inputs from the previous layer, adds a bias, and then applies a non-linear activation function to produce an output; weights and biases are learned parameters.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 5.3: Building a Simple Feedforward Neural Network (Part 3)</a:t>
            </a:r>
          </a:p>
        </p:txBody>
      </p:sp>
      <p:sp>
        <p:nvSpPr>
          <p:cNvPr id="3" name="Content Placeholder 2"/>
          <p:cNvSpPr>
            <a:spLocks noGrp="1"/>
          </p:cNvSpPr>
          <p:nvPr>
            <p:ph idx="1"/>
          </p:nvPr>
        </p:nvSpPr>
        <p:spPr/>
        <p:txBody>
          <a:bodyPr/>
          <a:lstStyle/>
          <a:p/>
          <a:p>
            <a:pPr>
              <a:spcAft>
                <a:spcPts val="500"/>
              </a:spcAft>
              <a:defRPr sz="1800">
                <a:latin typeface="DejaVu Sans"/>
              </a:defRPr>
            </a:pPr>
            <a:r>
              <a:t>• Non-linear activation functions (e.g., Sigmoid, ReLU, Tanh) are crucial, enabling FNNs to learn complex, non-linear patterns and relationships in the data.</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 5.3: Building a Simple Feedforward Neural Network (Part 4)</a:t>
            </a:r>
          </a:p>
        </p:txBody>
      </p:sp>
      <p:sp>
        <p:nvSpPr>
          <p:cNvPr id="3" name="Content Placeholder 2"/>
          <p:cNvSpPr>
            <a:spLocks noGrp="1"/>
          </p:cNvSpPr>
          <p:nvPr>
            <p:ph idx="1"/>
          </p:nvPr>
        </p:nvSpPr>
        <p:spPr/>
        <p:txBody>
          <a:bodyPr/>
          <a:lstStyle/>
          <a:p/>
          <a:p>
            <a:pPr>
              <a:spcAft>
                <a:spcPts val="500"/>
              </a:spcAft>
              <a:defRPr sz="1800">
                <a:latin typeface="DejaVu Sans"/>
              </a:defRPr>
            </a:pPr>
            <a:r>
              <a:t>• Forward propagation is the process of calculating the network's output for a given input by sequentially applying weights, biases, and activation functions through each layer.</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 5.4: Backpropagation and Gradient Descent (Part 1)</a:t>
            </a:r>
          </a:p>
        </p:txBody>
      </p:sp>
      <p:sp>
        <p:nvSpPr>
          <p:cNvPr id="3" name="Content Placeholder 2"/>
          <p:cNvSpPr>
            <a:spLocks noGrp="1"/>
          </p:cNvSpPr>
          <p:nvPr>
            <p:ph idx="1"/>
          </p:nvPr>
        </p:nvSpPr>
        <p:spPr/>
        <p:txBody>
          <a:bodyPr/>
          <a:lstStyle/>
          <a:p/>
          <a:p>
            <a:pPr>
              <a:spcAft>
                <a:spcPts val="500"/>
              </a:spcAft>
              <a:defRPr sz="1800">
                <a:latin typeface="DejaVu Sans"/>
              </a:defRPr>
            </a:pPr>
            <a:r>
              <a:t>• 5</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 5.4: Backpropagation and Gradient Descent (Part 2)</a:t>
            </a:r>
          </a:p>
        </p:txBody>
      </p:sp>
      <p:sp>
        <p:nvSpPr>
          <p:cNvPr id="3" name="Content Placeholder 2"/>
          <p:cNvSpPr>
            <a:spLocks noGrp="1"/>
          </p:cNvSpPr>
          <p:nvPr>
            <p:ph idx="1"/>
          </p:nvPr>
        </p:nvSpPr>
        <p:spPr/>
        <p:txBody>
          <a:bodyPr/>
          <a:lstStyle/>
          <a:p/>
          <a:p>
            <a:pPr>
              <a:spcAft>
                <a:spcPts val="500"/>
              </a:spcAft>
              <a:defRPr sz="1800">
                <a:latin typeface="DejaVu Sans"/>
              </a:defRPr>
            </a:pPr>
            <a:r>
              <a:t>• 4: Backpropagation and Gradient Descent</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 5.4: Backpropagation and Gradient Descent (Part 3)</a:t>
            </a:r>
          </a:p>
        </p:txBody>
      </p:sp>
      <p:sp>
        <p:nvSpPr>
          <p:cNvPr id="3" name="Content Placeholder 2"/>
          <p:cNvSpPr>
            <a:spLocks noGrp="1"/>
          </p:cNvSpPr>
          <p:nvPr>
            <p:ph idx="1"/>
          </p:nvPr>
        </p:nvSpPr>
        <p:spPr/>
        <p:txBody>
          <a:bodyPr/>
          <a:lstStyle/>
          <a:p/>
          <a:p>
            <a:pPr>
              <a:spcAft>
                <a:spcPts val="500"/>
              </a:spcAft>
              <a:defRPr sz="1800">
                <a:latin typeface="DejaVu Sans"/>
              </a:defRPr>
            </a:pPr>
            <a:r>
              <a:t>•  Introduction: Neural networks are powerful tools, but how do they learn to perform complex tasks like image recognition or natural language processing? The answer lies in their ability to adjust their internal parameters—weights and biases—to minimize errors in their predictions</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 5.4: Backpropagation and Gradient Descent (Part 4)</a:t>
            </a:r>
          </a:p>
        </p:txBody>
      </p:sp>
      <p:sp>
        <p:nvSpPr>
          <p:cNvPr id="3" name="Content Placeholder 2"/>
          <p:cNvSpPr>
            <a:spLocks noGrp="1"/>
          </p:cNvSpPr>
          <p:nvPr>
            <p:ph idx="1"/>
          </p:nvPr>
        </p:nvSpPr>
        <p:spPr/>
        <p:txBody>
          <a:bodyPr/>
          <a:lstStyle/>
          <a:p/>
          <a:p>
            <a:pPr>
              <a:spcAft>
                <a:spcPts val="500"/>
              </a:spcAft>
              <a:defRPr sz="1800">
                <a:latin typeface="DejaVu Sans"/>
              </a:defRPr>
            </a:pPr>
            <a:r>
              <a:t>•  This lesson delves into the two fundamental algorithms that enable this learning: Backpropagation and Gradient Descent</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 5.5: Introduction to Convolutional Neural Networks (CNNs) and Recurrent Neural Networks (RNNs) (Part 1)</a:t>
            </a:r>
          </a:p>
        </p:txBody>
      </p:sp>
      <p:sp>
        <p:nvSpPr>
          <p:cNvPr id="3" name="Content Placeholder 2"/>
          <p:cNvSpPr>
            <a:spLocks noGrp="1"/>
          </p:cNvSpPr>
          <p:nvPr>
            <p:ph idx="1"/>
          </p:nvPr>
        </p:nvSpPr>
        <p:spPr/>
        <p:txBody>
          <a:bodyPr/>
          <a:lstStyle/>
          <a:p/>
          <a:p>
            <a:pPr>
              <a:spcAft>
                <a:spcPts val="500"/>
              </a:spcAft>
              <a:defRPr sz="1800">
                <a:latin typeface="DejaVu Sans"/>
              </a:defRPr>
            </a:pPr>
            <a:r>
              <a:t>• Convolutional Neural Networks (CNNs) excel at processing grid-like data (e.g., images) using convolutional layers with learnable filters for hierarchical feature extraction, pooling layers for dimension reduction and translation invariance, and fully connected layers for final classification.</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 5.5: Introduction to Convolutional Neural Networks (CNNs) and Recurrent Neural Networks (RNNs) (Part 2)</a:t>
            </a:r>
          </a:p>
        </p:txBody>
      </p:sp>
      <p:sp>
        <p:nvSpPr>
          <p:cNvPr id="3" name="Content Placeholder 2"/>
          <p:cNvSpPr>
            <a:spLocks noGrp="1"/>
          </p:cNvSpPr>
          <p:nvPr>
            <p:ph idx="1"/>
          </p:nvPr>
        </p:nvSpPr>
        <p:spPr/>
        <p:txBody>
          <a:bodyPr/>
          <a:lstStyle/>
          <a:p/>
          <a:p>
            <a:pPr>
              <a:spcAft>
                <a:spcPts val="500"/>
              </a:spcAft>
              <a:defRPr sz="1800">
                <a:latin typeface="DejaVu Sans"/>
              </a:defRPr>
            </a:pPr>
            <a:r>
              <a:t>• CNNs achieve high effectiveness and parameter efficiency through local receptive fields, parameter sharing, and pooling, making them ideal for computer vision tasks like image classification, object detection, and facial recognition.</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 5.5: Introduction to Convolutional Neural Networks (CNNs) and Recurrent Neural Networks (RNNs) (Part 3)</a:t>
            </a:r>
          </a:p>
        </p:txBody>
      </p:sp>
      <p:sp>
        <p:nvSpPr>
          <p:cNvPr id="3" name="Content Placeholder 2"/>
          <p:cNvSpPr>
            <a:spLocks noGrp="1"/>
          </p:cNvSpPr>
          <p:nvPr>
            <p:ph idx="1"/>
          </p:nvPr>
        </p:nvSpPr>
        <p:spPr/>
        <p:txBody>
          <a:bodyPr/>
          <a:lstStyle/>
          <a:p/>
          <a:p>
            <a:pPr>
              <a:spcAft>
                <a:spcPts val="500"/>
              </a:spcAft>
              <a:defRPr sz="1800">
                <a:latin typeface="DejaVu Sans"/>
              </a:defRPr>
            </a:pPr>
            <a:r>
              <a:t>• Recurrent Neural Networks (RNNs) are designed for sequential data, processing information step-by-step by maintaining a recurrent hidden state that acts as an internal memory, allowing the network to use past information to influence current processing.</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 5.5: Introduction to Convolutional Neural Networks (CNNs) and Recurrent Neural Networks (RNNs) (Part 4)</a:t>
            </a:r>
          </a:p>
        </p:txBody>
      </p:sp>
      <p:sp>
        <p:nvSpPr>
          <p:cNvPr id="3" name="Content Placeholder 2"/>
          <p:cNvSpPr>
            <a:spLocks noGrp="1"/>
          </p:cNvSpPr>
          <p:nvPr>
            <p:ph idx="1"/>
          </p:nvPr>
        </p:nvSpPr>
        <p:spPr/>
        <p:txBody>
          <a:bodyPr/>
          <a:lstStyle/>
          <a:p/>
          <a:p>
            <a:pPr>
              <a:spcAft>
                <a:spcPts val="500"/>
              </a:spcAft>
              <a:defRPr sz="1800">
                <a:latin typeface="DejaVu Sans"/>
              </a:defRPr>
            </a:pPr>
            <a:r>
              <a:t>• Standard RNNs often struggle with vanishing/exploding gradients over long sequences; however, advanced architectures like Long Short-Term Memory (LSTMs) and Gated Recurrent Units (GRUs) overcome this by using 'gates' to manage the flow of information and capture long-term dependencies.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