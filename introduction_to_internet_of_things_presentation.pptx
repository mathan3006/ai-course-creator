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Introduction to Internet of Things</a:t>
            </a:r>
          </a:p>
        </p:txBody>
      </p:sp>
      <p:sp>
        <p:nvSpPr>
          <p:cNvPr id="3" name="Subtitle 2"/>
          <p:cNvSpPr>
            <a:spLocks noGrp="1"/>
          </p:cNvSpPr>
          <p:nvPr>
            <p:ph type="subTitle" idx="1"/>
          </p:nvPr>
        </p:nvSpPr>
        <p:spPr/>
        <p:txBody>
          <a:bodyPr/>
          <a:lstStyle/>
          <a:p>
            <a:r>
              <a:t>Generated by AI Course Creator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Foundations of IoT</a:t>
            </a:r>
          </a:p>
        </p:txBody>
      </p:sp>
      <p:sp>
        <p:nvSpPr>
          <p:cNvPr id="3" name="Text Placeholder 2"/>
          <p:cNvSpPr>
            <a:spLocks noGrp="1"/>
          </p:cNvSpPr>
          <p:nvPr>
            <p:ph type="body"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What is the Internet of Things (IoT)?</a:t>
            </a:r>
          </a:p>
        </p:txBody>
      </p:sp>
      <p:sp>
        <p:nvSpPr>
          <p:cNvPr id="3" name="Content Placeholder 2"/>
          <p:cNvSpPr>
            <a:spLocks noGrp="1"/>
          </p:cNvSpPr>
          <p:nvPr>
            <p:ph idx="1"/>
          </p:nvPr>
        </p:nvSpPr>
        <p:spPr/>
        <p:txBody>
          <a:bodyPr wrap="square"/>
          <a:lstStyle/>
          <a:p>
            <a:r>
              <a:rPr sz="1400">
                <a:latin typeface="DejaVu Sans"/>
              </a:rPr>
              <a:t>Welcome to the first lesson of our 'Introduction to Internet of Things' course: '1.1: What is the Internet of Things (IoT)?' In today's interconnected world, you've likely heard the term 'Internet of Things' or 'IoT' frequently. It's a concept that is rapidly transforming our daily lives, industries, and the very fabric of our society. But what exactly is it? This lesson will demystify IoT, breaking down its core components, how it works, and why it's becoming so pervasive. By the end of this lesson, you will have a clear understanding of what IoT entails and its significance.The Internet of Things (IoT) refers to a vast network of physical objects—'things'—that are embedded with sensors, software, and other technologies for the purpose of connecting and exchanging data with other devices and systems over the internet. Essentially, it's about extending internet connectivity beyond standard devices like computers, smartphones, and tablets to a diverse range of physical objects and everyday items. These 'things' can range from ordinary household objects like smart thermostats and light bulbs to industrial machinery, vehicles, and even wearable fitness trackers. The goal is to enable these objects to collect and exchange data, allowing them to 'talk' to each other and to us, often without human intervention.To truly grasp IoT, it's essential to understand its key components and how they interact:1.  **Things/Devices**: These are the physical objects themselves. They are equipped with sensors (to collect data like temperature, motion, light, pressure, etc.) and/or actuators (to perform actions like turning lights on/off, adjusting a thermostat, opening a valve). Examples include smart refrigerators, security cameras, industrial robots, and even smart city infrastructure.2.  **Connectivity**: This is the communication layer that allows IoT devices to connect to the internet and to each other. Various technologies are used depending on the application's needs, such as Wi-Fi, Bluetooth, cellular (4G/5G), LoRaWAN, Zigbee, and more. This connectivity enables the collected data to be transmitted to a central system for processing.3.  **Data Collection &amp; Processing**: Once data is collected by sensors, it needs to be transmitted and processed. This often involves sending the data to a cloud-based platform or an edge computing device. The data is then analyzed to extract meaningful insights. For instance, a smart thermostat collects temperature data, which is then sent to a server.4.  **Cloud/Edge Computing**: This is where the vast amounts of data generated by IoT devices are stored, processed, and analyzed. Cloud platforms offer scalability and powerful analytics capabilities, while edge computing processes data closer to the source, reducing latency and bandwidth usage, which is crucial for real-time applications.5.  **User Interface/Applications**: This is how users interact with the IoT system and receive insights. It could be a mobile app, a web dashboard, or even voice commands. For example, a smart home app allows you to monitor and control your smart devices remotely.The fundamental workflow of an IoT system can be simplified into four steps:1.  **Sense**: Devices equipped with sensors collect data from their environment (e.g., temperature, humidity, motion).2.  **Connect**: The collected data is transmitted over a network (Wi-Fi, cellular, etc.) to a central system, often a cloud platform.3.  **Process**: The data is analyzed to identify patterns, anomalies, or specific conditions (e.g., room temperature is too high).4.  **Act**: Based on the processed data, an action is triggered. This could be sending an alert to a user, automatically adjusting a device (e.g., turning on the AC), or updating a dashboard.IoT devices and systems exhibit several defining characteristics:Interconnectivity: Devices are connected to the global information network.Heterogeneity: A wide variety of devices with different hardware platforms and network types can communicate.Dynamic Changes: The state of devices changes dynamically (e.g., connected/disconnected, battery status, location).Enormous Scale: The number of connected devices is vast and continuously growing.Security &amp; Privacy Concerns: Managing the security and privacy of data from countless devices is a major challenge.IoT is not just a theoretical concept; it's already deeply integrated into many aspects of our lives and industries:Smart Homes: Devices like smart thermostats (e.g., Nest), smart lighting (e.g., Philips Hue), and smart security cameras allow for automated control, energy efficiency, and enhanced security.Wearables: Fitness trackers (e.g., Fitbit, Apple Watch) monitor health metrics like heart rate, steps, and sleep patterns, providing personalized insights.Smart Cities: IoT sensors are used for traffic management, smart parking, waste management, environmental monitoring, and smart streetlights, improving urban efficiency and quality of life.Industrial IoT (IIoT): In manufacturing and logistics, IoT enables predictive maintenance for machinery, asset tracking, supply chain optimization, and quality control, leading to increased efficiency and reduced downtime.Healthcare: Remote patient monitoring, smart hospitals, and connected medical devices allow for better patient care, emergency response, and data collection for research.Agriculture: Precision farming uses IoT sensors to monitor soil conditions, crop health, and livestock, optimizing resource usage and increasing yields.The widespread adoption of IoT brings numerous benefits:Increased Efficiency: Automation and data-driven insights optimize processes in homes, businesses, and cities.Enhanced Convenience: Remote control and automation simplify daily tasks and improve quality of life.Data-Driven Insights: The vast amount of data collected provides valuable information for decision-making and innovation.New Services and Business Models: IoT enables the creation of entirely new products and services, fostering economic growth.However, IoT also presents significant challenges:Security: The sheer number of connected devices creates a massive attack surface, making them vulnerable to cyber threats.Privacy: The collection of vast amounts of personal and sensitive data raises concerns about privacy and data misuse.Interoperability: Different devices and platforms often use varying standards, making seamless integration challenging.Complexity: Designing, deploying, and managing large-scale IoT systems can be complex and resource-intensive.Power Consumption: Many IoT devices are battery-powered, and optimizing power consumption for long-term operation is crucial.In summary, the Internet of Things (IoT) is a transformative paradigm that connects everyday physical objects to the internet, enabling them to collect, exchange, and act upon data. It comprises devices, connectivity, data processing, and user interfaces, working together in a 'sense-connect-process-act' cycle. From smart homes to industrial applications, IoT is revolutionizing how we interact with our environment, offering immense benefits in efficiency and convenience, while also posing critical challenges related to security, privacy, and interoperability. As we move forward in this course, we will delve deeper into each of these aspects, exploring the technologies and implications of this exciting field.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History and Evolution of IoT</a:t>
            </a:r>
          </a:p>
        </p:txBody>
      </p:sp>
      <p:sp>
        <p:nvSpPr>
          <p:cNvPr id="3" name="Content Placeholder 2"/>
          <p:cNvSpPr>
            <a:spLocks noGrp="1"/>
          </p:cNvSpPr>
          <p:nvPr>
            <p:ph idx="1"/>
          </p:nvPr>
        </p:nvSpPr>
        <p:spPr/>
        <p:txBody>
          <a:bodyPr wrap="square"/>
          <a:lstStyle/>
          <a:p>
            <a:r>
              <a:rPr sz="1400">
                <a:latin typeface="DejaVu Sans"/>
              </a:rPr>
              <a:t>Welcome to Lesson 1.2: History and Evolution of IoT. In this lesson, we will embark on a fascinating journey through time to understand how the concept of connecting everyday objects to the internet came into being and how it has evolved into the transformative force we know today. Understanding this history is crucial for appreciating the current state and future potential of the Internet of Things. Our story begins long before the term 'Internet of Things' was even coined. Early concepts of networked devices and remote control laid the groundwork. One of the earliest examples often cited is a modified Coca-Cola vending machine at Carnegie Mellon University in the early 1980s. Programmers could connect to the machine over the internet to check if it had cold drinks available before making the trip. This was a rudimentary form of M2M (Machine-to-Machine) communication, where devices communicated directly with each other or a central system without human intervention. The term 'Internet of Things' itself was coined by Kevin Ashton in 1999 while working at Procter &amp; Gamble. He used it to describe a system where the internet is connected to the physical world via ubiquitous sensors. Ashton, a co-founder of the Auto-ID Center at MIT, envisioned a future where computers could gather information about the physical world without human help, primarily through technologies like Radio-Frequency Identification (RFID). RFID tags were seen as a key enabler, allowing unique identification and tracking of objects. The early 2000s saw the first wave of IoT applications, largely focused on industrial and enterprise use cases. This era was characterized by M2M communication, primarily in telemetry, remote monitoring, and control systems for sectors like manufacturing, logistics, and utilities. Think of smart meters sending electricity usage data or sensors monitoring equipment performance in a factory. Several key technological advancements were essential for the IoT to truly take off. Miniaturization of sensors made it possible to embed them into smaller, more diverse objects. The proliferation of wireless communication technologies like Wi-Fi, Bluetooth, and later cellular networks (3G, 4G, and now 5G) provided the necessary connectivity. The adoption of IPv6, which offers an astronomical number of unique IP addresses, solved the problem of addressing billions, even trillions, of connected devices. Cloud computing provided the scalable infrastructure for storing and processing the vast amounts of data generated by IoT devices, while big data analytics and artificial intelligence offered the tools to extract meaningful insights from this data. The evolution of IoT can be broadly categorized into several phases. The initial phase (early 2000s) was dominated by M2M, focusing on industrial and enterprise applications. The mid-2000s to early 2010s saw the emergence of consumer IoT, with devices like smart thermostats (e.g., Nest, launched in 2011), fitness trackers, and early smart home gadgets. This period also saw the rise of open-source hardware platforms like Arduino and Raspberry Pi, which democratized access to embedded systems development and fueled innovation. From the mid-2010s onwards, IoT expanded rapidly into Industrial IoT (IIoT), smart cities, connected vehicles, and healthcare. The focus shifted from mere connectivity to data analytics, predictive maintenance, and creating entire ecosystems. We also witnessed the integration of Artificial Intelligence with IoT, leading to AIoT, where devices become more intelligent, capable of local processing and decision-making at the edge. Significant milestones include the first internet-connected toaster in 1990, LG's internet-enabled refrigerator in 2000, the launch of the iPhone in 2007 which popularized mobile computing and sensor integration, and the subsequent explosion of smart home devices like Amazon Echo (2014) and Google Home (2016) that brought voice-controlled IoT into mainstream homes. Today, IoT is transforming industries from agriculture to healthcare, retail to transportation. It promises enhanced efficiency, new business models, and improved quality of life. However, its evolution also brings challenges, including security vulnerabilities, privacy concerns, and the need for interoperability between diverse devices and platforms. The future of IoT is intertwined with advancements in 5G for ultra-low latency and high bandwidth, edge computing for faster local processing, and continued integration with AI for more autonomous and intelligent systems. In summary, the Internet of Things has evolved from rudimentary networked devices and M2M communication to a complex ecosystem of interconnected sensors, devices, and platforms. Driven by technological advancements in connectivity, processing power, and data analytics, IoT has moved from niche industrial applications to pervasive consumer and smart city solutions, continuously shaping our physical and digital worlds. Its journey is far from over, promising even more profound transformations in the years to 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Key Components and Architecture of IoT Systems</a:t>
            </a:r>
          </a:p>
        </p:txBody>
      </p:sp>
      <p:sp>
        <p:nvSpPr>
          <p:cNvPr id="3" name="Content Placeholder 2"/>
          <p:cNvSpPr>
            <a:spLocks noGrp="1"/>
          </p:cNvSpPr>
          <p:nvPr>
            <p:ph idx="1"/>
          </p:nvPr>
        </p:nvSpPr>
        <p:spPr/>
        <p:txBody>
          <a:bodyPr wrap="square"/>
          <a:lstStyle/>
          <a:p>
            <a:r>
              <a:rPr sz="1400">
                <a:latin typeface="DejaVu Sans"/>
              </a:rPr>
              <a:t>Welcome to Lesson 1.3: Key Components and Architecture of IoT Systems. In our previous lessons, we explored the fundamental concepts and evolution of the Internet of Things. Now, we'll delve deeper into the building blocks that make up an IoT system and understand how they interact to create intelligent, connected environments. Understanding these components and their architectural arrangement is crucial for designing, implementing, and managing effective IoT solutions. Let's break down the core elements that bring the IoT to life.</a:t>
            </a:r>
          </a:p>
          <a:p/>
          <a:p>
            <a:r>
              <a:rPr sz="1400">
                <a:latin typeface="DejaVu Sans"/>
              </a:rPr>
              <a:t>### 1. The "Things" (Sensors &amp; Actuators)</a:t>
            </a:r>
          </a:p>
          <a:p>
            <a:r>
              <a:rPr sz="1400">
                <a:latin typeface="DejaVu Sans"/>
              </a:rPr>
              <a:t>At the very foundation of any IoT system are the "Things" themselves – the physical devices that interact with the real world. These devices can be broadly categorized into two types:</a:t>
            </a:r>
          </a:p>
          <a:p/>
          <a:p>
            <a:r>
              <a:rPr sz="1400">
                <a:latin typeface="DejaVu Sans"/>
              </a:rPr>
              <a:t>*   **Sensors:** These are input devices that detect and measure physical parameters from their environment and convert them into electrical signals or digital data. They are the eyes and ears of an IoT system. Examples include:</a:t>
            </a:r>
          </a:p>
          <a:p>
            <a:r>
              <a:rPr sz="1400">
                <a:latin typeface="DejaVu Sans"/>
              </a:rPr>
              <a:t>    *   **Temperature Sensors:** Measure ambient temperature (e.g., in a smart thermostat).</a:t>
            </a:r>
          </a:p>
          <a:p>
            <a:r>
              <a:rPr sz="1400">
                <a:latin typeface="DejaVu Sans"/>
              </a:rPr>
              <a:t>    *   **Humidity Sensors:** Detect moisture levels (e.g., for smart irrigation).</a:t>
            </a:r>
          </a:p>
          <a:p>
            <a:r>
              <a:rPr sz="1400">
                <a:latin typeface="DejaVu Sans"/>
              </a:rPr>
              <a:t>    *   **Motion Sensors:** Identify movement (e.g., for security systems or smart lighting).</a:t>
            </a:r>
          </a:p>
          <a:p>
            <a:r>
              <a:rPr sz="1400">
                <a:latin typeface="DejaVu Sans"/>
              </a:rPr>
              <a:t>    *   **Pressure Sensors:** Measure force per unit area (e.g., in industrial machinery).</a:t>
            </a:r>
          </a:p>
          <a:p>
            <a:r>
              <a:rPr sz="1400">
                <a:latin typeface="DejaVu Sans"/>
              </a:rPr>
              <a:t>    *   **GPS Sensors:** Determine location (e.g., for asset tracking).</a:t>
            </a:r>
          </a:p>
          <a:p>
            <a:r>
              <a:rPr sz="1400">
                <a:latin typeface="DejaVu Sans"/>
              </a:rPr>
              <a:t>*   **Actuators:** These are output devices that receive commands from the IoT system and perform a physical action in the environment. They are the hands and feet of an IoT system. Examples include:</a:t>
            </a:r>
          </a:p>
          <a:p>
            <a:r>
              <a:rPr sz="1400">
                <a:latin typeface="DejaVu Sans"/>
              </a:rPr>
              <a:t>    *   **Smart Light Bulbs:** Turn on/off or change brightness based on commands.</a:t>
            </a:r>
          </a:p>
          <a:p>
            <a:r>
              <a:rPr sz="1400">
                <a:latin typeface="DejaVu Sans"/>
              </a:rPr>
              <a:t>    *   **Smart Locks:** Lock/unlock doors remotely.</a:t>
            </a:r>
          </a:p>
          <a:p>
            <a:r>
              <a:rPr sz="1400">
                <a:latin typeface="DejaVu Sans"/>
              </a:rPr>
              <a:t>    *   **Motors:** Control robotic arms or industrial equipment.</a:t>
            </a:r>
          </a:p>
          <a:p>
            <a:r>
              <a:rPr sz="1400">
                <a:latin typeface="DejaVu Sans"/>
              </a:rPr>
              <a:t>    *   **Valves:** Regulate fluid flow (e.g., in smart irrigation or industrial processes).</a:t>
            </a:r>
          </a:p>
          <a:p>
            <a:r>
              <a:rPr sz="1400">
                <a:latin typeface="DejaVu Sans"/>
              </a:rPr>
              <a:t>    *   **Heaters/Coolers:** Adjust room temperature.</a:t>
            </a:r>
          </a:p>
          <a:p/>
          <a:p>
            <a:r>
              <a:rPr sz="1400">
                <a:latin typeface="DejaVu Sans"/>
              </a:rPr>
              <a:t>Many IoT devices combine both sensing and actuating capabilities, allowing them to perceive their environment and respond accordingly.</a:t>
            </a:r>
          </a:p>
          <a:p/>
          <a:p>
            <a:r>
              <a:rPr sz="1400">
                <a:latin typeface="DejaVu Sans"/>
              </a:rPr>
              <a:t>### 2. Connectivity (Network Layer)</a:t>
            </a:r>
          </a:p>
          <a:p>
            <a:r>
              <a:rPr sz="1400">
                <a:latin typeface="DejaVu Sans"/>
              </a:rPr>
              <a:t>Once data is collected by sensors, or commands need to be sent to actuators, a robust communication infrastructure is essential. This is the connectivity or network layer, responsible for transmitting data between the "Things" and other parts of the IoT system. Various technologies and protocols are used, depending on factors like range, power consumption, data rate, and cost.</a:t>
            </a:r>
          </a:p>
          <a:p/>
          <a:p>
            <a:r>
              <a:rPr sz="1400">
                <a:latin typeface="DejaVu Sans"/>
              </a:rPr>
              <a:t>Common connectivity options include:</a:t>
            </a:r>
          </a:p>
          <a:p>
            <a:r>
              <a:rPr sz="1400">
                <a:latin typeface="DejaVu Sans"/>
              </a:rPr>
              <a:t>*   **Short-Range Wireless:**</a:t>
            </a:r>
          </a:p>
          <a:p>
            <a:r>
              <a:rPr sz="1400">
                <a:latin typeface="DejaVu Sans"/>
              </a:rPr>
              <a:t>    *   **Wi-Fi:** High bandwidth, suitable for local networks (e.g., smart homes).</a:t>
            </a:r>
          </a:p>
          <a:p>
            <a:r>
              <a:rPr sz="1400">
                <a:latin typeface="DejaVu Sans"/>
              </a:rPr>
              <a:t>    *   **Bluetooth/BLE (Bluetooth Low Energy):** Low power, short-range, ideal for wearables and personal devices.</a:t>
            </a:r>
          </a:p>
          <a:p>
            <a:r>
              <a:rPr sz="1400">
                <a:latin typeface="DejaVu Sans"/>
              </a:rPr>
              <a:t>    *   **Zigbee/Z-Wave:** Low power, mesh networking, popular for home automation.</a:t>
            </a:r>
          </a:p>
          <a:p>
            <a:r>
              <a:rPr sz="1400">
                <a:latin typeface="DejaVu Sans"/>
              </a:rPr>
              <a:t>*   **Long-Range Wireless:**</a:t>
            </a:r>
          </a:p>
          <a:p>
            <a:r>
              <a:rPr sz="1400">
                <a:latin typeface="DejaVu Sans"/>
              </a:rPr>
              <a:t>    *   **Cellular (2G/3G/4G/5G):** Wide coverage, high data rates, suitable for mobile IoT devices (e.g., connected cars).</a:t>
            </a:r>
          </a:p>
          <a:p>
            <a:r>
              <a:rPr sz="1400">
                <a:latin typeface="DejaVu Sans"/>
              </a:rPr>
              <a:t>    *   **LPWAN (Low-Power Wide-Area Networks):** Designed for long-range, low-power, low-data-rate applications (e.g., LoRaWAN, NB-IoT, Sigfox) – ideal for smart cities, agriculture.</a:t>
            </a:r>
          </a:p>
          <a:p>
            <a:r>
              <a:rPr sz="1400">
                <a:latin typeface="DejaVu Sans"/>
              </a:rPr>
              <a:t>*   **Wired:** Ethernet (less common for edge devices but used for gateways).</a:t>
            </a:r>
          </a:p>
          <a:p/>
          <a:p>
            <a:r>
              <a:rPr sz="1400">
                <a:latin typeface="DejaVu Sans"/>
              </a:rPr>
              <a:t>Key communication protocols at this layer include MQTT (Message Queuing Telemetry Transport), CoAP (Constrained Application Protocol), and HTTP/HTTPS, which facilitate efficient and secure data exchange.</a:t>
            </a:r>
          </a:p>
          <a:p/>
          <a:p>
            <a:r>
              <a:rPr sz="1400">
                <a:latin typeface="DejaVu Sans"/>
              </a:rPr>
              <a:t>### 3. Data Processing (Edge &amp; Cloud)</a:t>
            </a:r>
          </a:p>
          <a:p>
            <a:r>
              <a:rPr sz="1400">
                <a:latin typeface="DejaVu Sans"/>
              </a:rPr>
              <a:t>Raw data from sensors is often voluminous and not immediately useful. It needs to be processed, analyzed, and stored. This processing can occur at different points in the system:</a:t>
            </a:r>
          </a:p>
          <a:p/>
          <a:p>
            <a:r>
              <a:rPr sz="1400">
                <a:latin typeface="DejaVu Sans"/>
              </a:rPr>
              <a:t>*   **Edge Computing (Fog Computing):** This involves processing data closer to the source, at the "edge" of the network (e.g., on the device itself, a local gateway, or a micro-server). Benefits include:</a:t>
            </a:r>
          </a:p>
          <a:p>
            <a:r>
              <a:rPr sz="1400">
                <a:latin typeface="DejaVu Sans"/>
              </a:rPr>
              <a:t>    *   **Reduced Latency:** Faster response times for critical applications (e.g., autonomous vehicles).</a:t>
            </a:r>
          </a:p>
          <a:p>
            <a:r>
              <a:rPr sz="1400">
                <a:latin typeface="DejaVu Sans"/>
              </a:rPr>
              <a:t>    *   **Reduced Bandwidth Usage:** Only processed or aggregated data is sent to the cloud, saving network resources.</a:t>
            </a:r>
          </a:p>
          <a:p>
            <a:r>
              <a:rPr sz="1400">
                <a:latin typeface="DejaVu Sans"/>
              </a:rPr>
              <a:t>    *   **Enhanced Security &amp; Privacy:** Sensitive data can be processed locally without being transmitted.</a:t>
            </a:r>
          </a:p>
          <a:p>
            <a:r>
              <a:rPr sz="1400">
                <a:latin typeface="DejaVu Sans"/>
              </a:rPr>
              <a:t>    *   **Offline Operation:** Devices can function even without continuous cloud connectivity.</a:t>
            </a:r>
          </a:p>
          <a:p>
            <a:r>
              <a:rPr sz="1400">
                <a:latin typeface="DejaVu Sans"/>
              </a:rPr>
              <a:t>    *   Examples: Filtering irrelevant data, aggregating sensor readings, performing real-time analytics for immediate action.</a:t>
            </a:r>
          </a:p>
          <a:p>
            <a:r>
              <a:rPr sz="1400">
                <a:latin typeface="DejaVu Sans"/>
              </a:rPr>
              <a:t>*   **Cloud Computing/Data Centers:** For more extensive storage, complex analytics, machine learning, and long-term data retention, data is typically sent to centralized cloud platforms (e.g., AWS IoT, Azure IoT, Google Cloud IoT). The cloud offers:</a:t>
            </a:r>
          </a:p>
          <a:p>
            <a:r>
              <a:rPr sz="1400">
                <a:latin typeface="DejaVu Sans"/>
              </a:rPr>
              <a:t>    *   **Scalability:** Easily handle vast amounts of data and a large number of devices.</a:t>
            </a:r>
          </a:p>
          <a:p>
            <a:r>
              <a:rPr sz="1400">
                <a:latin typeface="DejaVu Sans"/>
              </a:rPr>
              <a:t>    *   **Powerful Analytics:** Run sophisticated algorithms, AI, and machine learning models to extract deep insights.</a:t>
            </a:r>
          </a:p>
          <a:p>
            <a:r>
              <a:rPr sz="1400">
                <a:latin typeface="DejaVu Sans"/>
              </a:rPr>
              <a:t>    *   **Centralized Management:** Manage devices, users, and applications from a single platform.</a:t>
            </a:r>
          </a:p>
          <a:p>
            <a:r>
              <a:rPr sz="1400">
                <a:latin typeface="DejaVu Sans"/>
              </a:rPr>
              <a:t>    *   **Data Storage:** Store historical data for trend analysis and compliance.</a:t>
            </a:r>
          </a:p>
          <a:p/>
          <a:p>
            <a:r>
              <a:rPr sz="1400">
                <a:latin typeface="DejaVu Sans"/>
              </a:rPr>
              <a:t>### 4. User Interface &amp; Applications</a:t>
            </a:r>
          </a:p>
          <a:p>
            <a:r>
              <a:rPr sz="1400">
                <a:latin typeface="DejaVu Sans"/>
              </a:rPr>
              <a:t>This is the layer where users interact with the IoT system. It includes the software applications that allow users to monitor, control, and manage their IoT devices and access the insights derived from the collected data.</a:t>
            </a:r>
          </a:p>
          <a:p/>
          <a:p>
            <a:r>
              <a:rPr sz="1400">
                <a:latin typeface="DejaVu Sans"/>
              </a:rPr>
              <a:t>*   **Mobile Applications:** Smartphone or tablet apps provide intuitive dashboards for controlling smart home devices, tracking assets, or monitoring health.</a:t>
            </a:r>
          </a:p>
          <a:p>
            <a:r>
              <a:rPr sz="1400">
                <a:latin typeface="DejaVu Sans"/>
              </a:rPr>
              <a:t>*   **Web Dashboards:** Browser-based interfaces offer comprehensive views, data visualization, reporting, and administrative controls, often used in industrial or enterprise IoT solutions.</a:t>
            </a:r>
          </a:p>
          <a:p>
            <a:r>
              <a:rPr sz="1400">
                <a:latin typeface="DejaVu Sans"/>
              </a:rPr>
              <a:t>*   **APIs (Application Programming Interfaces):** Allow different software systems to communicate and integrate with the IoT platform, enabling third-party applications or services to leverage IoT data and functionality.</a:t>
            </a:r>
          </a:p>
          <a:p/>
          <a:p>
            <a:r>
              <a:rPr sz="1400">
                <a:latin typeface="DejaVu Sans"/>
              </a:rPr>
              <a:t>This layer translates complex data into actionable information and provides the means for users to influence the physical world through actuators.</a:t>
            </a:r>
          </a:p>
          <a:p/>
          <a:p>
            <a:r>
              <a:rPr sz="1400">
                <a:latin typeface="DejaVu Sans"/>
              </a:rPr>
              <a:t>### 5. Security (An Overarching Concern)</a:t>
            </a:r>
          </a:p>
          <a:p>
            <a:r>
              <a:rPr sz="1400">
                <a:latin typeface="DejaVu Sans"/>
              </a:rPr>
              <a:t>Security is not a single component but a critical, cross-cutting concern that must be integrated into every layer of an IoT system. Given the vast number of connected devices and the sensitive nature of the data they handle, robust security measures are paramount. Key aspects include:</a:t>
            </a:r>
          </a:p>
          <a:p>
            <a:r>
              <a:rPr sz="1400">
                <a:latin typeface="DejaVu Sans"/>
              </a:rPr>
              <a:t>*   **Device Security:** Secure boot, hardware-level encryption, secure firmware updates, authentication mechanisms for devices.</a:t>
            </a:r>
          </a:p>
          <a:p>
            <a:r>
              <a:rPr sz="1400">
                <a:latin typeface="DejaVu Sans"/>
              </a:rPr>
              <a:t>*   **Network Security:** Encryption of data in transit (TLS/SSL), secure communication protocols, firewalls, intrusion detection systems.</a:t>
            </a:r>
          </a:p>
          <a:p>
            <a:r>
              <a:rPr sz="1400">
                <a:latin typeface="DejaVu Sans"/>
              </a:rPr>
              <a:t>*   **Cloud Security:** Access control, data encryption at rest and in transit, regular security audits, compliance with industry standards.</a:t>
            </a:r>
          </a:p>
          <a:p>
            <a:r>
              <a:rPr sz="1400">
                <a:latin typeface="DejaVu Sans"/>
              </a:rPr>
              <a:t>*   **Application Security:** Secure coding practices, user authentication and authorization, API security.</a:t>
            </a:r>
          </a:p>
          <a:p>
            <a:r>
              <a:rPr sz="1400">
                <a:latin typeface="DejaVu Sans"/>
              </a:rPr>
              <a:t>*   **Privacy:** Ensuring data collection and usage comply with privacy regulations (e.g., GDPR) and user consent.</a:t>
            </a:r>
          </a:p>
          <a:p/>
          <a:p>
            <a:r>
              <a:rPr sz="1400">
                <a:latin typeface="DejaVu Sans"/>
              </a:rPr>
              <a:t>### IoT System Architecture: A Layered View</a:t>
            </a:r>
          </a:p>
          <a:p>
            <a:r>
              <a:rPr sz="1400">
                <a:latin typeface="DejaVu Sans"/>
              </a:rPr>
              <a:t>While the components are distinct, they work together in a layered architecture. A common conceptual model often includes:</a:t>
            </a:r>
          </a:p>
          <a:p/>
          <a:p>
            <a:r>
              <a:rPr sz="1400">
                <a:latin typeface="DejaVu Sans"/>
              </a:rPr>
              <a:t>1.  **Perception Layer (Things Layer):** This is the physical layer, comprising sensors and actuators that collect data from the environment and perform actions. It's about sensing the physical world and acting upon it.</a:t>
            </a:r>
          </a:p>
          <a:p>
            <a:r>
              <a:rPr sz="1400">
                <a:latin typeface="DejaVu Sans"/>
              </a:rPr>
              <a:t>2.  **Network Layer:** Responsible for connecting the "Things" to the processing layers. This includes various communication technologies (Wi-Fi, Cellular, LPWAN) and protocols (MQTT, CoAP) that ensure reliable and secure data transmission.</a:t>
            </a:r>
          </a:p>
          <a:p>
            <a:r>
              <a:rPr sz="1400">
                <a:latin typeface="DejaVu Sans"/>
              </a:rPr>
              <a:t>3.  **Middleware/Processing Layer:** This layer handles data aggregation, filtering, processing, and storage. It encompasses both edge computing (for local, real-time processing) and cloud computing (for large-scale storage, advanced analytics, and machine learning). It acts as the bridge between raw data and meaningful information.</a:t>
            </a:r>
          </a:p>
          <a:p>
            <a:r>
              <a:rPr sz="1400">
                <a:latin typeface="DejaVu Sans"/>
              </a:rPr>
              <a:t>4.  **Application Layer:** This is where the IoT system delivers its services to users. It includes the user interfaces (mobile apps, web dashboards) and business logic that enable monitoring, control, and data visualization. This layer translates processed data into actionable insights and allows users to interact with the system.</a:t>
            </a:r>
          </a:p>
          <a:p/>
          <a:p>
            <a:r>
              <a:rPr sz="1400">
                <a:latin typeface="DejaVu Sans"/>
              </a:rPr>
              <a:t>Some models also include a "Business Layer" above the Application Layer, focusing on the business processes, analytics, and decision-making that leverage the IoT data to achieve specific organizational goals.</a:t>
            </a:r>
          </a:p>
          <a:p/>
          <a:p>
            <a:r>
              <a:rPr sz="1400">
                <a:latin typeface="DejaVu Sans"/>
              </a:rPr>
              <a:t>### Conclusion</a:t>
            </a:r>
          </a:p>
          <a:p>
            <a:r>
              <a:rPr sz="1400">
                <a:latin typeface="DejaVu Sans"/>
              </a:rPr>
              <a:t>In summary, an IoT system is a complex interplay of various components, each playing a vital role. From the physical "Things" (sensors and actuators) that interact with the environment, through the connectivity layer that transmits data, to the processing layers (edge and cloud) that transform raw data into intelligence, and finally to the application layer that provides user interaction – every part is essential. Furthermore, robust security measures must be woven throughout the entire architecture to protect data and ensure system integrity. Understanding this comprehensive architecture is the first step towards building innovative and secure IoT solutions that truly connect our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Benefits and Challenges of IoT</a:t>
            </a:r>
          </a:p>
        </p:txBody>
      </p:sp>
      <p:sp>
        <p:nvSpPr>
          <p:cNvPr id="3" name="Content Placeholder 2"/>
          <p:cNvSpPr>
            <a:spLocks noGrp="1"/>
          </p:cNvSpPr>
          <p:nvPr>
            <p:ph idx="1"/>
          </p:nvPr>
        </p:nvSpPr>
        <p:spPr/>
        <p:txBody>
          <a:bodyPr wrap="square"/>
          <a:lstStyle/>
          <a:p>
            <a:r>
              <a:rPr sz="1400">
                <a:latin typeface="DejaVu Sans"/>
              </a:rPr>
              <a:t>Welcome to Lesson 1.4: Benefits and Challenges of IoT. In our previous lessons, we've explored what the Internet of Things is and its fundamental components. Now, let's delve into the practical implications of this transformative technology by examining its advantages and the hurdles it faces.Understanding both the upsides and the downsides is crucial for anyone looking to implement, develop, or simply comprehend IoT's impact on our world. We'll cover how IoT enhances efficiency, improves decision-making, and creates new opportunities, while also addressing critical issues like security, privacy, and complexity.Introduction to Benefits and Challenges of IoTThe Internet of Things (IoT) promises a future where everyday objects are interconnected, intelligent, and responsive, leading to unprecedented levels of automation and data insights. However, like any powerful technology, it comes with its own set of complexities and risks. A balanced perspective is essential to harness its potential effectively and mitigate its drawbacks.Core Concepts: Benefits of IoT1.  Enhanced Efficiency and Automation:One of the most significant benefits of IoT is its ability to automate processes and optimize resource utilization. By connecting devices and systems, IoT enables them to communicate and act autonomously, reducing manual intervention and human error.    *   **Smart Homes**: Thermostats adjust based on occupancy, lighting adapts to natural light, and appliances can be controlled remotely, leading to energy savings and convenience.    *   **Industrial IoT (IIoT)**: Sensors on machinery monitor performance, predict maintenance needs, and optimize production lines, leading to increased uptime and reduced operational costs. For example, a smart factory can automatically reorder raw materials when stock runs low, or adjust machine speeds based on real-time demand.2.  Improved Decision Making:IoT devices generate vast amounts of data. When analyzed, this data provides actionable insights that empower better, more informed decision-making across various sectors.    *   **Predictive Analytics**: In agriculture, soil sensors provide data on moisture and nutrient levels, allowing farmers to optimize irrigation and fertilization, leading to higher yields and less waste.    *   **Healthcare**: Wearable devices monitor vital signs, providing doctors with continuous patient data, enabling early detection of health issues and personalized treatment plans. For instance, an elderly patient's fall detection sensor can alert caregivers immediately.3.  New Business Opportunities and Revenue Streams:IoT fosters innovation, leading to the creation of new products, services, and business models. Companies can offer subscription-based services, data analytics, or personalized experiences.    *   **Smart City Solutions**: Companies develop traffic management systems, smart parking solutions, or waste management services that improve urban living and generate revenue for municipalities.    *   **Product-as-a-Service**: Manufacturers can shift from selling products to selling outcomes. For example, an engine manufacturer might sell 'hours of uptime' rather than the engine itself, taking responsibility for maintenance and performance.4.  Enhanced Safety and Security:IoT can significantly improve safety in various environments by providing real-time monitoring and alerts.    *   **Workplace Safety**: Sensors can detect hazardous conditions (e.g., gas leaks, high temperatures) or monitor worker location in dangerous environments, triggering alarms or automatic shutdowns.    *   **Smart Cities**: Connected surveillance cameras, smart streetlights, and emergency response systems can enhance public safety and aid in disaster management.5.  Convenience and Quality of Life:For individuals, IoT brings unparalleled convenience and comfort, simplifying daily tasks and improving overall well-being.    *   **Wearable Technology**: Smartwatches track fitness, sleep patterns, and provide notifications, helping users maintain a healthier lifestyle.    *   **Smart Appliances**: Refrigerators that track inventory and suggest recipes, or washing machines that optimize cycles based on load size, simplify household chores.Core Concepts: Challenges of IoT1.  Security and Privacy Concerns:This is arguably the most significant challenge. The vast network of interconnected devices creates numerous entry points for cyberattacks, and the collection of personal data raises serious privacy issues.    *   **Data Breaches**: A compromised smart home device could be a gateway for hackers to access personal networks and sensitive information.    *   **Surveillance**: The continuous collection of data, even for benign purposes, can lead to concerns about constant monitoring and the potential misuse of personal information by corporations or governments.2.  Complexity and Interoperability:The IoT ecosystem is incredibly diverse, with countless devices, platforms, and communication protocols. This fragmentation leads to significant challenges in ensuring devices can communicate and work together seamlessly.    *   **Lack of Standards**: Different manufacturers use different standards, making it difficult to integrate devices from various vendors into a single, cohesive system.    *   **System Integration**: Building and managing complex IoT solutions requires expertise in hardware, software, networking, and data analytics, making deployment challenging.3.  Data Management and Storage:IoT devices generate an unprecedented volume, velocity, and variety of data. Managing, storing, processing, and analyzing this 'big data' effectively is a major hurdle.    *   **Storage Costs**: Storing petabytes of data from millions of sensors can be prohibitively expensive.    *   **Data Processing**: Extracting meaningful insights from raw, unstructured IoT data requires sophisticated analytics tools and significant computational power.4.  Cost and Scalability:While the long-term benefits can be substantial, the initial investment in IoT infrastructure, devices, and software can be very high. Scaling these solutions to cover large areas or millions of devices also presents technical and financial challenges.    *   **Initial Investment**: Deploying a smart city infrastructure or equipping an entire factory with IoT sensors requires significant upfront capital.    *   **Maintenance**: Ongoing maintenance, software updates, and security patches for a large number of devices can be complex and costly.5.  Ethical Concerns:Beyond privacy, IoT raises broader ethical questions about job displacement, algorithmic bias, and the potential for misuse of technology.    *   **Job Displacement**: Automation driven by IoT could lead to job losses in sectors where tasks are repetitive and can be performed by machines.    *   **Algorithmic Bias**: If the data used to train IoT algorithms is biased, the decisions made by these systems could perpetuate or even amplify existing societal inequalities.6.  Power Consumption:Many IoT devices, especially those deployed in remote locations or wearables, rely on batteries. Ensuring long battery life while maintaining connectivity and processing capabilities is a constant design challenge.    *   **Battery Life**: Frequent battery replacement or recharging can be impractical for large-scale deployments, especially for devices in hard-to-reach areas.Conclusion and SummaryThe Internet of Things is a double-edged sword. Its potential to revolutionize industries, enhance daily life, and drive efficiency is immense, offering benefits ranging from smart homes and cities to advanced healthcare and industrial automation. However, realizing this potential requires careful navigation of significant challenges.Security and privacy concerns demand robust solutions and ethical frameworks. The complexity of integrating diverse systems necessitates standardization and interoperability. Managing the deluge of data, addressing high costs, and mitigating ethical dilemmas are ongoing tasks for developers, policymakers, and users alike.As IoT continues to evolve, the focus will increasingly be on developing secure, interoperable, and ethically sound solutions that maximize its benefits while minimizing its risks. Understanding both the bright promise and the inherent difficulties is key to shaping a future where IoT truly serves humanity.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Real-world Applications of IoT</a:t>
            </a:r>
          </a:p>
        </p:txBody>
      </p:sp>
      <p:sp>
        <p:nvSpPr>
          <p:cNvPr id="3" name="Content Placeholder 2"/>
          <p:cNvSpPr>
            <a:spLocks noGrp="1"/>
          </p:cNvSpPr>
          <p:nvPr>
            <p:ph idx="1"/>
          </p:nvPr>
        </p:nvSpPr>
        <p:spPr/>
        <p:txBody>
          <a:bodyPr wrap="square"/>
          <a:lstStyle/>
          <a:p>
            <a:r>
              <a:rPr sz="1400">
                <a:latin typeface="DejaVu Sans"/>
              </a:rPr>
              <a:t>Welcome to Lesson 1.5: Real-world Applications of IoT. In our previous lessons, we've explored the fundamental concepts and architecture of the Internet of Things. Now, it's time to see how these concepts translate into tangible solutions that are transforming industries and daily life across the globe. The power of IoT lies in its ability to connect physical objects, collect data, and enable intelligent decision-making, leading to unprecedented levels of efficiency, convenience, and innovation. This lesson will delve into various sectors where IoT is making a significant impact, providing concrete examples to illustrate its versatility and potential.Let's explore some of the most prominent real-world applications of IoT:1. Smart Homes: Perhaps the most familiar application for many, smart homes leverage IoT to enhance comfort, security, and energy efficiency.Examples:    *   Smart Lighting Systems: Control lights remotely, schedule on/off times, or adjust brightness based on occupancy or natural light.    *   Smart Thermostats: Learn your preferences and optimize heating and cooling to save energy, often controllable via smartphone.    *   Smart Security Systems: Include connected cameras, door/window sensors, and smart locks that can be monitored and controlled from anywhere.    *   Voice Assistants: Devices like Amazon Echo or Google Home integrate with various smart home devices, offering voice control over lighting, music, and more.2. Smart Cities: IoT is a cornerstone of smart city initiatives, aiming to improve urban living through better infrastructure management, public services, and environmental sustainability.Examples:    *   Smart Traffic Management: Sensors monitor traffic flow, adjusting signal timings in real-time to reduce congestion.    *   Smart Waste Management: Sensors in bins notify waste collection services when they are full, optimizing collection routes and reducing costs.    *   Environmental Monitoring: Sensors track air quality, noise levels, and water quality, providing data for urban planning and public health.    *   Smart Public Lighting: Streetlights that adjust brightness based on ambient light or pedestrian presence, saving energy.3. Healthcare (Internet of Medical Things - IoMT): IoT is revolutionizing healthcare by enabling remote monitoring, improving patient care, and optimizing hospital operations.Examples:    *   Remote Patient Monitoring (RPM): Wearable devices and home sensors track vital signs (heart rate, blood pressure, glucose levels) for chronic disease management or post-operative care, alerting healthcare providers to anomalies.    *   Smart Hospitals: Asset tracking for medical equipment, intelligent inventory management for pharmaceuticals, and patient flow optimization.    *   Wearable Health Trackers: Fitness bands and smartwatches that monitor activity, sleep patterns, and heart rate, promoting preventive health.4. Agriculture (Smart Farming): IoT brings precision and efficiency to agriculture, helping farmers optimize crop yields, conserve resources, and manage livestock.Examples:    *   Precision Agriculture: Sensors monitor soil moisture, nutrient levels, and temperature, allowing for precise irrigation and fertilization.    *   Livestock Monitoring: Wearable sensors on animals track their health, location, and reproductive cycles, improving animal welfare and farm productivity.    *   Automated Irrigation Systems: Systems that automatically water crops based on real-time weather data and soil conditions.    *   Drone-based Crop Monitoring: Drones equipped with sensors provide aerial views of fields, identifying areas needing attention.5. Industrial IoT (IIoT): IIoT focuses on enhancing operational efficiency, safety, and productivity in industrial settings like manufacturing, energy, and logistics.Examples:    *   Predictive Maintenance: Sensors on machinery monitor performance and predict potential failures, allowing for proactive maintenance and reducing downtime.    *   Asset Tracking: RFID tags and GPS trackers monitor the location and status of equipment, tools, and inventory within a factory or supply chain.    *   Supply Chain Management: Real-time tracking of goods, environmental conditions (temperature, humidity) during transit, ensuring product quality and timely delivery.    *   Quality Control: IoT sensors can detect defects in manufacturing processes early, improving product quality and reducing waste.6. Retail: IoT is transforming the retail experience for both customers and businesses, from inventory management to personalized shopping.Examples:    *   Smart Shelves: Sensors on shelves monitor inventory levels, automatically reordering popular items and alerting staff to misplaced products.    *   Personalized Shopping Experiences: Beacons in stores can send personalized offers and product information to customers' smartphones based on their location and preferences.    *   Queue Management: Sensors monitor customer traffic, helping stores optimize staffing levels and reduce wait times.7. Automotive (Connected Cars): IoT is at the heart of the connected car revolution, enhancing safety, convenience, and vehicle performance.Examples:    *   Autonomous Driving: IoT sensors, cameras, and radar systems provide real-time data for self-driving capabilities.    *   Vehicle-to-Everything (V2X) Communication: Cars communicate with other vehicles (V2V), infrastructure (V2I), and pedestrians (V2P) to improve safety and traffic flow.    *   Infotainment Systems: Connected systems provide navigation, entertainment, and internet access.    *   Predictive Maintenance: Sensors monitor engine performance and other vehicle components, alerting drivers to potential issues before they become critical.Conclusion:The applications of IoT are vast and continue to expand as technology evolves and new needs emerge. From making our homes smarter and cities more efficient to revolutionizing healthcare, agriculture, and industry, IoT is fundamentally changing how we interact with the world around us. It's not just about connecting devices; it's about creating intelligent ecosystems that generate valuable data, automate processes, and ultimately improve our quality of life and operational efficiency. Understanding these real-world applications is crucial for grasping the true potential and impact of the Internet of Things.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IoT Devices and Hardware</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Introduction to IoT Sensors and Actuators</a:t>
            </a:r>
          </a:p>
        </p:txBody>
      </p:sp>
      <p:sp>
        <p:nvSpPr>
          <p:cNvPr id="3" name="Content Placeholder 2"/>
          <p:cNvSpPr>
            <a:spLocks noGrp="1"/>
          </p:cNvSpPr>
          <p:nvPr>
            <p:ph idx="1"/>
          </p:nvPr>
        </p:nvSpPr>
        <p:spPr/>
        <p:txBody>
          <a:bodyPr wrap="square"/>
          <a:lstStyle/>
          <a:p>
            <a:r>
              <a:rPr sz="1400">
                <a:latin typeface="DejaVu Sans"/>
              </a:rPr>
              <a:t>Welcome to Lesson 2.1: Introduction to IoT Sensors and Actuators. In the vast and interconnected world of the Internet of Things (IoT), devices communicate and interact to create intelligent environments. At the heart of this interaction are two fundamental components: sensors and actuators. Think of sensors as the 'eyes and ears' of an IoT system, gathering data from the physical world, and actuators as the 'hands and feet,' performing actions based on that data. Together, they form the crucial interface between the digital realm of information and the physical world of objects and events. This lesson will delve into what sensors and actuators are, how they work, and their indispensable role in building smart, responsive IoT solutions. What are Sensors? A sensor is a device that detects and responds to some type of input from the physical environment. The specific input could be light, heat, motion, moisture, pressure, or any one of a great number of other environmental phenomena. The sensor's purpose is to convert these physical parameters into electrical signals that can be read and processed by an electronic system, such as a microcontroller or an IoT gateway. Without sensors, an IoT device would be blind and deaf to its surroundings. Types of Sensors and Their IoT Applications: Let's explore some common types of sensors used in IoT: 1. Temperature Sensors: These measure heat or cold. Examples include thermistors (for general temperature sensing in smart homes, HVAC), thermocouples (for high-temperature industrial applications), and infrared thermometers (for non-contact temperature measurement). 2. Humidity Sensors: They detect the amount of water vapor in the air. Used in smart agriculture (soil moisture), weather stations, and climate control systems. 3. Light Sensors (Photoresistors/Photodiodes): Measure ambient light levels. Essential for smart lighting systems (turning lights on/off based on daylight), security systems, and display brightness adjustment. 4. Proximity Sensors: Detect the presence or absence of an object without physical contact. Ultrasonic sensors (parking assistance, obstacle detection), infrared (IR) sensors (automatic faucets, hand dryers), and capacitive sensors (touchscreens, liquid level detection) are common. 5. Motion Sensors: Detect movement. Passive Infrared (PIR) sensors are widely used in security systems and automatic lighting. Accelerometers and gyroscopes detect orientation and movement in wearables and smart devices. 6. Pressure Sensors: Measure force applied over an area. Used in smart tires, industrial process control, and medical devices. 7. Gas Sensors: Detect the presence and concentration of various gases (e.g., CO, CO2, methane, LPG). Crucial for air quality monitoring, industrial safety, and smart home safety systems. 8. GPS Modules: Provide location data, vital for asset tracking, fleet management, and navigation in smart cities. 9. Biometric Sensors: Fingerprint scanners, heart rate monitors, and glucose sensors are examples used in healthcare IoT and personal security. What are Actuators? An actuator is a device that takes an electrical signal from a control system and converts it into a physical action or motion. While sensors gather data, actuators perform the actual work, enabling an IoT system to interact with and change its physical environment. They are the 'doers' of the IoT world. Types of Actuators and Their IoT Applications: Here are some common types of actuators: 1. Motors: Convert electrical energy into mechanical motion. DC motors (robotics, automated blinds), stepper motors (precision positioning in 3D printers, surveillance cameras), and servo motors (robotics, automated valves) are frequently used. 2. Relays: Electrically operated switches that can turn circuits on or off. Used to control high-power devices (e.g., home appliances, industrial machinery) with low-power signals from a microcontroller. 3. LEDs (Light Emitting Diodes) and Lights: Provide visual feedback or illumination. Smart lighting systems use LEDs for energy efficiency and color control. 4. Buzzers and Speakers: Produce sound. Used for alarms, notifications, and audio feedback in smart devices. 5. Heaters and Coolers: Control temperature. Found in smart thermostats, industrial climate control, and smart refrigerators. 6. Valves: Control the flow of liquids or gases. Essential in smart irrigation systems, industrial process control, and smart water management. 7. Pumps: Move fluids. Used in smart irrigation, chemical dosing, and water treatment systems. The Sensor-Actuator Loop in IoT: The true power of IoT emerges when sensors and actuators work in tandem, forming a closed-loop system. This loop typically involves: 1. Sensing: Sensors collect data from the environment (e.g., temperature, light level). 2. Processing: This data is sent to an IoT gateway or cloud platform, where it is analyzed and processed according to predefined rules or algorithms. 3. Acting: Based on the processed data and rules, a command is sent to an actuator. 4. Effecting Change: The actuator performs a physical action in response to the command. Example: A Smart Thermostat. A temperature sensor detects the room temperature. If the temperature falls below a set threshold, the IoT system processes this data and sends a command to an actuator (e.g., a relay connected to a heater or an HVAC system). The heater then turns on, raising the room temperature. Once the desired temperature is reached, the sensor detects it, and the system commands the actuator to turn the heater off. This continuous feedback loop allows for intelligent and autonomous control of the environment. In summary, sensors and actuators are the foundational components that bridge the gap between the physical and digital worlds in the Internet of Things. Sensors provide the crucial data that allows IoT systems to understand their environment, while actuators enable these systems to respond and interact with that environment. Understanding their diverse types, functionalities, and how they work together in a feedback loop is essential for designing, developing, and deploying effective and intelligent IoT solutions. As you continue your journey into IoT, you'll find these components at the core of every smart device and system, making our world more connected and responsive.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Microcontrollers and Microprocessors for IoT</a:t>
            </a:r>
          </a:p>
        </p:txBody>
      </p:sp>
      <p:sp>
        <p:nvSpPr>
          <p:cNvPr id="3" name="Content Placeholder 2"/>
          <p:cNvSpPr>
            <a:spLocks noGrp="1"/>
          </p:cNvSpPr>
          <p:nvPr>
            <p:ph idx="1"/>
          </p:nvPr>
        </p:nvSpPr>
        <p:spPr/>
        <p:txBody>
          <a:bodyPr wrap="square"/>
          <a:lstStyle/>
          <a:p>
            <a:r>
              <a:rPr sz="1400">
                <a:latin typeface="DejaVu Sans"/>
              </a:rPr>
              <a:t>2.2: Microcontrollers and Microprocessors for IoT\n\nIntroduction\nWelcome to Lesson 2.2, where we delve into the 'brains' behind every Internet of Things (IoT) device: microcontrollers and microprocessors. These tiny yet powerful computing units are fundamental to how IoT devices sense, process, and act upon data from the physical world. Understanding their differences, capabilities, and appropriate applications is crucial for anyone looking to design or implement IoT solutions. By the end of this lesson, you will be able to distinguish between microcontrollers and microprocessors, understand their respective roles in the IoT ecosystem, and appreciate why choosing the right one is vital for successful IoT deployment.\n\nWhat is a Microcontroller (MCU)?\nA microcontroller (MCU) is a compact integrated circuit designed to govern a specific operation in an embedded system. Think of it as a small, self-contained computer on a single chip. It typically includes a central processing unit (CPU), a small amount of memory (RAM, ROM, or Flash), and programmable input/output (I/O) peripherals, all integrated into one package. This 'all-in-one' design makes MCUs highly efficient for dedicated tasks.\n\nKey Characteristics of MCUs:\n-   **Integration**: CPU, memory, and I/O peripherals are on a single chip.\n-   **Low Power Consumption**: Designed for energy efficiency, making them ideal for battery-powered IoT devices.\n-   **Cost-Effective**: Generally inexpensive, especially for mass production.\n-   **Real-time Operation**: Excellent for tasks requiring precise timing and immediate responses.\n-   **Simpler Operating Systems**: Often run bare-metal code or a Real-Time Operating System (RTOS), not a full-fledged general-purpose OS.\n-   **Limited Resources**: Smaller memory and processing power compared to microprocessors.\n\nExamples of MCUs for IoT:\n-   **Arduino Boards (e.g., Uno, Nano)**: Popular for hobbyists and rapid prototyping, often using Atmel AVR or ARM Cortex-M microcontrollers.\n-   **ESP32/ESP8266**: Highly popular for IoT due to integrated Wi-Fi and Bluetooth, low cost, and good processing power for their class.\n-   **PIC Microcontrollers**: Widely used in industrial and automotive applications.\n-   **STM32 Series**: ARM Cortex-M based microcontrollers offering a wide range of performance and peripherals.\n\nTypical IoT Applications for MCUs:\n-   **Sensor Nodes**: Collecting data from temperature, humidity, light, or motion sensors.\n-   **Actuators**: Controlling motors, relays, or LEDs in smart home devices.\n-   **Wearable Devices**: Fitness trackers, smartwatches.\n-   **Smart Appliances**: Basic control logic in refrigerators, washing machines.\n-   **Environmental Monitoring**: Simple data logging and transmission.\n\nWhat is a Microprocessor (MPU)?\nA microprocessor (MPU) is the core component of a computer system, acting as its central processing unit (CPU). Unlike a microcontroller, an MPU typically contains only the CPU on the chip. It requires external components like RAM, ROM, and I/O controllers to function as a complete system. This modular design allows for greater flexibility and scalability, making MPUs suitable for more complex, general-purpose computing tasks.\n\nKey Characteristics of MPUs:\n-   **CPU Only**: The chip primarily contains the CPU; memory and peripherals are external.\n-   **High Processing Power**: Designed for complex computations and multi-tasking.\n-   **Higher Power Consumption**: Generally requires more power than MCUs.\n-   **Higher Cost**: Typically more expensive due to their complexity and capabilities.\n-   **General-Purpose Operating Systems**: Capable of running full operating systems like Linux, Windows, or Android.\n-   **Abundant Resources**: Larger memory capacity and more powerful processing capabilities.\n\nExamples of MPUs for IoT:\n-   **Raspberry Pi (e.g., Pi 4, Zero)**: A single-board computer (SBC) that uses ARM Cortex-A microprocessors, popular for more complex IoT projects, gateways, and edge computing.\n-   **Intel Atom/Core Processors**: Used in industrial IoT gateways, embedded PCs, and more powerful edge devices.\n-   **NVIDIA Jetson Series**: Designed for AI at the edge, incorporating powerful ARM-based MPUs and GPUs.\n\nTypical IoT Applications for MPUs:\n-   **IoT Gateways**: Aggregating data from multiple sensor nodes, performing local processing, and forwarding to the cloud.\n-   **Edge Computing**: Performing complex analytics, machine learning inference, or video processing close to the data source.\n-   **Smart Home Hubs**: Managing and coordinating various smart devices.\n-   **Industrial Automation**: Complex control systems, robotics, predictive maintenance.\n-   **Advanced Robotics**: Drones, autonomous vehicles.\n\nKey Differences and Comparison\nTo summarize, here's a comparison of microcontrollers and microprocessors:\n\n| Feature             | Microcontroller (MCU)                               | Microprocessor (MPU)                                  |\n|---------------------|-----------------------------------------------------|-------------------------------------------------------|\n| **Integration**     | CPU, memory, I/O on a single chip                   | CPU only; memory and I/O are external                 |\n| **Complexity**      | Simpler, designed for specific tasks                | More complex, designed for general-purpose computing  |\n| **Power Consumption** | Low, ideal for battery-powered devices              | Higher, requires more power                           |\n| **Cost**            | Lower                                               | Higher                                                |\n| **Operating System**| Bare-metal or RTOS                                  | Full-fledged OS (Linux, Windows, Android)             |\n| **Memory**          | Limited (KB to MB)                                  | Abundant (MB to GB)                                   |\n| **Clock Speed**     | Lower (MHz range)                                   | Higher (GHz range)                                    |\n| **Typical Use**     | Embedded systems, real-time control, sensor nodes   | General computing, servers, complex edge devices, gateways |\n\nChoosing the Right One for IoT\nThe choice between an MCU and an MPU for an IoT project depends heavily on the application's requirements:\n-   **Power Consumption**: For battery-powered devices or applications requiring minimal energy, an MCU is usually preferred.\n-   **Processing Power**: If the device needs to perform complex computations, run an operating system, or handle multiple tasks simultaneously (e.g., AI inference, video analytics), an MPU is necessary.\n-   **Cost**: For high-volume, cost-sensitive devices, MCUs are generally more economical.\n-   **Connectivity**: Both can offer various connectivity options, but MPUs often provide more robust networking capabilities out-of-the-box (e.g., Ethernet, multiple Wi-Fi/Bluetooth interfaces).\n-   **Development Complexity**: MCUs often have simpler development environments, while MPUs with full OS support offer more flexibility but can have a steeper learning curve for system-level programming.\n\nConclusion\nMicrocontrollers and microprocessors are the foundational computing elements of the Internet of Things, each serving distinct but complementary roles. Microcontrollers, with their integrated design, low power consumption, and real-time capabilities, are perfect for the 'edge' of IoT – sensing, actuating, and performing dedicated tasks efficiently. Microprocessors, offering higher processing power and the ability to run complex operating systems, excel in roles requiring advanced computation, data aggregation, and gateway functionalities. Understanding these differences empowers you to make informed decisions when designing and implementing robust, efficient, and scalable IoT solutions. As the IoT landscape continues to evolve, the strategic selection of the right computing platform remains a cornerstone of successful innovation.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Common IoT Development Boards (e.g., Arduino, Raspberry Pi)</a:t>
            </a:r>
          </a:p>
        </p:txBody>
      </p:sp>
      <p:sp>
        <p:nvSpPr>
          <p:cNvPr id="3" name="Content Placeholder 2"/>
          <p:cNvSpPr>
            <a:spLocks noGrp="1"/>
          </p:cNvSpPr>
          <p:nvPr>
            <p:ph idx="1"/>
          </p:nvPr>
        </p:nvSpPr>
        <p:spPr/>
        <p:txBody>
          <a:bodyPr wrap="square"/>
          <a:lstStyle/>
          <a:p>
            <a:r>
              <a:rPr sz="1400">
                <a:latin typeface="DejaVu Sans"/>
              </a:rPr>
              <a:t>Welcome to Lesson 2.3: Common IoT Development Boards. In the realm of the Internet of Things, the choice of development board is paramount, as it dictates the capabilities, complexity, and cost of your project. These boards serve as the brain of your IoT devices, enabling them to interact with the physical world through sensors and actuators, process data, and communicate with other devices or the cloud. This lesson will introduce you to some of the most popular and widely used development boards, focusing on their features, applications, and suitability for different IoT scenarios.\n\n**What are IoT Development Boards?**\nAt their core, IoT development boards are small, often single-board computers (SBCs) or microcontrollers (MCUs) designed for rapid prototyping and deployment of electronic projects. They provide a platform with a processor, memory, input/output (I/O) pins, and often integrated connectivity options (like Wi-Fi or Bluetooth), allowing developers to easily connect components, write code, and bring their ideas to life. The diversity in these boards caters to a wide spectrum of IoT applications, from simple sensor monitoring to complex edge computing.\n\n**1. Arduino: The Gateway to Microcontrollers**\nArduino is an open-source electronics platform based on easy-to-use hardware and software. It's primarily a microcontroller-based system, meaning it's designed for specific, repetitive tasks rather than running a full operating system. Its simplicity and extensive community support make it an excellent starting point for beginners and a robust tool for many IoT applications.\n\n*   **Key Features:**\n    *   **Microcontroller-based:** Typically uses Atmel AVR microcontrollers (e.g., ATmega328P for Uno). Newer boards like the Arduino Nano 33 IoT integrate more powerful MCUs with Wi-Fi/Bluetooth.\n    *   **Simplicity:** Easy to learn and use, with a straightforward Integrated Development Environment (IDE).\n    *   **Programming Language:** Primarily C/C++ with a simplified Arduino API.\n    *   **GPIO Pins:** Numerous General Purpose Input/Output pins for connecting sensors, LEDs, motors, etc.\n    *   **Analog &amp; Digital I/O:** Supports both analog and digital signals, crucial for interfacing with various sensors.\n    *   **Low Power Consumption:** Generally consumes less power than SBCs, making it suitable for battery-powered applications.\n    *   **Cost-Effective:** Boards are relatively inexpensive.\n\n*   **Common Models:**\n    *   **Arduino Uno:** The most popular and iconic board, excellent for learning and basic projects.\n    *   **Arduino Nano:** A smaller, breadboard-friendly version of the Uno.\n    *   **Arduino Mega:** Offers more I/O pins and memory, suitable for more complex projects with many peripherals.\n    *   **Arduino MKR Series:** Designed for IoT, often including Wi-Fi, Bluetooth, or LoRa connectivity.\n\n*   **Use Cases:**\n    *   Reading sensor data (temperature, humidity, light).\n    *   Controlling actuators (LEDs, relays, small motors).\n    *   Home automation (e.g., smart lighting, automated plant watering).\n    *   Wearable technology prototypes.\n    *   Educational projects and robotics.\n\n*   **Pros:** Easy to use, large community, low cost, low power, real-time operation, robust for dedicated tasks.\n*   **Cons:** Limited processing power, no operating system, less suitable for complex data processing or network services.\n\n**2. Raspberry Pi: The Miniature Computer**\nIn contrast to Arduino, the Raspberry Pi is a series of single-board computers (SBCs). This means it's a full-fledged computer on a single circuit board, capable of running an operating system (typically a Linux distribution like Raspberry Pi OS) and performing complex computing tasks, much like a desktop PC.\n\n*   **Key Features:**\n    *   **Single-Board Computer (SBC):** Features a powerful ARM-based processor (e.g., Broadcom BCM2711 for Pi 4).\n    *   **Operating System:** Runs Linux (Raspberry Pi OS, Ubuntu, etc.), allowing for multitasking and complex software.\n    *   **Programming Languages:** Supports a wide range, including Python (very popular for RPi), C/C++, Java, Node.js, etc.\n    *   **Connectivity:** Built-in Wi-Fi, Bluetooth, Ethernet, USB ports, HDMI output.\n    *   **GPIO Pins:** Also includes GPIO pins for hardware interaction, though typically fewer than larger Arduinos.\n    *   **Processing Power:** Significantly more powerful than microcontrollers, capable of handling data processing, web servers, and even AI/ML tasks.\n    *   **Multimedia Capabilities:** Supports video output and camera modules.\n\n*   **Common Models:**\n    *   **Raspberry Pi 4 Model B:** The flagship model, offering high performance, multiple RAM options, and dual 4K display support.\n    *   **Raspberry Pi Zero W:** A smaller, lower-power, and more affordable version with Wi-Fi and Bluetooth, ideal for compact IoT devices.\n    *   **Raspberry Pi Pico:** (Note: This is a microcontroller, not an SBC, but part of the RPi ecosystem). It's a low-cost, high-performance microcontroller board with flexible digital interfaces, often programmed with MicroPython or C/C++.\n\n*   **Use Cases:**\n    *   IoT gateways and edge computing.\n    *   Home automation hubs (e.g., running Home Assistant).\n    *   Small web servers or network-attached storage (NAS).\n    *   Robotics with complex decision-making.\n    *   Media centers, retro gaming consoles.\n    *   Computer vision and machine learning applications.\n\n*   **Pros:** Powerful, runs a full OS, supports multiple programming languages, extensive connectivity, versatile for complex projects, large community.\n*   **Cons:** Higher power consumption, more complex to set up for beginners, higher cost than basic microcontrollers, not ideal for real-time, low-latency tasks without specialized OS configurations.\n\n**3. Other Notable Boards: ESP32/ESP8266**\nWhile Arduino and Raspberry Pi are foundational, the ESP32 and ESP8266 series of microcontrollers have gained immense popularity specifically for IoT due to their integrated Wi-Fi (and Bluetooth for ESP32) capabilities at a very low cost.\n\n*   **ESP8266:** A low-cost Wi-Fi microchip with full TCP/IP stack and microcontroller capability. It can be programmed using the Arduino IDE, MicroPython, or its native SDK. Excellent for simple Wi-Fi connected devices.\n*   **ESP32:** A more powerful successor to the ESP8266, featuring dual-core processors, integrated Wi-Fi and Bluetooth (BLE), and more GPIO pins. It's highly versatile for a wide range of IoT applications requiring connectivity and more processing power than a basic Arduino.\n\n**Comparison: Arduino vs. Raspberry Pi**\nUnderstanding the fundamental differences between microcontrollers (like Arduino) and single-board computers (like Raspberry Pi) is crucial for selecting the right tool for your IoT project.\n\n| Feature          | Arduino (Microcontroller)                               | Raspberry Pi (Single-Board Computer)                          |\n|------------------|---------------------------------------------------------|---------------------------------------------------------------|\n| **Core Function**| Dedicated, real-time control of hardware                | General-purpose computing, runs an OS                         |\n| **Processor**    | Simpler, lower clock speed (e.g., 16MHz)                | More powerful, multi-core (e.g., 1.5GHz+)                     |\n| **Memory**       | Kilobytes (KB) of RAM and Flash                         | Megabytes (MB) to Gigabytes (GB) of RAM, SD card for storage  |\n| **Operating System**| None (runs bare-metal code or a simple RTOS)            | Full Linux OS (e.g., Raspberry Pi OS)                         |\n| **Programming**  | C/C++ (Arduino IDE), MicroPython (for some boards)      | Python, C/C++, Java, Node.js, etc.                            |\n| **Connectivity** | Limited (requires shields/modules for Wi-Fi/Ethernet)   | Built-in Wi-Fi, Bluetooth, Ethernet, USB                      |\n| **Power**        | Low power consumption, suitable for battery             | Higher power consumption, typically needs external power      |\n| **Cost**         | Generally lower (e.g., $5-$30)                          | Generally higher (e.g., $35-$75+)                             |\n| **Complexity**   | Easier for beginners, simpler projects                  | More complex setup, suitable for advanced projects            |\n| **Best For**     | Sensor reading, simple automation, real-time control    | IoT gateways, data processing, web servers, AI/ML, multimedia |\n\n**Conclusion**\nThe world of IoT development boards is rich and diverse, offering a solution for nearly every conceivable project. Arduino boards excel in simplicity, real-time control, and low-power applications, making them ideal for direct hardware interaction and basic sensor networks. Raspberry Pi boards, on the other hand, provide the power and flexibility of a full computer, enabling complex data processing, network services, and advanced applications like AI at the edge. Boards like the ESP32 and ESP8266 bridge the gap by offering integrated wireless connectivity at a very attractive price point. Your choice of board will depend on your project's specific requirements regarding processing power, connectivity, power consumption, cost, and your own technical expertise. By understanding the strengths and weaknesses of these common platforms, you are now better equipped to select the right foundation for your next IoT innovation.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Power Management for IoT Devices</a:t>
            </a:r>
          </a:p>
        </p:txBody>
      </p:sp>
      <p:sp>
        <p:nvSpPr>
          <p:cNvPr id="3" name="Content Placeholder 2"/>
          <p:cNvSpPr>
            <a:spLocks noGrp="1"/>
          </p:cNvSpPr>
          <p:nvPr>
            <p:ph idx="1"/>
          </p:nvPr>
        </p:nvSpPr>
        <p:spPr/>
        <p:txBody>
          <a:bodyPr wrap="square"/>
          <a:lstStyle/>
          <a:p>
            <a:r>
              <a:rPr sz="1400">
                <a:latin typeface="DejaVu Sans"/>
              </a:rPr>
              <a:t>Welcome to Lesson 2.4: Power Management for IoT Devices. In the world of the Internet of Things, devices are often deployed in remote locations, operate on limited power sources, and are expected to function autonomously for extended periods. This makes power management not just a feature, but a critical design consideration that directly impacts the viability and success of an IoT solution. Without effective power management, even the most innovative IoT device can become a costly and impractical endeavor due to frequent battery replacements or unreliable operation.This lesson will delve into the fundamental principles, techniques, and considerations for optimizing power consumption in IoT devices. We'll explore why it's so important, the various power sources available, and both hardware and software strategies to maximize battery life and operational efficiency.Why is Power Management Critical for IoT?The importance of power management in IoT stems from several key factors:1.  **Extended Battery Life**: Many IoT devices, such as smart sensors, trackers, and environmental monitors, are battery-powered and expected to operate for months or even years without human intervention. Efficient power management is essential to achieve these long operational lifespans.2.  **Remote Deployment**: Devices deployed in inaccessible or hazardous locations (e.g., agricultural fields, industrial machinery, smart city infrastructure) make battery replacement or recharging difficult and expensive. Minimizing power consumption reduces maintenance costs and logistical challenges.3.  **Cost Reduction**: Frequent battery replacements or the need for larger, more expensive power sources can significantly increase the total cost of ownership for an IoT solution. Optimized power usage leads to smaller batteries, less frequent maintenance, and overall lower operational expenses.4.  **Environmental Impact**: Reducing power consumption contributes to a smaller carbon footprint by minimizing energy waste and the disposal of used batteries.5.  **Reliability and Uptime**: A device that runs out of power is a device that stops collecting data or performing its function, leading to service interruptions and potential data loss. Good power management ensures consistent operation.Sources of Power for IoT DevicesIoT devices can draw power from various sources, each with its own advantages and limitations:1.  **Batteries**: The most common power source. Options include:    *   **Primary (Non-rechargeable)**: Alkaline, Lithium-Thionyl Chloride (Li-SOCl2), Lithium Manganese Dioxide (Li-MnO2). Offer high energy density and long shelf life, ideal for low-power, long-term deployments.    *   **Secondary (Rechargeable)**: Lithium-ion (Li-ion), Lithium-polymer (Li-Po), Nickel-Metal Hydride (NiMH). Suitable for devices that can be recharged periodically or combined with energy harvesting.2.  **Mains Power**: Direct connection to the electrical grid. Provides continuous power but limits device mobility and requires proximity to an outlet. Common for smart home hubs, industrial gateways, and always-on devices.3.  **Energy Harvesting**: Capturing ambient energy from the environment and converting it into electrical power. This can significantly extend battery life or even enable battery-less operation. Common methods include:    *   **Solar**: Converting light into electricity using photovoltaic cells.    *   **Thermal**: Converting temperature differences into electricity using thermoelectric generators (TEGs).    *   **Kinetic/Vibration**: Converting mechanical motion or vibrations into electricity (e.g., piezoelectric materials).    *   **Radio Frequency (RF)**: Harvesting energy from ambient RF signals.Power Consumption ModesMost IoT microcontrollers and communication modules support various power modes to conserve energy:1.  **Active Mode**: The device is fully operational, executing code, performing computations, and transmitting data. This is the highest power consumption mode.2.  **Sleep Mode**: The CPU is halted, but peripherals (like timers or specific sensors) may remain active. The device can wake up quickly in response to an interrupt. Power consumption is significantly reduced compared to active mode.3.  **Deep Sleep Mode**: Most peripherals are powered down, and only essential components (e.g., a real-time clock) remain active. Wake-up times are longer, but power consumption is extremely low.4.  **Shutdown/Off Mode**: The device is almost entirely powered down, consuming minimal to no power. Requires a full reboot to become operational.Techniques for Power OptimizationEffective power management involves a combination of hardware and software strategies:Hardware Considerations:1.  **Low-Power Components**: Select microcontrollers, sensors, and communication modules specifically designed for low power consumption. Look for specifications like current draw in different power modes.2.  **Efficient Power Regulators**: Use highly efficient DC-DC converters (buck/boost regulators) instead of linear regulators (LDOs) when converting voltage, especially if there's a significant voltage difference between the power source and the component. LDOs dissipate excess voltage as heat, wasting energy.3.  **Minimize Leakage Current**: Design PCBs to minimize leakage currents, which can drain batteries even when components are in sleep mode.4.  **Component Selection**: Choose sensors that can be powered down completely when not in use. Use latching relays instead of continuously powered ones.5.  **Optimized Antenna Design**: A well-tuned antenna ensures efficient radio transmission, reducing the power needed for communication.Software Considerations:1.  **Duty Cycling**: This is perhaps the most effective software technique. Instead of being continuously active, the device spends most of its time in a low-power sleep mode and wakes up only periodically to perform its tasks (e.g., read sensors, process data, transmit). The ratio of active time to sleep time is the duty cycle. For example, a sensor that wakes up for 1 second every 10 minutes has a very low duty cycle.2.  **Optimized Data Transmission**:    *   **Transmit Less Data**: Only send essential data. Aggregate readings before transmitting.    *   **Transmit Infrequently**: Reduce the frequency of data transmissions.    *   **Efficient Protocols**: Choose communication protocols optimized for low power (e.g., LoRaWAN, NB-IoT, BLE for short-range). Avoid chatty protocols.    *   **Batching**: Collect multiple sensor readings and send them in a single burst rather than individual transmissions.3.  **Intelligent Sensor Management**: Power down sensors when they are not actively being read. Use interrupt-driven sensing where possible, so the sensor only wakes the microcontroller when a significant event occurs.4.  **Efficient Code**: Write optimized, non-blocking code. Avoid busy-waiting loops. Ensure the microcontroller spends as little time as possible in active mode.5.  **Adaptive Power Scaling**: Dynamically adjust the CPU clock frequency based on the processing load. Lower clock frequencies consume less power.6.  **Firmware Over-the-Air (FOTA) Updates**: While not directly a power-saving technique, efficient FOTA allows for future power optimizations to be deployed without physical access to the device.Examples of Power Management in IoT:1.  **Smart Agriculture Sensors**: A soil moisture sensor might wake up once an hour, take a reading, compare it to a threshold, and only transmit data if the moisture level is critical. Otherwise, it goes back to deep sleep. This ultra-low duty cycle allows it to run for years on a small battery.2.  **Wearable Fitness Trackers**: These devices use low-power Bluetooth Low Energy (BLE) for communication, highly optimized accelerometers for activity tracking, and often employ sophisticated algorithms to infer activity from minimal sensor data, extending battery life between charges.3.  **Smart City Streetlights**: While often mains-powered, they might incorporate light sensors to only activate when ambient light drops below a certain level, and motion sensors to increase brightness only when pedestrians or vehicles are detected, saving energy.4.  **Asset Trackers**: GPS modules are notoriously power-hungry. An asset tracker might only activate its GPS receiver for a few seconds every few hours or when a specific event (like movement) is detected, relying on less precise but lower-power cellular triangulation or Wi-Fi scanning for location in between.Conclusion:Power management is a cornerstone of successful IoT deployment. By understanding the various power sources, leveraging different power consumption modes, and implementing both hardware and software optimization techniques, developers can significantly extend the operational life of their IoT devices, reduce maintenance costs, and ensure reliable performance. The key takeaway is to minimize the time spent in high-power modes and maximize the time in low-power sleep states, always considering the trade-offs between power consumption, performance, and functionality. As you design your IoT solutions, always prioritize power efficiency from the ground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Device Selection Criteria for IoT Projects</a:t>
            </a:r>
          </a:p>
        </p:txBody>
      </p:sp>
      <p:sp>
        <p:nvSpPr>
          <p:cNvPr id="3" name="Content Placeholder 2"/>
          <p:cNvSpPr>
            <a:spLocks noGrp="1"/>
          </p:cNvSpPr>
          <p:nvPr>
            <p:ph idx="1"/>
          </p:nvPr>
        </p:nvSpPr>
        <p:spPr/>
        <p:txBody>
          <a:bodyPr wrap="square"/>
          <a:lstStyle/>
          <a:p>
            <a:r>
              <a:rPr sz="1400">
                <a:latin typeface="DejaVu Sans"/>
              </a:rPr>
              <a:t>&lt;h2&gt;2.5: Device Selection Criteria for IoT Projects&lt;/h2&gt;&lt;h3&gt;Introduction&lt;/h3&gt;&lt;p&gt;The success of any Internet of Things (IoT) project hinges significantly on the careful selection of its core components: the devices themselves. IoT devices are the physical bridge between the digital and physical worlds, collecting data, executing commands, and interacting with their environment. Choosing the right device is not merely about finding the cheapest or most powerful option; it's about aligning the device's capabilities with the project's specific requirements, constraints, and long-term goals. A mismatch can lead to increased costs, poor performance, security vulnerabilities, and even project failure. This lesson will delve into the critical criteria that guide effective IoT device selection.&lt;/p&gt;&lt;h3&gt;Core Concepts: Key Device Selection Criteria&lt;/h3&gt;&lt;h4&gt;1. Power Consumption&lt;/h4&gt;&lt;p&gt;Power is often the most critical constraint for IoT devices, especially those deployed in remote locations or with long operational lifespans. Devices can be battery-powered, line-powered, or utilize energy harvesting. Considerations include:&lt;/p&gt;&lt;ul&gt;&lt;li&gt;&lt;strong&gt;Battery Life:&lt;/strong&gt; For devices relying on batteries, the expected operational duration without recharging or replacement is paramount. This impacts maintenance costs and feasibility.&lt;/li&gt;&lt;li&gt;&lt;strong&gt;Energy Harvesting:&lt;/strong&gt; Can the device be powered by ambient energy sources like solar, kinetic, or thermal energy? This is ideal for sustainable, low-maintenance deployments.&lt;/li&gt;&lt;li&gt;&lt;strong&gt;Power Source Availability:&lt;/strong&gt; Is mains power readily available? If so, a line-powered device might be simpler and more robust.&lt;/li&gt;&lt;li&gt;&lt;strong&gt;Power Modes:&lt;/strong&gt; Devices often have various power modes (sleep, idle, active). Understanding how these modes are utilized and their respective consumption is crucial.&lt;/li&gt;&lt;/ul&gt;&lt;p&gt;&lt;em&gt;Example:&lt;/em&gt; A smart agriculture sensor deployed in a field needs ultra-low power consumption to last months or years on a small battery, possibly supplemented by a solar panel.&lt;/p&gt;&lt;h4&gt;2. Connectivity Options&lt;/h4&gt;&lt;p&gt;How a device communicates with the network and other devices is fundamental. The choice depends on range, bandwidth, power consumption, and network availability.&lt;/p&gt;&lt;ul&gt;&lt;li&gt;&lt;strong&gt;Short-Range:&lt;/strong&gt; Bluetooth (BLE), Zigbee, Z-Wave, NFC. Ideal for local communication within a building or personal area network.&lt;/li&gt;&lt;li&gt;&lt;strong&gt;Medium-Range:&lt;/strong&gt; Wi-Fi. Offers higher bandwidth, suitable for home automation or office environments where power is less constrained.&lt;/li&gt;&lt;li&gt;&lt;strong&gt;Long-Range Low-Power (LPWAN):&lt;/strong&gt; LoRaWAN, Sigfox, NB-IoT, LTE-M. Designed for wide-area coverage with minimal power consumption, perfect for remote sensors sending small data packets.&lt;/li&gt;&lt;li&gt;&lt;strong&gt;Cellular:&lt;/strong&gt; 2G/3G/4G/5G. Provides extensive coverage and high bandwidth but at higher power consumption and cost, suitable for mobile or high-data-rate applications.&lt;/li&gt;&lt;li&gt;&lt;strong&gt;Ethernet:&lt;/strong&gt; Wired connection, offering high reliability and bandwidth, typically used for fixed industrial or gateway devices.&lt;/li&gt;&lt;/ul&gt;&lt;p&gt;&lt;em&gt;Example:&lt;/em&gt; A smart city street light might use LoRaWAN for status updates and control commands due to its wide coverage and low power, while a security camera might use Wi-Fi or cellular for high-bandwidth video streaming.&lt;/p&gt;&lt;h4&gt;3. Processing Capability and Memory&lt;/h4&gt;&lt;p&gt;The computational demands of the application dictate the required processing power and memory.&lt;/p&gt;&lt;ul&gt;&lt;li&gt;&lt;strong&gt;Microcontrollers (MCUs):&lt;/strong&gt; Low-cost, low-power, suitable for simple tasks like reading sensors and sending data. Limited RAM and storage.&lt;/li&gt;&lt;li&gt;&lt;strong&gt;Microprocessors (MPUs):&lt;/strong&gt; More powerful, capable of running operating systems (Linux, Android), complex algorithms, and edge analytics. Higher power consumption and cost.&lt;/li&gt;&lt;li&gt;&lt;strong&gt;RAM and Storage:&lt;/strong&gt; Sufficient memory for the operating system, application code, and data buffering.&lt;/li&gt;&lt;li&gt;&lt;strong&gt;Edge Computing:&lt;/strong&gt; If data processing, analytics, or AI inference needs to happen on the device itself (at the 'edge') to reduce latency or bandwidth usage, a more powerful MPU is required.&lt;/li&gt;&lt;/ul&gt;&lt;p&gt;&lt;em&gt;Example:&lt;/em&gt; A simple temperature sensor might use an 8-bit MCU, while a smart camera performing facial recognition at the edge would require a powerful MPU with dedicated AI accelerators.&lt;/p&gt;&lt;h4&gt;4. Sensors and Actuators&lt;/h4&gt;&lt;p&gt;The core function of many IoT devices is to sense the environment or act upon it.&lt;/p&gt;&lt;ul&gt;&lt;li&gt;&lt;strong&gt;Sensor Types:&lt;/strong&gt; Temperature, humidity, pressure, light, motion, GPS, accelerometers, gyroscopes, gas, etc.&lt;/li&gt;&lt;li&gt;&lt;strong&gt;Accuracy, Precision, Resolution:&lt;/strong&gt; How accurately and finely the sensor can measure. This is critical for applications requiring high fidelity data.&lt;/li&gt;&lt;li&gt;&lt;strong&gt;Actuator Types:&lt;/strong&gt; Relays, motors, valves, LEDs, buzzers.&lt;/li&gt;&lt;li&gt;&lt;strong&gt;Integration:&lt;/strong&gt; Ease of connecting and interfacing the chosen sensors/actuators with the device's main controller.&lt;/li&gt;&lt;/ul&gt;&lt;p&gt;&lt;em&gt;Example:&lt;/em&gt; A medical wearable needs highly accurate and precise heart rate and SpO2 sensors, while a smart home light switch only needs a simple on/off actuator.&lt;/p&gt;&lt;h4&gt;5. Security Features&lt;/h4&gt;&lt;p&gt;IoT devices are often targets for cyberattacks. Robust security is non-negotiable.&lt;/p&gt;&lt;ul&gt;&lt;li&gt;&lt;strong&gt;Hardware Security Modules (HSM):&lt;/strong&gt; Dedicated hardware for secure key storage and cryptographic operations.&lt;/li&gt;&lt;li&gt;&lt;strong&gt;Secure Boot:&lt;/strong&gt; Ensures only trusted software runs on the device.&lt;/li&gt;&lt;li&gt;&lt;strong&gt;Encryption:&lt;/strong&gt; Data at rest and in transit must be encrypted.&lt;/li&gt;&lt;li&gt;&lt;strong&gt;Authentication:&lt;/strong&gt; Strong mechanisms to verify device and user identities.&lt;/li&gt;&lt;li&gt;&lt;strong&gt;Firmware Over-The-Air (FOTA) Updates:&lt;/strong&gt; Secure mechanisms for patching vulnerabilities and updating features.&lt;/li&gt;&lt;/ul&gt;&lt;p&gt;&lt;em&gt;Example:&lt;/em&gt; An industrial control system device requires enterprise-grade security features, including secure boot, hardware-backed encryption, and robust authentication to prevent unauthorized access and manipulation.&lt;/p&gt;&lt;h4&gt;6. Cost&lt;/h4&gt;&lt;p&gt;Cost is a multi-faceted criterion, encompassing more than just the initial purchase price.&lt;/p&gt;&lt;ul&gt;&lt;li&gt;&lt;strong&gt;Hardware Cost:&lt;/strong&gt; Unit price of the device.&lt;/li&gt;&lt;li&gt;&lt;strong&gt;Deployment Cost:&lt;/strong&gt; Installation, configuration, and network setup.&lt;/li&gt;&lt;li&gt;&lt;strong&gt;Maintenance Cost:&lt;/strong&gt; Battery replacement, repairs, software updates.&lt;/li&gt;&lt;li&gt;&lt;strong&gt;Scalability Cost:&lt;/strong&gt; Cost implications of expanding the deployment.&lt;/li&gt;&lt;li&gt;&lt;strong&gt;Total Cost of Ownership (TCO):&lt;/strong&gt; A holistic view of all costs over the device's lifecycle.&lt;/li&gt;&lt;/ul&gt;&lt;p&gt;&lt;em&gt;Example:&lt;/em&gt; For a large-scale smart metering project, even a small difference in unit cost can lead to significant savings or overruns across thousands of devices.&lt;/p&gt;&lt;h4&gt;7. Form Factor and Environmental Robustness&lt;/h4&gt;&lt;p&gt;The physical characteristics and resilience of the device are crucial for its deployment environment.&lt;/p&gt;&lt;ul&gt;&lt;li&gt;&lt;strong&gt;Size and Weight:&lt;/strong&gt; Important for wearables, drones, or devices needing to fit into confined spaces.&lt;/li&gt;&lt;li&gt;&lt;strong&gt;IP Rating (Ingress Protection):&lt;/strong&gt; Indicates resistance to dust and water. Essential for outdoor or harsh industrial environments.&lt;/li&gt;&lt;li&gt;&lt;strong&gt;Operating Temperature Range:&lt;/strong&gt; Ability to function in extreme heat or cold.&lt;/li&gt;&lt;li&gt;&lt;strong&gt;Vibration and Shock Resistance:&lt;/strong&gt; Critical for devices in industrial machinery or vehicles.&lt;/li&gt;&lt;li&gt;&lt;strong&gt;Material:&lt;/strong&gt; Durability, chemical resistance, and aesthetic considerations.&lt;/li&gt;&lt;/ul&gt;&lt;p&gt;&lt;em&gt;Example:&lt;/em&gt; An IoT device for a factory floor needs a high IP rating (e.g., IP67) and robust casing to withstand dust, water, and potential impacts, whereas a smart thermostat for a home has less stringent environmental requirements.&lt;/p&gt;&lt;h4&gt;8. Scalability and Future-Proofing&lt;/h4&gt;&lt;p&gt;Consider the long-term vision for the IoT project.&lt;/p&gt;&lt;ul&gt;&lt;li&gt;&lt;strong&gt;Scalability:&lt;/strong&gt; Can the chosen device and its associated infrastructure handle an increasing number of devices and data volume?&lt;/li&gt;&lt;li&gt;&lt;strong&gt;Modularity:&lt;/strong&gt; Can components be easily upgraded or replaced?&lt;/li&gt;&lt;li&gt;&lt;strong&gt;Standard Compliance:&lt;/strong&gt; Adherence to industry standards ensures interoperability and easier integration with future technologies.&lt;/li&gt;&lt;li&gt;&lt;strong&gt;Software Updatability:&lt;/strong&gt; Ability to receive over-the-air (OTA) firmware updates for bug fixes, security patches, and new features.&lt;/li&gt;&lt;/ul&gt;&lt;p&gt;&lt;em&gt;Example:&lt;/em&gt; A smart building system should use devices that can easily integrate with new sensors or building management systems as technology evolves, avoiding vendor lock-in.&lt;/p&gt;&lt;h4&gt;9. Ease of Development and Integration&lt;/h4&gt;&lt;p&gt;The developer experience can significantly impact time-to-market and project costs.&lt;/p&gt;&lt;ul&gt;&lt;li&gt;&lt;strong&gt;Software Development Kits (SDKs) and APIs:&lt;/strong&gt; Availability of comprehensive tools and documentation.&lt;/li&gt;&lt;li&gt;&lt;strong&gt;Programming Languages:&lt;/strong&gt; Support for common languages (C/C++, Python, JavaScript).&lt;/li&gt;&lt;li&gt;&lt;strong&gt;Community Support:&lt;/strong&gt; Active forums, open-source projects, and online resources.&lt;/li&gt;&lt;li&gt;&lt;strong&gt;Cloud Platform Integration:&lt;/strong&gt; Ease of connecting to popular IoT cloud platforms (AWS IoT, Azure IoT, Google Cloud IoT).&lt;/li&gt;&lt;/ul&gt;&lt;p&gt;&lt;em&gt;Example:&lt;/em&gt; A startup developing a new consumer IoT gadget might prioritize devices with extensive SDKs and strong community support to accelerate development and troubleshooting.&lt;/p&gt;&lt;h4&gt;10. Compliance and Certifications&lt;/h4&gt;&lt;p&gt;Regulatory and industry-specific compliance is often mandatory.&lt;/p&gt;&lt;ul&gt;&lt;li&gt;&lt;strong&gt;Regulatory Certifications:&lt;/strong&gt; FCC (USA), CE (Europe), RoHS, WEEE. Ensures devices meet safety and environmental standards.&lt;/li&gt;&lt;li&gt;&lt;strong&gt;Industry-Specific Certifications:&lt;/strong&gt; e.g., medical device certifications, automotive standards.&lt;/li&gt;&lt;/ul&gt;&lt;p&gt;&lt;em&gt;Example:&lt;/em&gt; Any IoT device intended for sale in the European Union must carry the CE mark, indicating compliance with EU health, safety, and environmental protection standards.&lt;/p&gt;&lt;h3&gt;Conclusion&lt;/h3&gt;&lt;p&gt;Selecting the right IoT device is a complex, multi-criteria decision that requires a holistic understanding of the project's requirements, constraints, and operational environment. There is no one-size-fits-all solution; instead, the optimal choice involves balancing factors like power, connectivity, processing, security, cost, and environmental robustness. By systematically evaluating these criteria, developers and project managers can make informed decisions that lay a solid foundation for a successful, scalable, and secure IoT deployment.&lt;/p&gt;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Connectivity and Communication Protocols</a:t>
            </a:r>
          </a:p>
        </p:txBody>
      </p:sp>
      <p:sp>
        <p:nvSpPr>
          <p:cNvPr id="3" name="Text Placeholder 2"/>
          <p:cNvSpPr>
            <a:spLocks noGrp="1"/>
          </p:cNvSpPr>
          <p:nvPr>
            <p:ph type="body"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Overview of IoT Communication Technologies (Wi-Fi, Bluetooth, Zigbee, LoRaWAN, Cellular)</a:t>
            </a:r>
          </a:p>
        </p:txBody>
      </p:sp>
      <p:sp>
        <p:nvSpPr>
          <p:cNvPr id="3" name="Content Placeholder 2"/>
          <p:cNvSpPr>
            <a:spLocks noGrp="1"/>
          </p:cNvSpPr>
          <p:nvPr>
            <p:ph idx="1"/>
          </p:nvPr>
        </p:nvSpPr>
        <p:spPr/>
        <p:txBody>
          <a:bodyPr wrap="square"/>
          <a:lstStyle/>
          <a:p>
            <a:r>
              <a:rPr sz="1400">
                <a:latin typeface="DejaVu Sans"/>
              </a:rPr>
              <a:t>3.1: Overview of IoT Communication Technologies (Wi-Fi, Bluetooth, Zigbee, LoRaWAN, Cellular)</a:t>
            </a:r>
          </a:p>
          <a:p/>
          <a:p>
            <a:r>
              <a:rPr sz="1400">
                <a:latin typeface="DejaVu Sans"/>
              </a:rPr>
              <a:t>Introduction</a:t>
            </a:r>
          </a:p>
          <a:p/>
          <a:p>
            <a:r>
              <a:rPr sz="1400">
                <a:latin typeface="DejaVu Sans"/>
              </a:rPr>
              <a:t>The Internet of Things (IoT) is built upon the foundation of interconnected devices, and the ability for these devices to communicate effectively is paramount. Just as humans use different languages and communication methods depending on the context (e.g., a quick whisper, a phone call, a public announcement), IoT devices employ a diverse range of communication technologies. The choice of technology is critical and depends on various factors such as range, data rate, power consumption, cost, security, and the specific application requirements. This lesson will provide an overview of the most common communication technologies used in IoT: Wi-Fi, Bluetooth, Zigbee, LoRaWAN, and Cellular, highlighting their characteristics, advantages, disadvantages, and typical use cases.</a:t>
            </a:r>
          </a:p>
          <a:p/>
          <a:p>
            <a:r>
              <a:rPr sz="1400">
                <a:latin typeface="DejaVu Sans"/>
              </a:rPr>
              <a:t>Core Concepts: IoT Communication Technologies</a:t>
            </a:r>
          </a:p>
          <a:p/>
          <a:p>
            <a:r>
              <a:rPr sz="1400">
                <a:latin typeface="DejaVu Sans"/>
              </a:rPr>
              <a:t>1. Wi-Fi (Wireless Fidelity)</a:t>
            </a:r>
          </a:p>
          <a:p>
            <a:r>
              <a:rPr sz="1400">
                <a:latin typeface="DejaVu Sans"/>
              </a:rPr>
              <a:t>	Description: Wi-Fi is a widely adopted wireless networking technology that allows devices to connect to the internet or to each other within a local area network (LAN). It operates on unlicensed spectrums (2.4 GHz and 5 GHz) and is based on the IEEE 802.11 standards.</a:t>
            </a:r>
          </a:p>
          <a:p>
            <a:r>
              <a:rPr sz="1400">
                <a:latin typeface="DejaVu Sans"/>
              </a:rPr>
              <a:t>	Pros:</a:t>
            </a:r>
          </a:p>
          <a:p>
            <a:r>
              <a:rPr sz="1400">
                <a:latin typeface="DejaVu Sans"/>
              </a:rPr>
              <a:t>		High data rates, suitable for streaming and large data transfers.</a:t>
            </a:r>
          </a:p>
          <a:p>
            <a:r>
              <a:rPr sz="1400">
                <a:latin typeface="DejaVu Sans"/>
              </a:rPr>
              <a:t>		Ubiquitous infrastructure in homes, offices, and public spaces.</a:t>
            </a:r>
          </a:p>
          <a:p>
            <a:r>
              <a:rPr sz="1400">
                <a:latin typeface="DejaVu Sans"/>
              </a:rPr>
              <a:t>		IP-based, allowing direct internet connectivity.</a:t>
            </a:r>
          </a:p>
          <a:p>
            <a:r>
              <a:rPr sz="1400">
                <a:latin typeface="DejaVu Sans"/>
              </a:rPr>
              <a:t>		Strong security protocols (WPA2/WPA3).</a:t>
            </a:r>
          </a:p>
          <a:p>
            <a:r>
              <a:rPr sz="1400">
                <a:latin typeface="DejaVu Sans"/>
              </a:rPr>
              <a:t>	Cons:</a:t>
            </a:r>
          </a:p>
          <a:p>
            <a:r>
              <a:rPr sz="1400">
                <a:latin typeface="DejaVu Sans"/>
              </a:rPr>
              <a:t>		Relatively high power consumption, not ideal for battery-powered devices requiring long life.</a:t>
            </a:r>
          </a:p>
          <a:p>
            <a:r>
              <a:rPr sz="1400">
                <a:latin typeface="DejaVu Sans"/>
              </a:rPr>
              <a:t>		Limited range (typically tens of meters indoors).</a:t>
            </a:r>
          </a:p>
          <a:p>
            <a:r>
              <a:rPr sz="1400">
                <a:latin typeface="DejaVu Sans"/>
              </a:rPr>
              <a:t>		Can suffer from congestion in crowded environments.</a:t>
            </a:r>
          </a:p>
          <a:p>
            <a:r>
              <a:rPr sz="1400">
                <a:latin typeface="DejaVu Sans"/>
              </a:rPr>
              <a:t>		Scalability challenges for massive IoT deployments with thousands of devices.</a:t>
            </a:r>
          </a:p>
          <a:p>
            <a:r>
              <a:rPr sz="1400">
                <a:latin typeface="DejaVu Sans"/>
              </a:rPr>
              <a:t>	Use Cases: Smart home devices (security cameras, smart TVs, voice assistants), industrial IoT applications requiring high bandwidth (e.g., real-time video monitoring), smart appliances.</a:t>
            </a:r>
          </a:p>
          <a:p/>
          <a:p>
            <a:r>
              <a:rPr sz="1400">
                <a:latin typeface="DejaVu Sans"/>
              </a:rPr>
              <a:t>2. Bluetooth</a:t>
            </a:r>
          </a:p>
          <a:p>
            <a:r>
              <a:rPr sz="1400">
                <a:latin typeface="DejaVu Sans"/>
              </a:rPr>
              <a:t>	Description: Bluetooth is a short-range wireless technology standard used for exchanging data between fixed and mobile devices over short distances. Bluetooth Low Energy (BLE), introduced with Bluetooth 4.0, is specifically designed for low-power IoT applications.</a:t>
            </a:r>
          </a:p>
          <a:p>
            <a:r>
              <a:rPr sz="1400">
                <a:latin typeface="DejaVu Sans"/>
              </a:rPr>
              <a:t>	Pros:</a:t>
            </a:r>
          </a:p>
          <a:p>
            <a:r>
              <a:rPr sz="1400">
                <a:latin typeface="DejaVu Sans"/>
              </a:rPr>
              <a:t>		Very low power consumption (especially BLE), enabling long battery life for small devices.</a:t>
            </a:r>
          </a:p>
          <a:p>
            <a:r>
              <a:rPr sz="1400">
                <a:latin typeface="DejaVu Sans"/>
              </a:rPr>
              <a:t>		Cost-effective and easy to integrate into small form factors.</a:t>
            </a:r>
          </a:p>
          <a:p>
            <a:r>
              <a:rPr sz="1400">
                <a:latin typeface="DejaVu Sans"/>
              </a:rPr>
              <a:t>		Simple pairing and setup.</a:t>
            </a:r>
          </a:p>
          <a:p>
            <a:r>
              <a:rPr sz="1400">
                <a:latin typeface="DejaVu Sans"/>
              </a:rPr>
              <a:t>		Supports point-to-point and mesh networking (Bluetooth Mesh).</a:t>
            </a:r>
          </a:p>
          <a:p>
            <a:r>
              <a:rPr sz="1400">
                <a:latin typeface="DejaVu Sans"/>
              </a:rPr>
              <a:t>	Cons:</a:t>
            </a:r>
          </a:p>
          <a:p>
            <a:r>
              <a:rPr sz="1400">
                <a:latin typeface="DejaVu Sans"/>
              </a:rPr>
              <a:t>		Limited range (typically up to 10-100 meters, depending on class).</a:t>
            </a:r>
          </a:p>
          <a:p>
            <a:r>
              <a:rPr sz="1400">
                <a:latin typeface="DejaVu Sans"/>
              </a:rPr>
              <a:t>		Lower data rates compared to Wi-Fi.</a:t>
            </a:r>
          </a:p>
          <a:p>
            <a:r>
              <a:rPr sz="1400">
                <a:latin typeface="DejaVu Sans"/>
              </a:rPr>
              <a:t>		Not directly IP-addressable without a gateway.</a:t>
            </a:r>
          </a:p>
          <a:p>
            <a:r>
              <a:rPr sz="1400">
                <a:latin typeface="DejaVu Sans"/>
              </a:rPr>
              <a:t>	Use Cases: Wearable devices (fitness trackers, smartwatches), smart locks, proximity sensors, medical devices, personal audio devices, asset tracking within a confined area.</a:t>
            </a:r>
          </a:p>
          <a:p/>
          <a:p>
            <a:r>
              <a:rPr sz="1400">
                <a:latin typeface="DejaVu Sans"/>
              </a:rPr>
              <a:t>3. Zigbee</a:t>
            </a:r>
          </a:p>
          <a:p>
            <a:r>
              <a:rPr sz="1400">
                <a:latin typeface="DejaVu Sans"/>
              </a:rPr>
              <a:t>	Description: Zigbee is a low-power, low-data-rate wireless mesh networking standard based on the IEEE 802.15.4 specification. It's designed for small-scale projects requiring wireless connections between a large number of devices in a personal area network (PAN).</a:t>
            </a:r>
          </a:p>
          <a:p>
            <a:r>
              <a:rPr sz="1400">
                <a:latin typeface="DejaVu Sans"/>
              </a:rPr>
              <a:t>	Pros:</a:t>
            </a:r>
          </a:p>
          <a:p>
            <a:r>
              <a:rPr sz="1400">
                <a:latin typeface="DejaVu Sans"/>
              </a:rPr>
              <a:t>		Extremely low power consumption, allowing devices to run for years on a single battery.</a:t>
            </a:r>
          </a:p>
          <a:p>
            <a:r>
              <a:rPr sz="1400">
                <a:latin typeface="DejaVu Sans"/>
              </a:rPr>
              <a:t>		Robust and self-healing mesh networking capability, extending range and reliability.</a:t>
            </a:r>
          </a:p>
          <a:p>
            <a:r>
              <a:rPr sz="1400">
                <a:latin typeface="DejaVu Sans"/>
              </a:rPr>
              <a:t>		Supports a large number of nodes in a single network.</a:t>
            </a:r>
          </a:p>
          <a:p>
            <a:r>
              <a:rPr sz="1400">
                <a:latin typeface="DejaVu Sans"/>
              </a:rPr>
              <a:t>		Strong security features.</a:t>
            </a:r>
          </a:p>
          <a:p>
            <a:r>
              <a:rPr sz="1400">
                <a:latin typeface="DejaVu Sans"/>
              </a:rPr>
              <a:t>	Cons:</a:t>
            </a:r>
          </a:p>
          <a:p>
            <a:r>
              <a:rPr sz="1400">
                <a:latin typeface="DejaVu Sans"/>
              </a:rPr>
              <a:t>		Requires a central hub or gateway to connect to the internet.</a:t>
            </a:r>
          </a:p>
          <a:p>
            <a:r>
              <a:rPr sz="1400">
                <a:latin typeface="DejaVu Sans"/>
              </a:rPr>
              <a:t>		Lower data rates than Wi-Fi or Bluetooth.</a:t>
            </a:r>
          </a:p>
          <a:p>
            <a:r>
              <a:rPr sz="1400">
                <a:latin typeface="DejaVu Sans"/>
              </a:rPr>
              <a:t>		Shorter range per hop compared to Wi-Fi.</a:t>
            </a:r>
          </a:p>
          <a:p>
            <a:r>
              <a:rPr sz="1400">
                <a:latin typeface="DejaVu Sans"/>
              </a:rPr>
              <a:t>	Use Cases: Smart lighting systems, home automation (thermostats, door/window sensors, smart plugs), industrial monitoring, building automation.</a:t>
            </a:r>
          </a:p>
          <a:p/>
          <a:p>
            <a:r>
              <a:rPr sz="1400">
                <a:latin typeface="DejaVu Sans"/>
              </a:rPr>
              <a:t>4. LoRaWAN (Long Range Wide Area Network)</a:t>
            </a:r>
          </a:p>
          <a:p>
            <a:r>
              <a:rPr sz="1400">
                <a:latin typeface="DejaVu Sans"/>
              </a:rPr>
              <a:t>	Description: LoRaWAN is a Low Power Wide Area Network (LPWAN) specification designed for wireless battery-operated 'things' in a regional, national, or global network. It uses LoRa (Long Range) modulation technology for the physical layer and operates in unlicensed sub-gigahertz radio frequency bands.</a:t>
            </a:r>
          </a:p>
          <a:p>
            <a:r>
              <a:rPr sz="1400">
                <a:latin typeface="DejaVu Sans"/>
              </a:rPr>
              <a:t>	Pros:</a:t>
            </a:r>
          </a:p>
          <a:p>
            <a:r>
              <a:rPr sz="1400">
                <a:latin typeface="DejaVu Sans"/>
              </a:rPr>
              <a:t>		Extremely long range (up to 15 km in rural areas, 5 km in urban areas).</a:t>
            </a:r>
          </a:p>
          <a:p>
            <a:r>
              <a:rPr sz="1400">
                <a:latin typeface="DejaVu Sans"/>
              </a:rPr>
              <a:t>		Ultra-low power consumption, enabling device battery life of 10+ years.</a:t>
            </a:r>
          </a:p>
          <a:p>
            <a:r>
              <a:rPr sz="1400">
                <a:latin typeface="DejaVu Sans"/>
              </a:rPr>
              <a:t>		Excellent for sparse data transmission from remote locations.</a:t>
            </a:r>
          </a:p>
          <a:p>
            <a:r>
              <a:rPr sz="1400">
                <a:latin typeface="DejaVu Sans"/>
              </a:rPr>
              <a:t>		High capacity for a large number of devices per gateway.</a:t>
            </a:r>
          </a:p>
          <a:p>
            <a:r>
              <a:rPr sz="1400">
                <a:latin typeface="DejaVu Sans"/>
              </a:rPr>
              <a:t>	Cons:</a:t>
            </a:r>
          </a:p>
          <a:p>
            <a:r>
              <a:rPr sz="1400">
                <a:latin typeface="DejaVu Sans"/>
              </a:rPr>
              <a:t>		Very low data rates, not suitable for real-time or high-bandwidth applications.</a:t>
            </a:r>
          </a:p>
          <a:p>
            <a:r>
              <a:rPr sz="1400">
                <a:latin typeface="DejaVu Sans"/>
              </a:rPr>
              <a:t>		Requires dedicated gateways and network servers.</a:t>
            </a:r>
          </a:p>
          <a:p>
            <a:r>
              <a:rPr sz="1400">
                <a:latin typeface="DejaVu Sans"/>
              </a:rPr>
              <a:t>		Higher latency compared to other technologies.</a:t>
            </a:r>
          </a:p>
          <a:p>
            <a:r>
              <a:rPr sz="1400">
                <a:latin typeface="DejaVu Sans"/>
              </a:rPr>
              <a:t>	Use Cases: Smart agriculture (soil sensors, livestock tracking), smart cities (parking sensors, waste management, environmental monitoring), asset tracking, utility metering.</a:t>
            </a:r>
          </a:p>
          <a:p/>
          <a:p>
            <a:r>
              <a:rPr sz="1400">
                <a:latin typeface="DejaVu Sans"/>
              </a:rPr>
              <a:t>5. Cellular (2G/3G/4G/5G, NB-IoT/LTE-M)</a:t>
            </a:r>
          </a:p>
          <a:p>
            <a:r>
              <a:rPr sz="1400">
                <a:latin typeface="DejaVu Sans"/>
              </a:rPr>
              <a:t>	Description: Cellular technologies leverage existing mobile network infrastructure to provide wide-area connectivity. While traditional 2G/3G/4G/5G are used, specific IoT-optimized variants like Narrowband IoT (NB-IoT) and LTE-M (Long Term Evolution for Machines) offer lower power consumption and extended coverage for IoT devices.</a:t>
            </a:r>
          </a:p>
          <a:p>
            <a:r>
              <a:rPr sz="1400">
                <a:latin typeface="DejaVu Sans"/>
              </a:rPr>
              <a:t>	Pros:</a:t>
            </a:r>
          </a:p>
          <a:p>
            <a:r>
              <a:rPr sz="1400">
                <a:latin typeface="DejaVu Sans"/>
              </a:rPr>
              <a:t>		Ubiquitous and extensive coverage, leveraging existing mobile networks.</a:t>
            </a:r>
          </a:p>
          <a:p>
            <a:r>
              <a:rPr sz="1400">
                <a:latin typeface="DejaVu Sans"/>
              </a:rPr>
              <a:t>		High reliability and security.</a:t>
            </a:r>
          </a:p>
          <a:p>
            <a:r>
              <a:rPr sz="1400">
                <a:latin typeface="DejaVu Sans"/>
              </a:rPr>
              <a:t>		High data rates (especially 4G/5G) for demanding applications.</a:t>
            </a:r>
          </a:p>
          <a:p>
            <a:r>
              <a:rPr sz="1400">
                <a:latin typeface="DejaVu Sans"/>
              </a:rPr>
              <a:t>		NB-IoT and LTE-M offer significantly lower power consumption and better penetration for IoT.</a:t>
            </a:r>
          </a:p>
          <a:p>
            <a:r>
              <a:rPr sz="1400">
                <a:latin typeface="DejaVu Sans"/>
              </a:rPr>
              <a:t>	Cons:</a:t>
            </a:r>
          </a:p>
          <a:p>
            <a:r>
              <a:rPr sz="1400">
                <a:latin typeface="DejaVu Sans"/>
              </a:rPr>
              <a:t>		Higher power consumption for traditional cellular modules, though improved with NB-IoT/LTE-M.</a:t>
            </a:r>
          </a:p>
          <a:p>
            <a:r>
              <a:rPr sz="1400">
                <a:latin typeface="DejaVu Sans"/>
              </a:rPr>
              <a:t>		Higher cost per device and per data unit compared to short-range options.</a:t>
            </a:r>
          </a:p>
          <a:p>
            <a:r>
              <a:rPr sz="1400">
                <a:latin typeface="DejaVu Sans"/>
              </a:rPr>
              <a:t>		More complex module integration and subscription management.</a:t>
            </a:r>
          </a:p>
          <a:p>
            <a:r>
              <a:rPr sz="1400">
                <a:latin typeface="DejaVu Sans"/>
              </a:rPr>
              <a:t>	Use Cases: Connected cars, remote asset tracking, smart meters, critical infrastructure monitoring, large-scale industrial IoT deployments, smart city applications requiring wide coverage and moderate data rates.</a:t>
            </a:r>
          </a:p>
          <a:p/>
          <a:p>
            <a:r>
              <a:rPr sz="1400">
                <a:latin typeface="DejaVu Sans"/>
              </a:rPr>
              <a:t>Summary and Conclusion</a:t>
            </a:r>
          </a:p>
          <a:p/>
          <a:p>
            <a:r>
              <a:rPr sz="1400">
                <a:latin typeface="DejaVu Sans"/>
              </a:rPr>
              <a:t>The table below summarizes the key characteristics of these IoT communication technologies:</a:t>
            </a:r>
          </a:p>
          <a:p/>
          <a:p>
            <a:r>
              <a:rPr sz="1400">
                <a:latin typeface="DejaVu Sans"/>
              </a:rPr>
              <a:t>| Technology | Range | Data Rate | Power Consumption | Network Topology | Typical Use Cases |</a:t>
            </a:r>
          </a:p>
          <a:p>
            <a:r>
              <a:rPr sz="1400">
                <a:latin typeface="DejaVu Sans"/>
              </a:rPr>
              <a:t>|---|---|---|---|---|---|</a:t>
            </a:r>
          </a:p>
          <a:p>
            <a:r>
              <a:rPr sz="1400">
                <a:latin typeface="DejaVu Sans"/>
              </a:rPr>
              <a:t>| Wi-Fi | Medium (10-100m) | High (Mbps) | High | Star | Smart homes, high-bandwidth industrial IoT |</a:t>
            </a:r>
          </a:p>
          <a:p>
            <a:r>
              <a:rPr sz="1400">
                <a:latin typeface="DejaVu Sans"/>
              </a:rPr>
              <a:t>| Bluetooth (BLE) | Short (10-100m) | Low-Medium (Kbps-Mbps) | Very Low | Point-to-point, Mesh | Wearables, smart locks, personal devices |</a:t>
            </a:r>
          </a:p>
          <a:p>
            <a:r>
              <a:rPr sz="1400">
                <a:latin typeface="DejaVu Sans"/>
              </a:rPr>
              <a:t>| Zigbee | Medium (10-100m per hop) | Low (Kbps) | Very Low | Mesh | Smart lighting, home automation, industrial sensors |</a:t>
            </a:r>
          </a:p>
          <a:p>
            <a:r>
              <a:rPr sz="1400">
                <a:latin typeface="DejaVu Sans"/>
              </a:rPr>
              <a:t>| LoRaWAN | Long (km) | Very Low (bps-Kbps) | Ultra Low | Star-of-stars | Smart agriculture, asset tracking, smart cities |</a:t>
            </a:r>
          </a:p>
          <a:p>
            <a:r>
              <a:rPr sz="1400">
                <a:latin typeface="DejaVu Sans"/>
              </a:rPr>
              <a:t>| Cellular (NB-IoT/LTE-M) | Very Long (km) | Low-Medium (Kbps-Mbps) | Low-Medium | Star | Connected cars, remote monitoring, smart meters |</a:t>
            </a:r>
          </a:p>
          <a:p/>
          <a:p>
            <a:r>
              <a:rPr sz="1400">
                <a:latin typeface="DejaVu Sans"/>
              </a:rPr>
              <a:t>Choosing the right communication technology for an IoT solution is a critical design decision. There is no single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IoT Network Topologies</a:t>
            </a:r>
          </a:p>
        </p:txBody>
      </p:sp>
      <p:sp>
        <p:nvSpPr>
          <p:cNvPr id="3" name="Content Placeholder 2"/>
          <p:cNvSpPr>
            <a:spLocks noGrp="1"/>
          </p:cNvSpPr>
          <p:nvPr>
            <p:ph idx="1"/>
          </p:nvPr>
        </p:nvSpPr>
        <p:spPr/>
        <p:txBody>
          <a:bodyPr wrap="square"/>
          <a:lstStyle/>
          <a:p>
            <a:r>
              <a:rPr sz="1400">
                <a:latin typeface="DejaVu Sans"/>
              </a:rPr>
              <a:t>Welcome to Lesson 3.2: IoT Network Topologies, a crucial component of our 'Introduction to Internet of Things' course. In the realm of IoT, devices don't just exist in isolation; they communicate, share data, and collaborate to achieve specific goals. The way these devices are interconnected, both physically and logically, is defined by their network topology. Understanding these topologies is fundamental to designing efficient, reliable, and scalable IoT systems. This lesson will explore the various network topologies commonly employed in IoT, their characteristics, advantages, disadvantages, and the factors that influence their selection. What is Network Topology? Network topology refers to the arrangement of the elements (links, nodes, etc.) of a communication network. It describes how devices are connected and how data flows between them. There are two main types: physical topology, which is the actual physical layout of the cables and devices, and logical topology, which describes how data flows through the network, regardless of its physical arrangement. In IoT, both aspects are critical for optimal performance. Common Network Topologies in IoT: 1. Star Topology: In a star topology, every device (node) in the network is connected to a central hub, switch, or controller. This central device acts as a server, managing all communication between the connected IoT devices. How it works in IoT: A common example is a smart home system where all smart devices (lights, thermostats, sensors) connect directly to a central smart home hub (e.g., a Zigbee or Z-Wave hub, or a Wi-Fi router). The hub then manages their interactions and often provides internet connectivity. Advantages: Easy to install and manage. If one device fails, it doesn't affect the rest of the network. Easy to add or remove devices. Centralized control simplifies troubleshooting. Disadvantages: The entire network fails if the central hub fails (single point of failure). Requires more cabling than some other topologies. Scalability can be limited by the hub's capacity. 2. Bus Topology: In a bus topology, all devices are connected to a single, shared communication line called a 'bus' or 'backbone.' Data travels along this bus, and each device checks if the data is intended for it. How it works in IoT: While less common in modern wireless IoT due to collision issues and single point of failure, it can be found in some legacy industrial control systems or specific sensor networks where devices are daisy-chained. For instance, a series of environmental sensors connected along a single cable in a factory. Advantages: Simple to implement for small networks. Requires less cabling than star topology. Disadvantages: A break in the main bus cable brings down the entire network. Difficult to troubleshoot. Performance degrades with more devices due to data collisions. Not easily scalable. 3. Ring Topology: In a ring topology, devices are connected in a circular fashion, with each device connected to exactly two other devices, forming a single continuous pathway for signals. Data travels in one direction (unidirectional) or both directions (bidirectional) around the ring. How it works in IoT: Less common for general IoT, but can be found in some industrial automation systems (e.g., Token Ring networks, or specific sensor loops where data needs to pass sequentially through devices). Advantages: Data can travel quickly without collisions (in token-passing systems). Each device acts as a repeater, boosting the signal. Disadvantages: A single device failure can break the entire ring. Adding or removing devices disrupts the network. Troubleshooting can be complex. 4. Mesh Topology: In a mesh topology, every device is connected to every other device (full mesh) or to multiple other devices (partial mesh). This creates multiple pathways for data transmission. How it works in IoT: This is a highly robust and popular topology for many IoT applications, especially those requiring high reliability and coverage over a wide area. Examples include smart city lighting, large-scale environmental monitoring, and industrial sensor networks. Technologies like Zigbee and Z-Wave often utilize mesh networking. Advantages: Extremely robust and fault-tolerant; if one path fails, data can reroute through another. High reliability and redundancy. Scalable, as new devices can join and extend the network. Disadvantages: Can be expensive and complex to implement, especially full mesh, due to the number of connections. High power consumption for devices acting as routers (in partial mesh). Requires more sophisticated routing protocols. 5. Tree (Hierarchical) Topology: A tree topology is a hybrid of star and bus topologies. It consists of multiple star networks connected to a central bus or backbone. It's essentially a hierarchy, with a root node, branches, and leaves. How it works in IoT: Ideal for large-scale IoT deployments like smart buildings, industrial IoT (IIoT), or campus-wide sensor networks. For example, a main building server (root) connects to floor-level hubs (branches), which in turn connect to individual room sensors and devices (leaves) in a star configuration. Advantages: Scalable and flexible. Easy to manage and troubleshoot segments. Allows for centralized control with distributed processing. Disadvantages: If the backbone fails, entire segments are affected. More complex to implement than a simple star or bus. Cost can be higher due to additional hardware. 6. Hybrid Topology: A hybrid topology combines two or more different basic topologies to form a larger, more complex network. This is often done to leverage the advantages of different topologies for specific parts of an IoT system. How it works in IoT: Most large-scale, real-world IoT deployments are hybrid. For instance, a smart factory might use a mesh network for its production line sensors (for reliability) and a star network for its office automation systems, all connected via a central backbone. Advantages: Highly flexible and adaptable to specific needs. Can be optimized for performance, cost, and reliability in different segments. Disadvantages: Can be very complex to design, implement, and manage. Troubleshooting can be challenging due to the varied nature of the interconnected topologies. Factors Influencing Topology Choice in IoT: Selecting the right network topology for an IoT solution is a critical design decision. Several factors must be considered: Scalability: How easily can new devices be added to the network? Reliability/Redundancy: How well does the network handle device or link failures? Cost: Hardware, cabling, installation, and maintenance costs. Power Consumption: Crucial for battery-powered IoT devices; mesh networks, for example, can be power-intensive for routing nodes. Data Rate/Bandwidth: The amount of data that needs to be transmitted and the speed required. Latency: The delay in data transmission, critical for real-time applications. Security: How vulnerable is the network to attacks, and how easily can it be secured? Geographical Area/Coverage: The physical spread of the IoT deployment. Ease of Management and Troubleshooting: How simple is it to maintain and fix issues? Conclusion: In summary, IoT network topologies are the foundational structures that dictate how devices communicate and interact. From the simplicity of a star network to the robustness of a mesh, each topology offers unique advantages and disadvantages, making it suitable for different IoT applications. A thorough understanding of these configurations, coupled with a careful consideration of factors like scalability, reliability, cost, and power consumption, is essential for designing effective, efficient, and future-proof IoT systems. As you progress in your IoT journey, remember that the choice of topology is not merely a technical detail but a strategic decision that impacts the entire lifecycle and performance of your IoT solution.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Common IoT Protocols (MQTT, CoAP, HTTP/REST)</a:t>
            </a:r>
          </a:p>
        </p:txBody>
      </p:sp>
      <p:sp>
        <p:nvSpPr>
          <p:cNvPr id="3" name="Content Placeholder 2"/>
          <p:cNvSpPr>
            <a:spLocks noGrp="1"/>
          </p:cNvSpPr>
          <p:nvPr>
            <p:ph idx="1"/>
          </p:nvPr>
        </p:nvSpPr>
        <p:spPr/>
        <p:txBody>
          <a:bodyPr wrap="square"/>
          <a:lstStyle/>
          <a:p>
            <a:r>
              <a:rPr sz="1400">
                <a:latin typeface="DejaVu Sans"/>
              </a:rPr>
              <a:t>## 3.3: Common IoT Protocols (MQTT, CoAP, HTTP/REST)</a:t>
            </a:r>
          </a:p>
          <a:p/>
          <a:p>
            <a:r>
              <a:rPr sz="1400">
                <a:latin typeface="DejaVu Sans"/>
              </a:rPr>
              <a:t>### Introduction</a:t>
            </a:r>
          </a:p>
          <a:p/>
          <a:p>
            <a:r>
              <a:rPr sz="1400">
                <a:latin typeface="DejaVu Sans"/>
              </a:rPr>
              <a:t>In the vast and interconnected world of the Internet of Things (IoT), devices need to communicate effectively and efficiently. Just as humans use different languages and communication methods depending on the context, IoT devices rely on various communication protocols tailored to their specific needs, constraints, and applications. Choosing the right protocol is crucial for the success, scalability, and performance of any IoT solution. This lesson will delve into three of the most common and influential IoT protocols: MQTT (Message Queuing Telemetry Transport), CoAP (Constrained Application Protocol), and HTTP/REST (Hypertext Transfer Protocol / Representational State Transfer), exploring their core concepts, use cases, and advantages.</a:t>
            </a:r>
          </a:p>
          <a:p/>
          <a:p>
            <a:r>
              <a:rPr sz="1400">
                <a:latin typeface="DejaVu Sans"/>
              </a:rPr>
              <a:t>### 1. MQTT (Message Queuing Telemetry Transport)</a:t>
            </a:r>
          </a:p>
          <a:p/>
          <a:p>
            <a:r>
              <a:rPr sz="1400">
                <a:latin typeface="DejaVu Sans"/>
              </a:rPr>
              <a:t>MQTT is a lightweight, publish-subscribe network protocol designed for constrained devices and low-bandwidth, high-latency, or unreliable networks. It has become a de-facto standard for IoT messaging due to its efficiency and simplicity.</a:t>
            </a:r>
          </a:p>
          <a:p/>
          <a:p>
            <a:r>
              <a:rPr sz="1400">
                <a:latin typeface="DejaVu Sans"/>
              </a:rPr>
              <a:t>#### Core Concepts:</a:t>
            </a:r>
          </a:p>
          <a:p/>
          <a:p>
            <a:r>
              <a:rPr sz="1400">
                <a:latin typeface="DejaVu Sans"/>
              </a:rPr>
              <a:t>*   **Publish-Subscribe Model**: Unlike traditional client-server models where clients directly request data from servers, MQTT uses a publish-subscribe model. Publishers send messages to a central broker, and subscribers receive messages from the broker. Publishers and subscribers don't need to know about each other directly; they only interact with the broker.</a:t>
            </a:r>
          </a:p>
          <a:p>
            <a:r>
              <a:rPr sz="1400">
                <a:latin typeface="DejaVu Sans"/>
              </a:rPr>
              <a:t>*   **Broker**: The central hub of an MQTT network. It receives all messages from publishers, filters them by topic, and sends them to interested subscribers.</a:t>
            </a:r>
          </a:p>
          <a:p>
            <a:r>
              <a:rPr sz="1400">
                <a:latin typeface="DejaVu Sans"/>
              </a:rPr>
              <a:t>*   **Topic**: A string that the broker uses to filter messages for each connected client. For example, `home/livingroom/temperature` or `factory/machine1/status`. Clients subscribe to specific topics to receive relevant messages.</a:t>
            </a:r>
          </a:p>
          <a:p>
            <a:r>
              <a:rPr sz="1400">
                <a:latin typeface="DejaVu Sans"/>
              </a:rPr>
              <a:t>*   **Publisher**: An IoT device or application that sends data (publishes messages) to a specific topic on the MQTT broker.</a:t>
            </a:r>
          </a:p>
          <a:p>
            <a:r>
              <a:rPr sz="1400">
                <a:latin typeface="DejaVu Sans"/>
              </a:rPr>
              <a:t>*   **Subscriber**: An IoT device or application that receives data (subscribes to topics) from the MQTT broker.</a:t>
            </a:r>
          </a:p>
          <a:p>
            <a:r>
              <a:rPr sz="1400">
                <a:latin typeface="DejaVu Sans"/>
              </a:rPr>
              <a:t>*   **Quality of Service (QoS)**: MQTT offers three levels of QoS to ensure message delivery reliability:</a:t>
            </a:r>
          </a:p>
          <a:p>
            <a:r>
              <a:rPr sz="1400">
                <a:latin typeface="DejaVu Sans"/>
              </a:rPr>
              <a:t>    *   **QoS 0 (At Most Once)**: Messages are sent without acknowledgment. Delivery is not guaranteed, but it's the fastest option. (e.g., non-critical sensor readings).</a:t>
            </a:r>
          </a:p>
          <a:p>
            <a:r>
              <a:rPr sz="1400">
                <a:latin typeface="DejaVu Sans"/>
              </a:rPr>
              <a:t>    *   **QoS 1 (At Least Once)**: Messages are guaranteed to arrive, but duplicates might occur. The sender retransmits until an acknowledgment is received. (e.g., important sensor data).</a:t>
            </a:r>
          </a:p>
          <a:p>
            <a:r>
              <a:rPr sz="1400">
                <a:latin typeface="DejaVu Sans"/>
              </a:rPr>
              <a:t>    *   **QoS 2 (Exactly Once)**: Messages are guaranteed to arrive exactly once. This is the slowest but most reliable option, involving a four-way handshake. (e.g., critical commands).</a:t>
            </a:r>
          </a:p>
          <a:p>
            <a:r>
              <a:rPr sz="1400">
                <a:latin typeface="DejaVu Sans"/>
              </a:rPr>
              <a:t>*   **Last Will and Testament (LWT)**: A feature where a client can inform the broker of a message to be published on a specific topic if the client unexpectedly disconnects.</a:t>
            </a:r>
          </a:p>
          <a:p/>
          <a:p>
            <a:r>
              <a:rPr sz="1400">
                <a:latin typeface="DejaVu Sans"/>
              </a:rPr>
              <a:t>#### Example Scenario:</a:t>
            </a:r>
          </a:p>
          <a:p/>
          <a:p>
            <a:r>
              <a:rPr sz="1400">
                <a:latin typeface="DejaVu Sans"/>
              </a:rPr>
              <a:t>Imagine a smart home system. A temperature sensor in the living room (Publisher) publishes temperature readings to the topic `home/livingroom/temperature` on an MQTT broker. A mobile application (Subscriber) subscribes to this topic and receives real-time temperature updates. If the sensor suddenly loses power, it can be configured to send a 'last will' message to `home/livingroom/status` indicating 'offline'.</a:t>
            </a:r>
          </a:p>
          <a:p/>
          <a:p>
            <a:r>
              <a:rPr sz="1400">
                <a:latin typeface="DejaVu Sans"/>
              </a:rPr>
              <a:t>#### Pros:</a:t>
            </a:r>
          </a:p>
          <a:p>
            <a:r>
              <a:rPr sz="1400">
                <a:latin typeface="DejaVu Sans"/>
              </a:rPr>
              <a:t>*   **Lightweight**: Minimal overhead, ideal for constrained devices and networks.</a:t>
            </a:r>
          </a:p>
          <a:p>
            <a:r>
              <a:rPr sz="1400">
                <a:latin typeface="DejaVu Sans"/>
              </a:rPr>
              <a:t>*   **Efficient**: Reduces network traffic through its publish-subscribe model.</a:t>
            </a:r>
          </a:p>
          <a:p>
            <a:r>
              <a:rPr sz="1400">
                <a:latin typeface="DejaVu Sans"/>
              </a:rPr>
              <a:t>*   **Scalable**: A single broker can handle thousands of clients.</a:t>
            </a:r>
          </a:p>
          <a:p>
            <a:r>
              <a:rPr sz="1400">
                <a:latin typeface="DejaVu Sans"/>
              </a:rPr>
              <a:t>*   **Reliable**: QoS levels ensure message delivery based on application needs.</a:t>
            </a:r>
          </a:p>
          <a:p/>
          <a:p>
            <a:r>
              <a:rPr sz="1400">
                <a:latin typeface="DejaVu Sans"/>
              </a:rPr>
              <a:t>#### Cons:</a:t>
            </a:r>
          </a:p>
          <a:p>
            <a:r>
              <a:rPr sz="1400">
                <a:latin typeface="DejaVu Sans"/>
              </a:rPr>
              <a:t>*   **Centralized Broker**: A single point of failure if not properly managed (though high-availability brokers exist).</a:t>
            </a:r>
          </a:p>
          <a:p>
            <a:r>
              <a:rPr sz="1400">
                <a:latin typeface="DejaVu Sans"/>
              </a:rPr>
              <a:t>*   **Security**: Requires careful implementation of TLS/SSL and authentication for secure communication.</a:t>
            </a:r>
          </a:p>
          <a:p/>
          <a:p>
            <a:r>
              <a:rPr sz="1400">
                <a:latin typeface="DejaVu Sans"/>
              </a:rPr>
              <a:t>### 2. CoAP (Constrained Application Protocol)</a:t>
            </a:r>
          </a:p>
          <a:p/>
          <a:p>
            <a:r>
              <a:rPr sz="1400">
                <a:latin typeface="DejaVu Sans"/>
              </a:rPr>
              <a:t>CoAP is a specialized web transfer protocol designed for use with constrained nodes and networks in the IoT. It is often described as a 'lightweight HTTP' for resource-constrained devices, enabling them to interact with the web in a RESTful manner.</a:t>
            </a:r>
          </a:p>
          <a:p/>
          <a:p>
            <a:r>
              <a:rPr sz="1400">
                <a:latin typeface="DejaVu Sans"/>
              </a:rPr>
              <a:t>#### Core Concepts:</a:t>
            </a:r>
          </a:p>
          <a:p/>
          <a:p>
            <a:r>
              <a:rPr sz="1400">
                <a:latin typeface="DejaVu Sans"/>
              </a:rPr>
              <a:t>*   **RESTful Architecture**: Like HTTP, CoAP is based on the Representational State Transfer (REST) architectural style, using methods like GET, POST, PUT, and DELETE to interact with resources identified by URIs.</a:t>
            </a:r>
          </a:p>
          <a:p>
            <a:r>
              <a:rPr sz="1400">
                <a:latin typeface="DejaVu Sans"/>
              </a:rPr>
              <a:t>*   **UDP-based**: Unlike HTTP which uses TCP, CoAP runs over UDP (User Datagram Protocol). This makes it more efficient for low-power, lossy networks by reducing overhead and connection setup time. To ensure reliability over UDP, CoAP implements its own retransmission and duplicate detection mechanisms.</a:t>
            </a:r>
          </a:p>
          <a:p>
            <a:r>
              <a:rPr sz="1400">
                <a:latin typeface="DejaVu Sans"/>
              </a:rPr>
              <a:t>*   **Message Types**: CoAP defines four message types:</a:t>
            </a:r>
          </a:p>
          <a:p>
            <a:r>
              <a:rPr sz="1400">
                <a:latin typeface="DejaVu Sans"/>
              </a:rPr>
              <a:t>    *   **Confirmable (CON)**: Requires an acknowledgment (ACK) from the receiver. If no ACK is received, the message is retransmitted.</a:t>
            </a:r>
          </a:p>
          <a:p>
            <a:r>
              <a:rPr sz="1400">
                <a:latin typeface="DejaVu Sans"/>
              </a:rPr>
              <a:t>    *   **Non-Confirmable (NON)**: Does not require an acknowledgment. Used for less critical data where occasional loss is acceptable.</a:t>
            </a:r>
          </a:p>
          <a:p>
            <a:r>
              <a:rPr sz="1400">
                <a:latin typeface="DejaVu Sans"/>
              </a:rPr>
              <a:t>    *   **Acknowledgment (ACK)**: Sent in response to a Confirmable message.</a:t>
            </a:r>
          </a:p>
          <a:p>
            <a:r>
              <a:rPr sz="1400">
                <a:latin typeface="DejaVu Sans"/>
              </a:rPr>
              <a:t>    *   **Reset (RST)**: Indicates that a Confirmable message was received but cannot be processed.</a:t>
            </a:r>
          </a:p>
          <a:p>
            <a:r>
              <a:rPr sz="1400">
                <a:latin typeface="DejaVu Sans"/>
              </a:rPr>
              <a:t>*   **Resource Discovery**: CoAP includes mechanisms for clients to discover resources available on a server, similar to how web browsers might find pages.</a:t>
            </a:r>
          </a:p>
          <a:p>
            <a:r>
              <a:rPr sz="1400">
                <a:latin typeface="DejaVu Sans"/>
              </a:rPr>
              <a:t>*   **Observe Option**: Allows a client to subscribe to a resource and receive notifications whenever the resource's state changes, providing a publish-subscribe-like functionality over a request-response protocol.</a:t>
            </a:r>
          </a:p>
          <a:p/>
          <a:p>
            <a:r>
              <a:rPr sz="1400">
                <a:latin typeface="DejaVu Sans"/>
              </a:rPr>
              <a:t>#### Example Scenario:</a:t>
            </a:r>
          </a:p>
          <a:p/>
          <a:p>
            <a:r>
              <a:rPr sz="1400">
                <a:latin typeface="DejaVu Sans"/>
              </a:rPr>
              <a:t>Consider a smart street lighting system. A central controller wants to turn on a specific street light. It sends a CoAP `PUT` request to the light's URI (e.g., `coap://streetlamp1/light/state`) with a payload indicating 'on'. The street light (CoAP server) processes the request and sends back a CoAP `ACK` message. If the controller wants to monitor the light's status, it can use the Observe option to receive updates whenever the light's state changes.</a:t>
            </a:r>
          </a:p>
          <a:p/>
          <a:p>
            <a:r>
              <a:rPr sz="1400">
                <a:latin typeface="DejaVu Sans"/>
              </a:rPr>
              <a:t>#### Pros:</a:t>
            </a:r>
          </a:p>
          <a:p>
            <a:r>
              <a:rPr sz="1400">
                <a:latin typeface="DejaVu Sans"/>
              </a:rPr>
              <a:t>*   **Lightweight**: Minimal header overhead compared to HTTP, suitable for constrained devices.</a:t>
            </a:r>
          </a:p>
          <a:p>
            <a:r>
              <a:rPr sz="1400">
                <a:latin typeface="DejaVu Sans"/>
              </a:rPr>
              <a:t>*   **Efficient**: UDP-based, reducing connection overhead and latency.</a:t>
            </a:r>
          </a:p>
          <a:p>
            <a:r>
              <a:rPr sz="1400">
                <a:latin typeface="DejaVu Sans"/>
              </a:rPr>
              <a:t>*   **RESTful**: Familiar programming model for web developers.</a:t>
            </a:r>
          </a:p>
          <a:p>
            <a:r>
              <a:rPr sz="1400">
                <a:latin typeface="DejaVu Sans"/>
              </a:rPr>
              <a:t>*   **Built-in Reliability**: Mechanisms for retransmission and duplicate detection over UDP.</a:t>
            </a:r>
          </a:p>
          <a:p/>
          <a:p>
            <a:r>
              <a:rPr sz="1400">
                <a:latin typeface="DejaVu Sans"/>
              </a:rPr>
              <a:t>#### Cons:</a:t>
            </a:r>
          </a:p>
          <a:p>
            <a:r>
              <a:rPr sz="1400">
                <a:latin typeface="DejaVu Sans"/>
              </a:rPr>
              <a:t>*   **Complexity**: Implementing reliability over UDP adds complexity compared to raw UDP.</a:t>
            </a:r>
          </a:p>
          <a:p>
            <a:r>
              <a:rPr sz="1400">
                <a:latin typeface="DejaVu Sans"/>
              </a:rPr>
              <a:t>*   **Interoperability**: Less universally supported than HTTP, requiring gateways for broader web integration.</a:t>
            </a:r>
          </a:p>
          <a:p/>
          <a:p>
            <a:r>
              <a:rPr sz="1400">
                <a:latin typeface="DejaVu Sans"/>
              </a:rPr>
              <a:t>### 3. HTTP/REST (Hypertext Transfer Protocol / Representational State Transfer)</a:t>
            </a:r>
          </a:p>
          <a:p/>
          <a:p>
            <a:r>
              <a:rPr sz="1400">
                <a:latin typeface="DejaVu Sans"/>
              </a:rPr>
              <a:t>HTTP (Hypertext Transfer Protocol) is the foundation of data communication for the World Wide Web. When combined with REST (Representational State Transfer) principles, it becomes a powerful and widely adopted architectural style for building web services, including many IoT applications, especially for cloud-to-device communication or less constrained devices.</a:t>
            </a:r>
          </a:p>
          <a:p/>
          <a:p>
            <a:r>
              <a:rPr sz="1400">
                <a:latin typeface="DejaVu Sans"/>
              </a:rPr>
              <a:t>#### Core Concepts:</a:t>
            </a:r>
          </a:p>
          <a:p/>
          <a:p>
            <a:r>
              <a:rPr sz="1400">
                <a:latin typeface="DejaVu Sans"/>
              </a:rPr>
              <a:t>*   **Client-Server Model**: A client sends a request to a server, and the server sends a response back to the client. This is a synchronous, request-response model.</a:t>
            </a:r>
          </a:p>
          <a:p>
            <a:r>
              <a:rPr sz="1400">
                <a:latin typeface="DejaVu Sans"/>
              </a:rPr>
              <a:t>*   **Stateless**: Each request from a client to a server must contain all the information necessary to understand the request. The server does not store any client context between requests.</a:t>
            </a:r>
          </a:p>
          <a:p>
            <a:r>
              <a:rPr sz="1400">
                <a:latin typeface="DejaVu Sans"/>
              </a:rPr>
              <a:t>*   **Resources**: Everything in a RESTful system is treated as a resource, identified by a unique URI (Uniform Resource Identifier). Resources can be manipulated using standard HTTP methods.</a:t>
            </a:r>
          </a:p>
          <a:p>
            <a:r>
              <a:rPr sz="1400">
                <a:latin typeface="DejaVu Sans"/>
              </a:rPr>
              <a:t>*   **Standard HTTP Methods**: </a:t>
            </a:r>
          </a:p>
          <a:p>
            <a:r>
              <a:rPr sz="1400">
                <a:latin typeface="DejaVu Sans"/>
              </a:rPr>
              <a:t>    *   **GET**: Retrieve data from a resource.</a:t>
            </a:r>
          </a:p>
          <a:p>
            <a:r>
              <a:rPr sz="1400">
                <a:latin typeface="DejaVu Sans"/>
              </a:rPr>
              <a:t>    *   **POST**: Create a new resource or submit data.</a:t>
            </a:r>
          </a:p>
          <a:p>
            <a:r>
              <a:rPr sz="1400">
                <a:latin typeface="DejaVu Sans"/>
              </a:rPr>
              <a:t>    *   **PUT**: Update an existing resource or create one if it doesn't exist.</a:t>
            </a:r>
          </a:p>
          <a:p>
            <a:r>
              <a:rPr sz="1400">
                <a:latin typeface="DejaVu Sans"/>
              </a:rPr>
              <a:t>    *   **DELETE**: Remove a resource.</a:t>
            </a:r>
          </a:p>
          <a:p>
            <a:r>
              <a:rPr sz="1400">
                <a:latin typeface="DejaVu Sans"/>
              </a:rPr>
              <a:t>*   **Data Formats**: Commonly uses JSON (JavaScript Object Notation) or XML for exchanging data, which are human-readable and widely supported.</a:t>
            </a:r>
          </a:p>
          <a:p>
            <a:r>
              <a:rPr sz="1400">
                <a:latin typeface="DejaVu Sans"/>
              </a:rPr>
              <a:t>*   **TCP-based**: HTTP runs over TCP (Transmission Control Protocol), which provides reliable, ordered, and error-checked delivery of data.</a:t>
            </a:r>
          </a:p>
          <a:p/>
          <a:p>
            <a:r>
              <a:rPr sz="1400">
                <a:latin typeface="DejaVu Sans"/>
              </a:rPr>
              <a:t>#### Example Scenario:</a:t>
            </a:r>
          </a:p>
          <a:p/>
          <a:p>
            <a:r>
              <a:rPr sz="1400">
                <a:latin typeface="DejaVu Sans"/>
              </a:rPr>
              <a:t>A smart thermostat needs to fetch the current weather forecast from an online weather service to optimize its heating/cooling schedule. The thermostat (client) makes an HTTP `GET` request to the weather service's API endpoint (e.g., `https://api.weather.com/forecast?city=London`). The weather service (server) processes the request and returns the weather data in JSON format. Similarly, a user's mobile app might send an HTTP `PUT` request to a cloud-based IoT platform to change the thermostat's target temperature.</a:t>
            </a:r>
          </a:p>
          <a:p/>
          <a:p>
            <a:r>
              <a:rPr sz="1400">
                <a:latin typeface="DejaVu Sans"/>
              </a:rPr>
              <a:t>#### Pros:</a:t>
            </a:r>
          </a:p>
          <a:p>
            <a:r>
              <a:rPr sz="1400">
                <a:latin typeface="DejaVu Sans"/>
              </a:rPr>
              <a:t>*   **Ubiquitous**: Widely understood, supported, and has extensive tooling and libraries.</a:t>
            </a:r>
          </a:p>
          <a:p>
            <a:r>
              <a:rPr sz="1400">
                <a:latin typeface="DejaVu Sans"/>
              </a:rPr>
              <a:t>*   **Simple**: Easy to implement for many developers due to its familiarity.</a:t>
            </a:r>
          </a:p>
          <a:p>
            <a:r>
              <a:rPr sz="1400">
                <a:latin typeface="DejaVu Sans"/>
              </a:rPr>
              <a:t>*   **Firewall Friendly**: Typically uses standard ports (80 for HTTP, 443 for HTTPS), making it easy to pass through firewalls.</a:t>
            </a:r>
          </a:p>
          <a:p>
            <a:r>
              <a:rPr sz="1400">
                <a:latin typeface="DejaVu Sans"/>
              </a:rPr>
              <a:t>*   **Rich Ecosystem**: Benefits from the vast web development ecosystem, including security (HTTPS), caching, and content delivery networks.</a:t>
            </a:r>
          </a:p>
          <a:p/>
          <a:p>
            <a:r>
              <a:rPr sz="1400">
                <a:latin typeface="DejaVu Sans"/>
              </a:rPr>
              <a:t>#### Cons:</a:t>
            </a:r>
          </a:p>
          <a:p>
            <a:r>
              <a:rPr sz="1400">
                <a:latin typeface="DejaVu Sans"/>
              </a:rPr>
              <a:t>*   **High Overhead**: HTTP headers can be quite large, leading to significant overhead for small data packets, especially for constrained devices.</a:t>
            </a:r>
          </a:p>
          <a:p>
            <a:r>
              <a:rPr sz="1400">
                <a:latin typeface="DejaVu Sans"/>
              </a:rPr>
              <a:t>*   **Not Real-time**: Its request-response model is less suitable for real-time, event-driven communication compared to publish-subscribe protocols.</a:t>
            </a:r>
          </a:p>
          <a:p>
            <a:r>
              <a:rPr sz="1400">
                <a:latin typeface="DejaVu Sans"/>
              </a:rPr>
              <a:t>*   **Power Consumption**: TCP connection setup and maintenance can consume more power than UDP-based protocols.</a:t>
            </a:r>
          </a:p>
          <a:p/>
          <a:p>
            <a:r>
              <a:rPr sz="1400">
                <a:latin typeface="DejaVu Sans"/>
              </a:rPr>
              <a:t>### Comparison and When to Use Which</a:t>
            </a:r>
          </a:p>
          <a:p/>
          <a:p>
            <a:r>
              <a:rPr sz="1400">
                <a:latin typeface="DejaVu Sans"/>
              </a:rPr>
              <a:t>| Feature           | MQTT                               | CoAP                               | HTTP/REST                          |</a:t>
            </a:r>
          </a:p>
          <a:p>
            <a:r>
              <a:rPr sz="1400">
                <a:latin typeface="DejaVu Sans"/>
              </a:rPr>
              <a:t>| :---------------- | :--------------------------------- | :--------------------------------- | :--------------------------------- |</a:t>
            </a:r>
          </a:p>
          <a:p>
            <a:r>
              <a:rPr sz="1400">
                <a:latin typeface="DejaVu Sans"/>
              </a:rPr>
              <a:t>| **Model**         | Publish-Subscribe                  | Request-Response (RESTful)         | Request-Response (RESTful)         |</a:t>
            </a:r>
          </a:p>
          <a:p>
            <a:r>
              <a:rPr sz="1400">
                <a:latin typeface="DejaVu Sans"/>
              </a:rPr>
              <a:t>| **Transport**     | TCP                                | UDP                                | TCP                                |</a:t>
            </a:r>
          </a:p>
          <a:p>
            <a:r>
              <a:rPr sz="1400">
                <a:latin typeface="DejaVu Sans"/>
              </a:rPr>
              <a:t>| **Overhead**      | Very Low                           | Low                                | High                               |</a:t>
            </a:r>
          </a:p>
          <a:p>
            <a:r>
              <a:rPr sz="1400">
                <a:latin typeface="DejaVu Sans"/>
              </a:rPr>
              <a:t>| **Reliability**   | QoS levels (0, 1, 2)               | Built-in retransmissions over UDP  | TCP's reliability                  |</a:t>
            </a:r>
          </a:p>
          <a:p>
            <a:r>
              <a:rPr sz="1400">
                <a:latin typeface="DejaVu Sans"/>
              </a:rPr>
              <a:t>| **Use Cases**     | Telemetry, sensor data, real-time updates, constrained devices, event-driven systems | Constrained devices, smart objects, resource discovery, low-power networks | Cloud integration, less constrained devices, web services, user interfaces, existing web infrastructure |</a:t>
            </a:r>
          </a:p>
          <a:p>
            <a:r>
              <a:rPr sz="1400">
                <a:latin typeface="DejaVu Sans"/>
              </a:rPr>
              <a:t>| **Scalability**   | Highly scalable via broker         | Peer-to-peer or client-server      | Highly scalable via load balancers |</a:t>
            </a:r>
          </a:p>
          <a:p/>
          <a:p>
            <a:r>
              <a:rPr sz="1400">
                <a:latin typeface="DejaVu Sans"/>
              </a:rPr>
              <a:t>*   **Choose MQTT** when you need efficient, real-time, many-to-many communication, especially for sensor data collection, command and control, and applications involving a large number of constrained devices over potentially unreliable networks.</a:t>
            </a:r>
          </a:p>
          <a:p>
            <a:r>
              <a:rPr sz="1400">
                <a:latin typeface="DejaVu Sans"/>
              </a:rPr>
              <a:t>*   **Choose CoAP** when you need a RESTful, web-like interaction with highly constrained devices, where HTTP's overhead is too much, and UDP's efficiency is critical.</a:t>
            </a:r>
          </a:p>
          <a:p>
            <a:r>
              <a:rPr sz="1400">
                <a:latin typeface="DejaVu Sans"/>
              </a:rPr>
              <a:t>*   **Choose HTTP/REST** when integrating IoT devices with existing web services, cloud platforms, or when devices are less constrained and can handle the overhead. It's excellent for fetching configurations, sending commands from a user interface, or interacting with public APIs.</a:t>
            </a:r>
          </a:p>
          <a:p/>
          <a:p>
            <a:r>
              <a:rPr sz="1400">
                <a:latin typeface="DejaVu Sans"/>
              </a:rPr>
              <a:t>### Conclusion</a:t>
            </a:r>
          </a:p>
          <a:p/>
          <a:p>
            <a:r>
              <a:rPr sz="1400">
                <a:latin typeface="DejaVu Sans"/>
              </a:rPr>
              <a:t>The choice of communication protocol is a fundamental decision in IoT solution design. MQTT, CoAP, and HTTP/REST each offer distinct advantages and are optimized for different scenarios. MQTT excels in lightweight, publish-subscribe messaging for telemetry and real-time updates. CoAP provides a RESTful interface for highly constrained devices over UDP, bridging the gap between the web and the edge. HTTP/REST, with its widespread adoption and robust ecosystem, remains a strong choice for cloud integration and less constrained IoT applications. Understanding the strengths and weaknesses of these common protocols is essential for building efficient, scalable, and reliable IoT systems that meet the diverse demands of the connected world.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Data Transmission and Security in IoT Networks</a:t>
            </a:r>
          </a:p>
        </p:txBody>
      </p:sp>
      <p:sp>
        <p:nvSpPr>
          <p:cNvPr id="3" name="Content Placeholder 2"/>
          <p:cNvSpPr>
            <a:spLocks noGrp="1"/>
          </p:cNvSpPr>
          <p:nvPr>
            <p:ph idx="1"/>
          </p:nvPr>
        </p:nvSpPr>
        <p:spPr/>
        <p:txBody>
          <a:bodyPr wrap="square"/>
          <a:lstStyle/>
          <a:p>
            <a:r>
              <a:rPr sz="1400">
                <a:latin typeface="DejaVu Sans"/>
              </a:rPr>
              <a:t>Welcome to Lesson 3.4: Data Transmission and Security in IoT Networks. In the previous lessons, we explored the architecture and components of IoT systems. Now, we delve into two critical aspects that determine the reliability and trustworthiness of any IoT deployment: how data moves through the network and how it is protected from threats.The Internet of Things thrives on data. Sensors collect information, actuators respond to commands, and all this activity generates a massive amount of data that needs to be transmitted efficiently and securely. Without robust data transmission mechanisms, IoT devices cannot communicate effectively, and without strong security measures, the entire system is vulnerable to attacks, leading to data breaches, operational disruptions, and loss of trust.This lesson will cover the various methods and protocols used for data transmission in IoT, the unique security challenges faced by IoT networks, and the essential measures and best practices to ensure data integrity, confidentiality, and availability.Part 1: Data Transmission in IoT NetworksData transmission in IoT refers to the process of sending data from IoT devices to other devices, edge gateways, cloud platforms, or vice versa. This process involves various communication technologies and protocols, each suited for different applications and environments.1.1. How Data Moves in IoT NetworksThe journey of data in an IoT network typically follows these steps:Data Generation: IoT sensors collect raw data (e.g., temperature, humidity, location).Data Pre-processing (Optional): Edge devices or gateways might perform initial filtering, aggregation, or analysis to reduce the volume of data sent to the cloud.Data Transmission: The processed or raw data is sent over a communication medium using specific protocols.Data Reception and Storage: Data is received by a central server, cloud platform, or another device and stored for further analysis or action.Data Analysis and Action: Stored data is analyzed to derive insights, trigger alerts, or automate actions.1.2. Common Communication Protocols and TechnologiesIoT communication protocols can be broadly categorized based on their range and application:Short-Range Wireless Protocols:Bluetooth/Bluetooth Low Energy (BLE): Ideal for personal area networks (PANs) and device-to-device communication over short distances (up to 100 meters). BLE is energy-efficient, making it suitable for battery-powered devices.Example: Smart home devices connecting to a central hub, fitness trackers syncing with smartphones.Zigbee: A low-power, low-data-rate wireless technology based on the IEEE 802.15.4 standard. It supports mesh networking, allowing devices to relay data for others, extending range and improving reliability.Example: Smart lighting systems, home automation, industrial monitoring.Wi-Fi (IEEE 802.11): High-bandwidth, widely adopted for local area networks (LANs). Suitable for devices requiring high data rates and continuous connectivity, but generally more power-intensive.Example: Smart TVs, security cameras, smart appliances.NFC (Near Field Communication): Very short-range (a few centimeters) for secure, contactless communication.Example: Contactless payments, access control, device pairing.Long-Range Wireless Protocols:Cellular (2G, 3G, 4G, 5G): Utilizes existing cellular infrastructure for wide-area coverage. Suitable for applications requiring high data rates and mobility over long distances. 5G is particularly promising for IoT due to its low latency and massive connectivity capabilities.Example: Connected cars, smart city applications, remote asset tracking.LoRaWAN (Long Range Wide Area Network): A low-power, wide-area networking (LPWAN) protocol designed for battery-operated IoT devices. It offers long-range communication (up to 15 km) with low data rates.Example: Smart agriculture, environmental monitoring, utility metering.NB-IoT (Narrowband IoT): Another LPWAN technology optimized for low-power, low-cost devices with deep indoor coverage. It uses a narrow band of the cellular spectrum.Example: Smart parking, waste management, asset tracking.Satellite Communication: Used for remote areas where terrestrial networks are unavailable.Example: Maritime IoT, remote oil and gas monitoring, global asset tracking.Wired Protocols:Ethernet: High-speed, reliable wired connection, often used for gateways, industrial IoT (IIoT) applications, and devices requiring stable, high-bandwidth connectivity.Example: Industrial control systems, building management systems.Serial Communication (e.g., RS-232, RS-485): Traditional wired protocols for connecting devices over shorter distances, common in industrial settings.Example: Connecting sensors to PLCs (Programmable Logic Controllers).Application Layer Protocols:These protocols define how applications communicate and exchange data.MQTT (Message Queuing Telemetry Transport): A lightweight, publish/subscribe messaging protocol designed for constrained devices and low-bandwidth, high-latency networks. It's highly popular in IoT.Example: Sensor data publishing to a cloud broker, remote control of devices.CoAP (Constrained Application Protocol): A specialized web transfer protocol for constrained devices and networks, similar to HTTP but optimized for resource-constrained environments.Example: Smart home devices communicating with a gateway, sensor data retrieval.HTTP/HTTPS: The standard web protocol, often used for IoT devices that have sufficient resources and require direct communication with web services or cloud platforms. HTTPS provides encryption.Example: IoT dashboards, device management APIs.Part 2: IoT Security ChallengesThe distributed nature, diverse device types, and often resource-constrained characteristics of IoT systems introduce unique and significant security challenges.2.1. Vulnerabilities Across IoT LayersIoT security vulnerabilities can exist at every layer of the system:Device Layer:Hardware vulnerabilities: Tampering, side-channel attacks, insecure boot processes.Software vulnerabilities: Unpatched firmware, weak default credentials, buffer overflows, malware.Physical vulnerabilities: Lack of physical tamper detection, easy access to ports.Network Layer:Insecure communication protocols: Unencrypted data transmission, weak authentication.Network attacks: DDoS (Distributed Denial of Service), man-in-the-middle attacks, eavesdropping, spoofing.Lack of network segmentation: Allowing attackers to move freely once inside the network.Cloud/Application Layer:Insecure APIs: Weak authentication, authorization bypasses.Data storage vulnerabilities: Unencrypted data at rest, insecure databases.Cloud infrastructure misconfigurations: Open ports, weak access controls.Web application vulnerabilities: SQL injection, cross-site scripting (XSS).2.2. Common IoT ThreatsData Tampering: Unauthorized modification of data, leading to incorrect decisions or system malfunctions.Example: An attacker changes a temperature reading to trigger a false alarm or disable a safety mechanism.Unauthorized Access: Gaining control over devices or data without proper authentication.Example: An attacker uses default credentials to access a smart camera feed or control a smart lock.Eavesdropping/Sniffing: Intercepting data transmitted over the network.Example: An attacker captures unencrypted sensor data or control commands.Denial of Service (DoS/DDoS): Overwhelming a device or network with traffic, making it unavailable to legitimate users.Example: A botnet of compromised IoT devices launches a DDoS attack on a smart home hub, rendering it unresponsive.Malware/Ransomware: Infecting IoT devices with malicious software to steal data, disrupt operations, or demand ransom.Example: Mirai botnet, which exploited weak IoT device security to launch large-scale DDoS attacks.Physical Tampering: Directly accessing and modifying a device's hardware or firmware.Example: An attacker physically opens a smart meter to alter readings or extract sensitive information.Data Privacy Breaches: Unauthorized disclosure of personal or sensitive data collected by IoT devices.Example: A smart speaker recording private conversations is accessed by an unauthorized party.Part 3: Security Measures and Best PracticesGiven the array of threats, a multi-layered approach to IoT security is essential.3.1. Authentication and AuthorizationAuthentication: Verifying the identity of a device, user, or application.Strong Passwords/Credentials: Enforcing complex, unique passwords and discouraging default credentials.Multi-Factor Authentication (MFA): Requiring more than one method of verification (e.g., password + fingerprint).Device Identity: Using unique device IDs, digital certificates, or hardware-based security modules (e.g., TPMs – Trusted Platform Modules) to establish trust.Authorization: Defining what an authenticated entity is permitted to do.Role-Based Access Control (RBAC): Granting permissions based on the user's or device's role (e.g., administrator, sensor, actuator).Least Privilege Principle: Giving entities only the minimum necessary permissions to perform their function.3.2. EncryptionData in Transit: Encrypting data as it travels across the network to prevent eavesdropping and tampering.TLS/SSL (Transport Layer Security/Secure Sockets Layer): Widely used for securing HTTP (HTTPS) and other TCP-based communications.DTLS (Datagram Transport Layer Security): A variant of TLS for UDP-based protocols like CoAP.End-to-End Encryption: Encrypting data at the source and decrypting it only at the final destination, ensuring privacy across all intermediate hops.Data at Rest: Encrypting data stored on devices, gateways, or cloud servers to protect against unauthorized access.Example: Encrypting sensor data stored on a local SD card or in a cloud database.3.3. Secure Boot and Firmware UpdatesSecure Boot: Ensuring that only trusted and signed firmware can be loaded and executed on a device, preventing malicious code injection during startup.Firmware Over-the-Air (FOTA) Updates: Providing a secure mechanism to deliver and install firmware updates remotely, patching vulnerabilities and adding new features.Updates must be signed and verified to prevent malicious updates.3.4. Network SecurityFirewalls: Filtering incoming and outgoing network traffic based on predefined rules, blocking unauthorized access.Intrusion Detection/Prevention Systems (IDS/IPS): Monitoring network traffic for suspicious activity and alerting administrators or blocking threats.Network Segmentation: Dividing the network into smaller, isolated segments to limit the spread of an attack. IoT devices should be isolated from critical IT infrastructure.VPNs (Virtual Private Networks): Creating secure, encrypted tunnels for data transmission over public networks.3.5. Physical SecurityTamper Detection: Implementing sensors or mechanisms to detect physical intrusion or modification of devices.Secure Enclosures: Housing devices in robust, tamper-resistant enclosures.Secure Installation: Placing devices in secure locations to prevent unauthorized physical access.3.6. Data Privacy and ComplianceData Minimization: Collecting only the necessary data.Data Anonymization/Pseudonymization: Removing or obscuring personally identifiable information (PII).Compliance with Regulations: Adhering to data privacy regulations like GDPR (General Data Protection Regulation) and CCPA (California Consumer Privacy Act) when handling personal data.3.7. Security by DesignIntegrating security considerations from the very beginning of the IoT system design and development lifecycle, rather than as an afterthought.Regular Security Audits and Penetration Testing: Proactively identifying vulnerabilities in the system.Incident Response Plan: Having a clear plan to detect, respond to, and recover from security incidents.ConclusionData transmission and security are foundational pillars of any successful IoT deployment. Efficient and reliable data transmission ensures that the right information reaches the right place at the right time, enabling intelligent decision-making and automation. Simultaneously, robust security measures are paramount to protect sensitive data, maintain operational integrity, and build trust in IoT systems.By understanding the various communication protocols and technologies, recognizing the unique security challenges, and implementing a comprehensive set of security best practices—from strong authentication and encryption to secure firmware updates and network segmentation—we can build resilient and trustworthy IoT ecosystems. As IoT continues to expand, the focus on secure-by-design principles and continuous vigilance against evolving threats will be crucial for harnessing its full potential safely.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Edge Computing in IoT</a:t>
            </a:r>
          </a:p>
        </p:txBody>
      </p:sp>
      <p:sp>
        <p:nvSpPr>
          <p:cNvPr id="3" name="Content Placeholder 2"/>
          <p:cNvSpPr>
            <a:spLocks noGrp="1"/>
          </p:cNvSpPr>
          <p:nvPr>
            <p:ph idx="1"/>
          </p:nvPr>
        </p:nvSpPr>
        <p:spPr/>
        <p:txBody>
          <a:bodyPr wrap="square"/>
          <a:lstStyle/>
          <a:p>
            <a:r>
              <a:rPr sz="1400">
                <a:latin typeface="DejaVu Sans"/>
              </a:rPr>
              <a:t>Welcome to Lesson 3.5: Edge Computing in IoT. In our journey through the Internet of Things, we've explored how devices connect and generate data. Now, we'll delve into a crucial architectural paradigm that brings computation closer to the data source: Edge Computing. This lesson will explain what edge computing is, why it's indispensable for many IoT applications, how it works, and its key benefits and use cases. What is Edge Computing? At its core, edge computing is a distributed computing paradigm that brings computation and data storage closer to the sources of data. Instead of sending all raw data to a centralized cloud server for processing, edge devices or local servers process data at the 'edge' of the network, often right where the data is generated. Think of it as moving some of the brainpower from a distant supercomputer (the cloud) to a local, smaller computer (the edge device) that's closer to the action. This contrasts sharply with traditional cloud computing, where data is typically sent to remote data centers for processing and storage. Why Edge Computing for IoT? The proliferation of IoT devices generates massive volumes of data, often in real-time. Sending all this data to the cloud for processing can be inefficient, slow, and costly. Edge computing addresses several critical challenges in IoT: 1. Latency Reduction: For applications requiring immediate responses, such as autonomous vehicles or industrial automation, even a few milliseconds of delay can be critical. Processing data at the edge drastically reduces the time it takes for data to travel to a distant cloud server and back, enabling real-time decision-making. 2. Bandwidth Optimization: IoT deployments can involve thousands or millions of devices. Transmitting all raw data to the cloud consumes significant network bandwidth, which can be expensive and lead to network congestion. Edge computing allows for pre-processing, filtering, and aggregation of data locally, sending only relevant or summarized data to the cloud, thus conserving bandwidth. 3. Enhanced Security and Privacy: Processing sensitive data locally at the edge can reduce the risk of data breaches during transmission to the cloud. It also allows organizations to comply with data residency and privacy regulations by keeping certain data within specific geographical boundaries. 4. Improved Reliability and Offline Operation: Edge devices can continue to operate and process data even if the connection to the central cloud is intermittent or lost. This ensures continuous operation for critical applications, such as monitoring life-support systems or controlling essential industrial machinery. 5. Cost Efficiency: By reducing bandwidth usage and the amount of data stored and processed in the cloud, edge computing can lead to significant cost savings in cloud infrastructure and data transfer fees. How Edge Computing Works in IoT: In an IoT edge computing setup, data from sensors and devices is collected by an 'edge gateway' or 'edge node'. This edge device is typically a more powerful computer than the individual IoT sensors, capable of running analytics, machine learning models, and local applications. It processes the data, makes immediate decisions, and then either stores the processed data locally, sends aggregated data to the cloud for further analysis and long-term storage, or both. The cloud still plays a vital role for global insights, complex analytics, long-term data archiving, and managing edge devices. Components of an Edge IoT System: * IoT Devices/Sensors: The primary data generators (e.g., temperature sensors, cameras, accelerometers). * Edge Gateways/Nodes: Intermediate devices that collect, process, and filter data from IoT devices. These can be industrial PCs, specialized routers, or even powerful microcontrollers. * Local Data Storage: Storage at the edge for temporary or permanent data retention, enabling offline operation and faster access. * Edge Analytics/AI: Software running on edge devices to perform real-time data analysis, pattern recognition, and machine learning inference. * Cloud Integration: Mechanisms to securely transmit processed or aggregated data to the cloud for broader insights, historical analysis, and centralized management. Examples and Use Cases: * Smart Factories: Edge computing enables real-time monitoring of machinery for predictive maintenance, detecting anomalies before failures occur. It also facilitates real-time quality control on assembly lines, identifying defects instantly. * Autonomous Vehicles: Self-driving cars rely heavily on edge computing to process sensor data (cameras, LiDAR, radar) in milliseconds to make critical navigation and safety decisions without waiting for cloud communication. * Smart Cities: Edge devices can analyze traffic patterns from street cameras to optimize traffic light timings in real-time, or process environmental sensor data to detect pollution hotspots and respond quickly. * Healthcare: Remote patient monitoring systems use edge devices to process vital signs locally, alerting caregivers immediately to critical changes, even if internet connectivity is unstable. * Retail: Edge analytics can track customer movement and inventory levels in stores, providing real-time insights for personalized promotions or restocking, without sending all raw video or sensor data to the cloud. In summary, edge computing is a transformative paradigm for the Internet of Things, addressing the critical needs for low latency, reduced bandwidth, enhanced security, and improved reliability. By bringing computation closer to the data source, it empowers IoT applications to operate more efficiently, intelligently, and autonomously, unlocking new possibilities across various industries. While the cloud remains essential for global data aggregation and complex analytics, the edge provides the immediate intelligence and responsiveness that modern IoT demands.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IoT Platforms and Data Management</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Introduction to IoT Cloud Platforms (e.g., AWS IoT, Azure IoT, Google Cloud IoT)</a:t>
            </a:r>
          </a:p>
        </p:txBody>
      </p:sp>
      <p:sp>
        <p:nvSpPr>
          <p:cNvPr id="3" name="Content Placeholder 2"/>
          <p:cNvSpPr>
            <a:spLocks noGrp="1"/>
          </p:cNvSpPr>
          <p:nvPr>
            <p:ph idx="1"/>
          </p:nvPr>
        </p:nvSpPr>
        <p:spPr/>
        <p:txBody>
          <a:bodyPr wrap="square"/>
          <a:lstStyle/>
          <a:p>
            <a:r>
              <a:rPr sz="1400">
                <a:latin typeface="DejaVu Sans"/>
              </a:rPr>
              <a:t>Welcome to Lesson 4.1: Introduction to IoT Cloud Platforms. In the previous lessons, we explored the foundational components of the Internet of Things, including devices, connectivity, and data. Now, we're going to delve into the crucial role of IoT Cloud Platforms, which serve as the backbone for managing, processing, and analyzing the vast amounts of data generated by IoT devices.Introduction to IoT Cloud Platforms:Imagine a world where millions, even billions, of devices are constantly collecting and transmitting data – from smart sensors in a factory to wearable health monitors. How do you manage all these devices? How do you securely collect their data, store it, analyze it for insights, and then use those insights to trigger actions or improve services? This is where IoT Cloud Platforms come in.An IoT Cloud Platform is a comprehensive, cloud-based service that provides the necessary infrastructure and tools to connect, manage, and process data from IoT devices at scale. These platforms offer a suite of services designed to simplify the development, deployment, and management of IoT solutions, allowing businesses and developers to focus on building innovative applications rather than managing complex backend infrastructure.Why are they essential?1.  Scalability: They can handle millions of devices and petabytes of data.2.  Data Management: They provide tools for ingesting, storing, and processing data efficiently.3.  Security: They offer robust security features for device authentication, data encryption, and access control.4.  Analytics &amp; AI: They integrate with advanced analytics and machine learning services to derive insights from data.5.  Device Management: They simplify the provisioning, monitoring, and updating of devices.Core Concepts of IoT Cloud Platforms:While specific services vary between providers, most IoT Cloud Platforms share several core functionalities:1.  Device Connectivity &amp; Management: This is the entry point for all IoT devices.a.  Device Registry: A database that stores information about all registered devices, including their unique IDs, capabilities, and status.b.  Authentication &amp; Authorization: Mechanisms to verify the identity of devices and control their access to platform services.c.  Communication Protocols: Support for standard IoT protocols like MQTT (Message Queuing Telemetry Transport), HTTP, and CoAP (Constrained Application Protocol) for efficient data exchange.d.  Device Shadow/Digital Twin: A virtual representation of a device's state (e.g., temperature, on/off status) stored in the cloud, allowing applications to interact with the device even when it's offline.e.  Over-the-Air (OTA) Updates: Tools for remotely updating device firmware and software.2.  Data Ingestion &amp; Processing: Once data arrives from devices, it needs to be processed.a.  Message Broker: A service (often based on MQTT) that receives messages from devices and routes them to appropriate services.b.  Rules Engine: Allows users to define rules that trigger actions based on incoming data (e.g., if temperature &gt; 30°C, send an alert). This can include filtering, transforming, and routing data to different destinations.c.  Stream Processing: Services that can process data in real-time as it arrives, enabling immediate insights and actions.3.  Data Storage: IoT data needs to be stored for historical analysis and future use.a.  Time-Series Databases: Optimized for storing and querying data points indexed by time (e.g., sensor readings over time).b.  Data Lakes: Repositories for storing large volumes of raw, unstructured, or semi-structured data from various sources.4.  Analytics &amp; Visualization: Turning raw data into actionable insights.a.  Data Analytics: Integration with services for batch processing, real-time analytics, and machine learning to uncover patterns and predict future events.b.  Dashboards &amp; Visualization: Tools to create interactive dashboards that display IoT data in a user-friendly format, helping users monitor device status and system performance.5.  Application Integration: Connecting IoT data and insights with other business systems.a.  APIs (Application Programming Interfaces): Allow external applications to interact with the IoT platform, retrieve data, and send commands to devices.b.  Integration with Enterprise Systems: Connecting IoT data to CRM, ERP, or other business intelligence tools.6.  Security: A paramount concern in IoT.a.  End-to-End Encryption: Securing data in transit and at rest.b.  Identity Management: Managing unique identities for each device.c.  Access Control: Granular permissions to control what devices and users can do.Examples of Major IoT Cloud Platforms:Let's look at some of the leading IoT Cloud Platforms:1.  AWS IoT (Amazon Web Services IoT):AWS IoT is a comprehensive suite of services that connect billions of IoT devices to the AWS cloud.Key Services:a.  AWS IoT Core: The central hub for connecting devices, managing their identities, and routing messages. It supports MQTT, HTTP, and LoRaWAN.b.  AWS IoT Device Shadow: Maintains a virtual version of each device's state, allowing applications to read and set device states whether the device is connected or not.c.  AWS IoT Greengrass: Extends AWS cloud capabilities to edge devices, allowing them to perform local compute, messaging, data caching, sync, and ML inference.d.  AWS IoT Analytics: A fully managed service that automates the steps required to analyze data from IoT devices, including data collection, processing, storage, and analysis.e.  AWS IoT Device Defender: Helps secure IoT configurations by auditing device configurations and detecting anomalous device behavior.2.  Azure IoT (Microsoft Azure IoT):Azure IoT provides a broad range of services to connect, monitor, and manage billions of IoT assets.Key Services:a.  Azure IoT Hub: A managed service that acts as a central message hub for bi-directional communication between your IoT application and the devices it manages. It supports MQTT, AMQP, and HTTP.b.  Azure IoT Central: A fully managed IoT application platform that makes it easy to build, connect, and manage IoT solutions without extensive cloud development expertise.c.  Azure IoT Edge: Extends cloud intelligence and analytics to edge devices, enabling local processing and faster responses.d.  Azure Digital Twins: A platform-as-a-service (PaaS) offering that enables the creation of comprehensive models of physical environments.e.  Azure Stream Analytics: A real-time analytics service that helps you uncover insights from data streams.3.  Google Cloud IoT:Google Cloud offers a powerful set of services for building IoT solutions, leveraging its strengths in data analytics, machine learning, and global infrastructure.Note: While Google Cloud IoT Core was a prominent service for device connection and management, it was deprecated in 2023. Google's current strategy emphasizes a more modular approach, utilizing its core cloud services for IoT solutions.Key Services (in the current modular approach):a.  Cloud Pub/Sub: A global real-time messaging service that can ingest data from millions of devices. It acts as a scalable message broker.b.  Cloud Dataflow: A fully managed service for executing data processing pipelines, ideal for transforming and enriching IoT data.c.  BigQuery: A serverless, highly scalable, and cost-effective multi-cloud data warehouse designed for business agility. Perfect for storing and analyzing large IoT datasets.d.  Cloud AI Platform: Provides tools for building, deploying, and managing machine learning models, which can be applied to IoT data for predictive maintenance, anomaly detection, etc.e.  Cloud Functions/Cloud Run: Serverless compute options for running event-driven code in response to IoT data or commands.Conclusion:IoT Cloud Platforms are indispensable for modern IoT deployments. They abstract away the complexities of infrastructure management, security, and data processing, allowing organizations to focus on extracting value from their IoT data. By understanding the core concepts and the offerings of major providers like AWS, Azure, and Google Cloud, you are well-equipped to choose the right platform for your specific IoT solution. These platforms are not just about connecting devices; they are about transforming raw data into actionable intelligence, driving innovation, and enabling the next generation of smart applications.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Data Ingestion and Processing in IoT</a:t>
            </a:r>
          </a:p>
        </p:txBody>
      </p:sp>
      <p:sp>
        <p:nvSpPr>
          <p:cNvPr id="3" name="Content Placeholder 2"/>
          <p:cNvSpPr>
            <a:spLocks noGrp="1"/>
          </p:cNvSpPr>
          <p:nvPr>
            <p:ph idx="1"/>
          </p:nvPr>
        </p:nvSpPr>
        <p:spPr/>
        <p:txBody>
          <a:bodyPr wrap="square"/>
          <a:lstStyle/>
          <a:p>
            <a:r>
              <a:rPr sz="1400">
                <a:latin typeface="DejaVu Sans"/>
              </a:rPr>
              <a:t>Introduction: Welcome to Lesson 4.2: Data Ingestion and Processing in IoT. In the vast landscape of the Internet of Things, devices are constantly generating an immense volume of data. This data, ranging from simple temperature readings to complex video feeds, holds the key to unlocking valuable insights, enabling automation, and driving informed decision-making. However, raw data is rarely useful on its own. It must first be efficiently collected (ingested) and then transformed, analyzed, and stored (processed) to extract its true value. This lesson will delve into the critical stages of data ingestion and processing, exploring the mechanisms, challenges, and solutions involved in handling the deluge of IoT data. Core Concepts: Data Ingestion: Data ingestion refers to the process of collecting data from various sources and moving it to a storage or processing system. In IoT, these sources are typically sensors, actuators, smart devices, and IoT gateways. The primary goal of ingestion is to reliably and efficiently transfer data from the edge to a central system, whether that's a local server or a cloud platform. Challenges in IoT data ingestion include the sheer volume of data (terabytes to petabytes), the high velocity at which it's generated (real-time streams), the variety of data types and formats (structured, semi-structured, unstructured), and the veracity or trustworthiness of the data (noise, errors, missing values). Common protocols and methods for IoT data ingestion include: MQTT (Message Queuing Telemetry Transport): A lightweight, publish-subscribe messaging protocol ideal for constrained devices and low-bandwidth, high-latency networks. CoAP (Constrained Application Protocol): A specialized web transfer protocol for constrained nodes and networks, often used for RESTful services in IoT. HTTP/S (Hypertext Transfer Protocol Secure): Widely used for web communication, it's also employed in IoT for devices with more processing power and for sending larger data payloads. AMQP (Advanced Message Queuing Protocol): A robust, open standard application layer protocol for message-oriented middleware, offering reliable messaging. Kafka: A distributed streaming platform capable of handling high-throughput, fault-tolerant data streams, often used for ingesting data from multiple IoT sources. Ingestion can occur directly from devices to the cloud or via edge gateways. Edge ingestion involves devices sending data to a local gateway, which then aggregates, filters, and forwards it to the cloud, reducing bandwidth and latency. Cloud ingestion involves devices sending data directly to cloud-based IoT services. Example: A smart city deployment uses thousands of traffic sensors. These sensors, via local gateways, send real-time traffic flow data using MQTT to a central cloud platform for ingestion. Data Processing: Once ingested, IoT data needs to be processed to derive meaningful insights. Data processing involves a series of operations including filtering, aggregation, transformation, validation, analysis, and storage. The choice of processing location—edge or cloud—depends on factors like latency requirements, bandwidth availability, data privacy concerns, and computational complexity. Edge Processing (Fog Computing): This involves processing data closer to the source, at the edge of the network (e.g., on gateways, local servers, or even the devices themselves). Benefits include reduced latency (critical for real-time control), lower bandwidth usage (only processed data is sent to the cloud), enhanced security (sensitive data can be processed locally), and improved reliability (operations can continue even without cloud connectivity). Edge processing is ideal for tasks like local filtering, aggregation, anomaly detection, and immediate control actions. Example: A factory's industrial robots use edge processing to monitor their operational parameters. If a sensor detects an abnormal vibration pattern, the edge device immediately triggers an alert and potentially adjusts the robot's speed, preventing a malfunction, without waiting for cloud round-trip. Cloud Processing: This involves sending data to powerful cloud-based servers for extensive processing and analysis. Benefits include virtually unlimited scalability, access to advanced analytics and machine learning tools, long-term data storage, and the ability to perform complex, historical analysis across vast datasets. Cloud processing is suitable for batch processing, stream analytics, machine learning model training, predictive maintenance, and business intelligence. Key processing steps often include: Filtering and Aggregation: Removing irrelevant data and combining similar data points to reduce volume. Normalization and Transformation: Converting data into a consistent format for analysis. Data Validation and Cleaning: Identifying and correcting errors or inconsistencies. Analysis: Applying algorithms and models to extract insights, which can be real-time (stream processing) or historical (batch processing). Storage: Persisting processed data in databases or data lakes for future use. Tools and platforms for IoT data processing include Apache Kafka (for streaming), Apache Flink and Apache Spark (for real-time and batch analytics), AWS IoT Analytics, Azure IoT Hub, and Google Cloud IoT Core, which offer managed services for ingestion, processing, and analysis. Example: The smart city traffic data ingested into the cloud is then processed. Cloud-based stream processing services analyze the real-time flow to identify congestion patterns and suggest alternative routes. Batch processing on historical data helps urban planners understand long-term traffic trends and optimize infrastructure. Conclusion: Data ingestion and processing are foundational pillars of any successful IoT ecosystem. Efficiently collecting data from diverse sources and then intelligently transforming, analyzing, and storing it is paramount for extracting actionable insights, enabling automation, and driving innovation. By understanding the various protocols, architectural choices (edge vs. cloud), and processing techniques, organizations can build robust and scalable IoT solutions that truly harness the power of connected devices.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IoT Data Storage Solutions</a:t>
            </a:r>
          </a:p>
        </p:txBody>
      </p:sp>
      <p:sp>
        <p:nvSpPr>
          <p:cNvPr id="3" name="Content Placeholder 2"/>
          <p:cNvSpPr>
            <a:spLocks noGrp="1"/>
          </p:cNvSpPr>
          <p:nvPr>
            <p:ph idx="1"/>
          </p:nvPr>
        </p:nvSpPr>
        <p:spPr/>
        <p:txBody>
          <a:bodyPr wrap="square"/>
          <a:lstStyle/>
          <a:p>
            <a:r>
              <a:rPr sz="1400">
                <a:latin typeface="DejaVu Sans"/>
              </a:rPr>
              <a:t>Welcome to Lesson 4.3: IoT Data Storage Solutions. In the vast and interconnected world of the Internet of Things, devices constantly generate an immense volume of data. From simple temperature readings to complex video feeds, this data is the lifeblood of any IoT system, enabling insights, automation, and intelligent decision-making. However, collecting this data is only half the battle; effectively storing it is equally, if not more, critical. This lesson will explore the various challenges and solutions associated with storing IoT data, helping you understand how to choose the right approach for your specific applications.Introduction:The proliferation of IoT devices has led to an explosion in data generation. A single smart city could have millions of sensors, each producing data points every second. This data needs to be stored reliably, securely, and efficiently to be processed and analyzed. Without a robust data storage strategy, the potential of IoT remains untapped. This lesson will delve into the core concepts of IoT data storage, examining different storage locations, technologies, and the factors influencing solution selection.Core Concepts:1. The 5 Vs of Big Data in IoT:IoT data embodies the characteristics of Big Data, often described by the '5 Vs':Volume: IoT systems generate massive amounts of data, often petabytes or even exabytes.Velocity: Data is generated at high speeds, requiring real-time or near real-time ingestion and processing capabilities.Variety: IoT data comes in many forms – structured (sensor readings), semi-structured (logs), and unstructured (images, video, audio).Veracity: The quality and accuracy of IoT data can vary due to sensor errors, network issues, or environmental factors.Value: The ultimate goal is to extract meaningful insights and value from the collected data.2. Types of IoT Data:Understanding the nature of the data is crucial for choosing the right storage.Common types include:Time-Series Data: Sensor readings (temperature, humidity, pressure) collected over time. This is the most prevalent type in IoT.Event Data: Records of specific occurrences (e.g., a door opening, a button press, an anomaly detected).Log Data: System events, errors, and operational information.Media Data: Images, video, and audio streams from cameras or microphones.Location Data: GPS coordinates or proximity data.3. Storage Locations/Architectures:IoT data can be stored at different points in the data pipeline, each with its advantages and disadvantages:Edge Storage:Data is stored directly on the IoT device or a nearby gateway.Advantages: Low latency, reduced network bandwidth usage, privacy, offline operation.Disadvantages: Limited storage capacity, less processing power, higher management overhead for distributed data.Use Cases: Temporary buffering, local analytics, critical real-time control, firmware updates.Fog Storage:An intermediate layer between the edge and the cloud, often on local servers or micro-data centers.Advantages: Aggregates data from multiple edge devices, performs initial processing and filtering, reduces cloud traffic.Disadvantages: Still has capacity limitations compared to the cloud, requires distributed management.Use Cases: Local data aggregation, pre-processing, anomaly detection, local dashboards.Cloud Storage:Centralized storage in a remote data center, offered by cloud providers (AWS, Azure, Google Cloud).Advantages: Virtually unlimited scalability, high availability, robust security features, advanced analytics capabilities.Disadvantages: Higher latency, reliance on internet connectivity, potential data transfer costs, privacy concerns for sensitive data.Use Cases: Long-term data archival, big data analytics, machine learning, global dashboards, enterprise integration.4. Specific Storage Solutions and Technologies:The choice of storage technology depends heavily on the data type, volume, velocity, and access patterns.a. Databases:Relational Databases (SQL): Examples include PostgreSQL, MySQL, SQL Server.Best for: Highly structured data, complex queries, strong consistency, transactional integrity.Less common for raw, high-velocity sensor data due to schema rigidity and scaling challenges.NoSQL Databases: Designed for scalability, flexibility, and handling large volumes of diverse data.Key-Value Stores: Examples include Redis, DynamoDB.Best for: Simple data models, high read/write throughput, caching.Document Databases: Examples include MongoDB, Couchbase.Best for: Semi-structured data, flexible schemas, easy scaling.Column-Family Stores: Examples include Cassandra, HBase.Best for: Large-scale, high-velocity data, distributed environments, time-series data.Graph Databases: Examples include Neo4j.Best for: Data with complex relationships (e.g., social networks, supply chains).Time-Series Databases (TSDBs): Examples include InfluxDB, TimescaleDB (PostgreSQL extension), AWS Timestream.Specifically optimized for storing and querying time-stamped data. Highly efficient for IoT sensor data, providing fast ingestion and analytical queries over time ranges.b. File Storage:Object Storage: Examples include AWS S3, Azure Blob Storage, Google Cloud Storage.Best for: Unstructured data (images, videos, audio, logs, firmware updates), large files, data lakes.Highly scalable, durable, and cost-effective for archival.c. Data Lakes:A centralized repository that allows you to store all your structured and unstructured data at any scale.Data is stored in its raw format, without a predefined schema.Best for: Storing diverse IoT data for future analytics, machine learning, and data exploration.Often built on top of object storage (e.g., S3) and integrated with data processing frameworks (e.g., Apache Spark).5. Key Considerations for Choosing a Solution:Scalability: Can the solution handle increasing data volumes and device counts?Cost: Evaluate storage costs, data transfer costs, and operational expenses.Latency: How quickly does data need to be accessed or written?Security: Data encryption, access control, compliance with regulations.Data Retention Policies: How long does data need to be stored?Hot, warm, and cold storage tiers.Data Processing Needs: Will the data be used for real-time analytics, batch processing, or machine learning?Integration: How well does it integrate with other IoT platform components and enterprise systems?Examples:Smart Home System:Edge Storage: A smart hub temporarily stores sensor readings (temperature, motion) for local automation rules (e.g., turn on lights when motion detected).Cloud Storage: Long-term storage of aggregated sensor data in a time-series database (e.g., InfluxDB) for historical analysis and trend identification. Images from security cameras stored in object storage (e.g., AWS S3).Industrial IoT (IIoT) for Predictive Maintenance:Edge/Fog Storage: PLCs or industrial gateways store high-frequency machine sensor data locally for immediate anomaly detection and control. Only critical events or aggregated summaries are sent to the cloud.Cloud Storage: A data lake (e.g., built on Azure Data Lake Storage) stores all raw and processed machine data. A time-series database stores operational metrics. This data is then used for machine learning models to predict equipment failures.Smart City Traffic Management:Edge Storage: Traffic cameras and sensors at intersections temporarily store video snippets and vehicle counts.Fog Storage: A local server aggregates data from multiple intersections, performs real-time traffic flow analysis, and sends alerts for congestion.Cloud Storage: Long-term storage of anonymized traffic data in a data warehouse or data lake for urban planning, historical trend analysis, and simulation.Conclusion:IoT data storage is a multifaceted challenge requiring careful consideration of data characteristics, architectural needs, and business objectives. There is no one-size-fits-all solution; instead, a hybrid approach combining edge, fog, and cloud storage, along with a mix of database and file storage technologies, is often the most effective strategy. By understanding the various options and their trade-offs, you can design a robust, scalable, and cost-efficient data storage solution that unlocks the full potential of your IoT applications.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Data Analytics and Visualization for IoT</a:t>
            </a:r>
          </a:p>
        </p:txBody>
      </p:sp>
      <p:sp>
        <p:nvSpPr>
          <p:cNvPr id="3" name="Content Placeholder 2"/>
          <p:cNvSpPr>
            <a:spLocks noGrp="1"/>
          </p:cNvSpPr>
          <p:nvPr>
            <p:ph idx="1"/>
          </p:nvPr>
        </p:nvSpPr>
        <p:spPr/>
        <p:txBody>
          <a:bodyPr wrap="square"/>
          <a:lstStyle/>
          <a:p>
            <a:r>
              <a:rPr sz="1400">
                <a:latin typeface="DejaVu Sans"/>
              </a:rPr>
              <a:t>Welcome to Lesson 4.4: Data Analytics and Visualization for IoT. In the previous lessons, we explored the foundational components of IoT, from sensors and actuators to connectivity protocols and cloud platforms. Now, we delve into one of the most critical aspects of IoT: making sense of the vast amounts of data generated by these connected devices. Without effective data analytics and visualization, the true potential of IoT remains untapped. This lesson will equip you with an understanding of how data from IoT devices is processed, analyzed, and presented to derive actionable insights.Introduction:The Internet of Things is fundamentally about data. Billions of devices are constantly collecting and transmitting information about their environment, status, and interactions. This data, ranging from simple temperature readings to complex video feeds, holds immense value. However, raw data is often meaningless on its own. It needs to be transformed into understandable and actionable insights. This is where data analytics and visualization come into play. Data analytics involves examining raw data to uncover hidden patterns, correlations, and trends, while data visualization is the graphical representation of this data, making complex information accessible and comprehensible to humans. Together, they empower businesses and individuals to make informed decisions, optimize operations, predict future events, and enhance user experiences.Core Concepts:1. What is IoT Data?IoT data is incredibly diverse, reflecting the multitude of sensors and applications. It can include:Sensor Readings: Temperature, humidity, pressure, light, motion, sound, air quality.Location Data: GPS coordinates from vehicles, assets, or mobile devices.Device Status: On/off, battery level, operational mode, error codes.Usage Patterns: How and when a device is used.Environmental Data: Weather conditions, pollution levels.Biometric Data: Heart rate, blood pressure, activity levels from wearables.Video and Audio Streams: From surveillance cameras or smart assistants.This data is often time-series based, meaning it's collected sequentially over time, which is crucial for trend analysis and anomaly detection.2. Why Analyze IoT Data?The primary goal of analyzing IoT data is to extract value and drive intelligent actions. Key reasons include:Operational Efficiency: Optimizing processes, reducing waste, improving resource allocation.Predictive Maintenance: Anticipating equipment failures before they occur, minimizing downtime and repair costs.Enhanced Customer Experience: Personalizing services, understanding user behavior, proactive support.New Business Models: Creating innovative services based on data insights.Safety and Security: Detecting anomalies, monitoring critical infrastructure, preventing unauthorized access.Compliance: Meeting regulatory requirements through data logging and reporting.3. IoT Data Analytics Process:The journey from raw IoT data to actionable insights typically involves several stages:a. Data Collection: This is the initial step where data is gathered from IoT devices, often through gateways, edge devices, and then transmitted to cloud platforms or local servers.b. Data Pre-processing: Raw IoT data is often noisy, incomplete, or inconsistent. Pre-processing involves:Cleaning: Removing errors, duplicates, and irrelevant data.Normalization: Scaling data to a standard range to ensure fair comparison.Aggregation: Summarizing data over specific time intervals (e.g., hourly averages instead of per-second readings).Feature Extraction: Deriving new, more meaningful features from existing data (e.g., calculating acceleration from raw motion sensor data).c. Data Analysis Techniques:Different types of analytics provide different levels of insight:Descriptive Analytics: Answers 'What happened?' Summarizes past data to understand current conditions. Examples: Dashboards showing current temperature, average energy consumption last month.Diagnostic Analytics: Answers 'Why did it happen?' Explores the root causes of past events. Examples: Identifying why a machine failed based on sensor data leading up to the event.Predictive Analytics: Answers 'What will happen?' Uses historical data and statistical models/machine learning to forecast future outcomes. Examples: Predicting when a piece of equipment will likely fail, forecasting future energy demand.Prescriptive Analytics: Answers 'What should we do?' Recommends specific actions to achieve desired outcomes or avoid problems. Examples: Suggesting optimal settings for a smart thermostat, recommending maintenance schedules.d. Data Storage: Processed and raw data needs to be stored efficiently. This often involves specialized databases optimized for time-series data, data lakes for large volumes of unstructured data, or cloud storage solutions.4. IoT Data Visualization:Visualization is the art and science of representing data graphically to make it easier to understand and interpret. For IoT, where data streams can be continuous and complex, effective visualization is paramount.a. Importance of Visualization:Simplifies Complex Data: Makes large datasets digestible.Identifies Trends and Patterns: Easier to spot correlations and anomalies.Facilitates Decision-Making: Provides quick, intuitive insights.Enables Real-time Monitoring: Dashboards allow for immediate oversight of operations.b. Common Visualization Techniques:Dashboards: Centralized, interactive displays showing key performance indicators (KPIs) and real-time data. Often customizable.Line Charts: Ideal for showing trends over time (e.g., temperature fluctuations throughout the day).Bar Charts: Comparing discrete categories (e.g., energy consumption per device).Pie Charts: Showing proportions of a whole (e.g., breakdown of different types of network traffic).Scatter Plots: Identifying relationships between two variables (e.g., humidity vs. temperature).Geospatial Maps: Visualizing location-based data (e.g., tracking fleet vehicles, showing sensor locations in a smart city).Heatmaps: Representing data density or intensity across a grid (e.g., showing areas of high foot traffic).Gauges and Indicators: Displaying current values against thresholds (e.g., tank level, battery status).c. Tools for IoT Visualization:Many tools are available, ranging from open-source to commercial solutions:Grafana: A popular open-source platform for monitoring and observability, excellent for time-series data.Power BI, Tableau, Qlik Sense: Business intelligence tools that can connect to IoT data sources.Custom Web Applications: Developed using libraries like D3.js, Chart.js, or frameworks like React/Angular for highly tailored visualizations.Cloud Provider Dashboards: AWS IoT Analytics, Azure IoT Hub, Google Cloud IoT Core often include built-in visualization capabilities.5. Challenges in IoT Data Analytics and Visualization:The unique characteristics of IoT data present several challenges:Volume, Velocity, Variety (Big Data): Handling the sheer amount, speed, and diverse formats of data.Data Quality: Ensuring accuracy and completeness of sensor readings.Security and Privacy: Protecting sensitive data from unauthorized access and ensuring compliance with regulations (e.g., GDPR).Scalability: Designing systems that can grow with the increasing number of devices and data.Real-time Processing: The need for immediate insights and actions in many IoT applications.Interoperability: Integrating data from various devices and platforms that may use different protocols and data formats.Examples/Use Cases:Smart Cities: Analyzing traffic sensor data to optimize traffic light timings, visualizing air quality data on a city map to identify pollution hotspots, and monitoring waste bin levels for efficient collection routes.Industrial IoT (IIoT): Using vibration and temperature sensor data from machinery to predict equipment failure, visualizing production line efficiency in real-time dashboards, and optimizing energy consumption in factories.Smart Homes: Analyzing energy consumption patterns to suggest energy-saving measures, visualizing security camera feeds, and monitoring appliance usage for maintenance alerts.Healthcare: Tracking patient vital signs in real-time, visualizing trends in health data for early disease detection, and monitoring medical equipment status.Conclusion:Data analytics and visualization are indispensable components of any successful IoT deployment. They transform raw, often overwhelming, streams of data into clear, actionable insights that drive innovation, efficiency, and better decision-making. By understanding the types of IoT data, the analytical processes involved, and the various visualization techniques, we can unlock the full potential of connected devices, moving beyond mere data collection to truly intelligent systems. As the IoT landscape continues to expand, the ability to effectively analyze and visualize this data will remain a core competency for anyone working in this exciting field.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Introduction to IoT Application Development</a:t>
            </a:r>
          </a:p>
        </p:txBody>
      </p:sp>
      <p:sp>
        <p:nvSpPr>
          <p:cNvPr id="3" name="Content Placeholder 2"/>
          <p:cNvSpPr>
            <a:spLocks noGrp="1"/>
          </p:cNvSpPr>
          <p:nvPr>
            <p:ph idx="1"/>
          </p:nvPr>
        </p:nvSpPr>
        <p:spPr/>
        <p:txBody>
          <a:bodyPr wrap="square"/>
          <a:lstStyle/>
          <a:p>
            <a:r>
              <a:rPr sz="1400">
                <a:latin typeface="DejaVu Sans"/>
              </a:rPr>
              <a:t>Welcome to Lesson 4.5: Introduction to IoT Application Development. In our journey through the Internet of Things, we've explored what IoT is, its components, and various communication protocols. Now, it's time to understand how these pieces come together to create functional and impactful IoT applications. This lesson will provide a comprehensive overview of the principles, architectures, and key considerations involved in developing applications for the Internet of Things.Introduction to IoT Application DevelopmentIoT application development is the process of creating software and systems that enable IoT devices to collect, process, and exchange data, ultimately providing valuable insights and automated actions. Unlike traditional software development, IoT applications often involve a complex interplay of hardware, embedded systems, network protocols, cloud services, and user interfaces. The goal is to bridge the physical world with the digital realm, transforming raw sensor data into actionable intelligence.Why is IoT Application Development Important?The ability to develop robust IoT applications is crucial for unlocking the full potential of the Internet of Things. It allows businesses and individuals to:1.  **Automate Processes**: From smart home lighting to industrial machinery control.2.  **Gain Insights**: Analyze data from countless sensors to optimize operations, predict failures, and make informed decisions.3.  **Enhance User Experience**: Create intuitive interfaces for interacting with connected devices.4.  **Drive Innovation**: Develop new services and business models based on real-time data and connectivity.Core Concepts in IoT Application Development1.  **Components of an IoT Application**:An IoT application typically comprises several layers:    *   **Device Layer (Edge)**: This includes the physical IoT devices, sensors, and actuators. The application code here is often embedded firmware responsible for data collection, local processing, and communication. Examples: Microcontrollers (Arduino, ESP32), Single-Board Computers (Raspberry Pi).    *   **Connectivity Layer**: This layer handles the communication between devices and the cloud or other devices. It involves various protocols (MQTT, CoAP, HTTP) and network technologies (Wi-Fi, Bluetooth, LoRaWAN, Cellular).    *   **Cloud/Platform Layer**: This is the backend infrastructure where data from devices is ingested, stored, processed, and analyzed. It includes:        *   **IoT Hub/Gateway**: For secure device connection and message routing (e.g., AWS IoT Core, Azure IoT Hub).        *   **Data Storage**: Databases (SQL, NoSQL) for storing time-series data, device states, and user information.        *   **Data Processing &amp; Analytics**: Services for real-time stream processing, machine learning, and big data analytics.        *   **Application Logic**: Backend services that implement the core business logic of the IoT application.    *   **User Interface (UI) Layer**: This is how users interact with the IoT system. It can be a mobile app, a web dashboard, or even voice interfaces, allowing users to monitor devices, view data, and send commands.2.  **Common IoT Application Architectures**:    *   **Cloud-Centric Architecture**: Most data processing and application logic reside in the cloud. Devices primarily focus on data collection and sending it to the cloud. This is common for applications requiring extensive data analytics and centralized control.    *   **Edge Computing Architecture**: Some data processing and decision-making occur closer to the devices, at the 'edge' of the network. This reduces latency, saves bandwidth, and enhances privacy. Data that requires deeper analysis is then sent to the cloud. Ideal for real-time control systems and applications with limited connectivity.    *   **Fog Computing Architecture**: An extension of edge computing, where processing capabilities are distributed across a hierarchy of nodes, from the edge devices to local gateways and then to the cloud. Provides more granular control over data processing locations.3.  **Key Technologies Involved**:    *   **Sensors &amp; Actuators**: The eyes and hands of IoT devices, collecting data (temperature, humidity, motion) and performing actions (turning lights on/off, opening valves).    *   **Communication Protocols**: MQTT (lightweight messaging), CoAP (constrained application protocol), HTTP/HTTPS (web communication), AMQP (advanced message queuing protocol).    *   **Cloud Services**: AWS IoT, Azure IoT, Google Cloud IoT, IBM Watson IoT provide managed services for device connectivity, data ingestion, storage, analytics, and application development.    *   **Data Analytics &amp; Machine Learning**: Tools and algorithms to extract insights from vast amounts of IoT data, enabling predictive maintenance, anomaly detection, and intelligent automation.    *   **User Interface/User Experience (UI/UX)**: Designing intuitive and responsive interfaces for interacting with IoT systems, often leveraging web frameworks (React, Angular, Vue.js) or mobile development platforms (Android, iOS).4.  **IoT Development Tools and Platforms**:    *   **Hardware Platforms**: Arduino (microcontrollers for rapid prototyping), Raspberry Pi (single-board computers for more complex edge processing), ESP32/ESP8266 (Wi-Fi enabled microcontrollers).    *   **Integrated Development Environments (IDEs)**: Arduino IDE, PlatformIO, Visual Studio Code with relevant extensions.    *   **Cloud IoT Platforms**: AWS IoT, Azure IoT, Google Cloud IoT, Particle.io, ThingsBoard. These platforms offer SDKs, APIs, and services to simplify device management, data handling, and application integration.5.  **IoT Application Development Lifecycle**:Similar to traditional software development, but with added hardware considerations:    *   **Planning &amp; Requirements Gathering**: Define the problem, use cases, device capabilities, data points, and desired outcomes.    *   **Design**: Architect the system (device, connectivity, cloud, UI), select hardware, protocols, and cloud services. Design data models and security measures.    *   **Implementation**: Develop firmware for devices, backend services, and user interfaces. This involves coding in languages like C/C++ (for embedded), Python, Node.js, Java, Go (for backend), and JavaScript (for web/mobile).    *   **Testing**: Unit testing, integration testing (device-to-cloud, cloud-to-UI), performance testing, security testing, and field testing.    *   **Deployment**: Provision devices, deploy cloud services, and release user applications.    *   **Monitoring &amp; Maintenance**: Continuously monitor device health, data flow, application performance, and security. Apply updates and patches.6.  **Challenges in IoT Application Development**:    *   **Security**: Protecting devices, data, and communication from cyber threats is paramount. This includes device authentication, data encryption, and secure firmware updates.    *   **Scalability**: Designing systems that can handle millions or billions of devices and vast amounts of data.    *   **Interoperability**: Ensuring different devices, protocols, and platforms can communicate and work together seamlessly.    *   **Power Management**: For battery-powered devices, optimizing power consumption is critical for long operational life.    *   **Data Management**: Handling, storing, and processing massive volumes of diverse data efficiently.    *   **Firmware Updates**: Securely and reliably updating device firmware over-the-air (OTA).Examples of IoT Applications1.  **Smart Home**: Applications for controlling lighting, thermostats, security cameras, and appliances via a central hub or mobile app. (e.g., Google Home, Amazon Alexa ecosystems).2.  **Industrial IoT (IIoT)**: Predictive maintenance applications monitoring machinery health, asset tracking, and process optimization in factories and industrial settings.3.  **Smart Cities**: Applications for traffic management, smart street lighting, waste management, and environmental monitoring.4.  **Healthcare (IoMT)**: Remote patient monitoring, smart wearables for fitness tracking, and asset tracking for medical equipment.5.  **Agriculture (Smart Farming)**: Soil moisture monitoring, automated irrigation, livestock tracking, and crop health analysis.ConclusionIoT application development is a multidisciplinary field that combines hardware engineering, embedded programming, network communication, cloud computing, and user experience design. By understanding the core components, architectural patterns, and development lifecycle, you are well-equipped to embark on creating innovative and impactful IoT solutions. The journey from a sensor reading to an actionable insight or an automated response involves careful planning, robust implementation, and continuous attention to security and scalability. As the IoT landscape continues to evolve, the demand for skilled IoT application developers will only grow, making this a vital area of study in the world of connected devices.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Privacy, and Future of IoT</a:t>
            </a:r>
          </a:p>
        </p:txBody>
      </p:sp>
      <p:sp>
        <p:nvSpPr>
          <p:cNvPr id="3" name="Text Placeholder 2"/>
          <p:cNvSpPr>
            <a:spLocks noGrp="1"/>
          </p:cNvSpPr>
          <p:nvPr>
            <p:ph type="body"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IoT Security Challenges and Threats</a:t>
            </a:r>
          </a:p>
        </p:txBody>
      </p:sp>
      <p:sp>
        <p:nvSpPr>
          <p:cNvPr id="3" name="Content Placeholder 2"/>
          <p:cNvSpPr>
            <a:spLocks noGrp="1"/>
          </p:cNvSpPr>
          <p:nvPr>
            <p:ph idx="1"/>
          </p:nvPr>
        </p:nvSpPr>
        <p:spPr/>
        <p:txBody>
          <a:bodyPr wrap="square"/>
          <a:lstStyle/>
          <a:p>
            <a:r>
              <a:rPr sz="1400">
                <a:latin typeface="DejaVu Sans"/>
              </a:rPr>
              <a:t>Welcome to Lesson 5.1: IoT Security Challenges and Threats. As the Internet of Things (IoT) continues its rapid expansion, connecting billions of devices from smart homes to industrial systems, the importance of robust security measures becomes paramount. While IoT offers immense benefits, its distributed nature, diverse device types, and often resource-constrained environments introduce a unique set of security challenges and vulnerabilities that attackers are eager to exploit. This lesson will delve into the specific difficulties in securing IoT ecosystems and explore the most common threats that these systems face. Understanding these challenges and threats is the first critical step towards designing and implementing secure IoT solutions. We will cover why IoT security is inherently complex and examine various attack vectors with real-world examples.</a:t>
            </a:r>
          </a:p>
          <a:p/>
          <a:p>
            <a:r>
              <a:rPr sz="1400">
                <a:latin typeface="DejaVu Sans"/>
              </a:rPr>
              <a:t>Core Concepts:</a:t>
            </a:r>
          </a:p>
          <a:p/>
          <a:p>
            <a:r>
              <a:rPr sz="1400">
                <a:latin typeface="DejaVu Sans"/>
              </a:rPr>
              <a:t>1.  Unique Challenges of IoT Security:</a:t>
            </a:r>
          </a:p>
          <a:p>
            <a:r>
              <a:rPr sz="1400">
                <a:latin typeface="DejaVu Sans"/>
              </a:rPr>
              <a:t>    *   **Heterogeneity of Devices**: IoT encompasses an incredibly diverse range of devices, from tiny, low-power sensors to powerful gateways and cloud servers. Each device type may have different operating systems, communication protocols, and security capabilities, making a unified security approach difficult.</a:t>
            </a:r>
          </a:p>
          <a:p>
            <a:r>
              <a:rPr sz="1400">
                <a:latin typeface="DejaVu Sans"/>
              </a:rPr>
              <a:t>    *   **Resource Constraints**: Many IoT devices are designed to be small, inexpensive, and energy-efficient. This often means they have limited processing power, memory, and battery life, which restricts the implementation of complex security features like strong encryption, extensive logging, or frequent software updates.</a:t>
            </a:r>
          </a:p>
          <a:p>
            <a:r>
              <a:rPr sz="1400">
                <a:latin typeface="DejaVu Sans"/>
              </a:rPr>
              <a:t>    *   **Scalability**: IoT deployments can involve thousands, millions, or even billions of devices. Managing security patches, configurations, and monitoring for such a vast number of diverse devices presents significant logistical and technical challenges.</a:t>
            </a:r>
          </a:p>
          <a:p>
            <a:r>
              <a:rPr sz="1400">
                <a:latin typeface="DejaVu Sans"/>
              </a:rPr>
              <a:t>    *   **Physical Accessibility**: Unlike traditional IT infrastructure often housed in secure data centers, many IoT devices are deployed in easily accessible public or semi-public locations (e.g., smart city sensors, smart meters, public cameras). This increases the risk of physical tampering or theft.</a:t>
            </a:r>
          </a:p>
          <a:p>
            <a:r>
              <a:rPr sz="1400">
                <a:latin typeface="DejaVu Sans"/>
              </a:rPr>
              <a:t>    *   **Long Lifespans and Lack of Updates**: Many IoT devices are designed for long operational lifespans (5-10+ years). However, vendors often fail to provide long-term security updates or patches, leaving devices vulnerable to newly discovered exploits over time. The update process itself can also be complex or non-existent.</a:t>
            </a:r>
          </a:p>
          <a:p>
            <a:r>
              <a:rPr sz="1400">
                <a:latin typeface="DejaVu Sans"/>
              </a:rPr>
              <a:t>    *   **Lack of Standardization**: The IoT landscape is fragmented, with numerous proprietary protocols, platforms, and standards. This lack of interoperability and common security baselines complicates the development and enforcement of consistent security policies.</a:t>
            </a:r>
          </a:p>
          <a:p>
            <a:r>
              <a:rPr sz="1400">
                <a:latin typeface="DejaVu Sans"/>
              </a:rPr>
              <a:t>    *   **Supply Chain Vulnerabilities**: Security vulnerabilities can be introduced at any stage of the IoT device lifecycle, from component manufacturing and software development to assembly and deployment. Malicious components or compromised firmware can create backdoors before a device even reaches the end-user.</a:t>
            </a:r>
          </a:p>
          <a:p/>
          <a:p>
            <a:r>
              <a:rPr sz="1400">
                <a:latin typeface="DejaVu Sans"/>
              </a:rPr>
              <a:t>2.  Common IoT Threats:</a:t>
            </a:r>
          </a:p>
          <a:p>
            <a:r>
              <a:rPr sz="1400">
                <a:latin typeface="DejaVu Sans"/>
              </a:rPr>
              <a:t>    *   **Data Breaches and Privacy Violations**: IoT devices often collect vast amounts of sensitive data, including personal information, health data, location data, and operational insights. Unauthorized access to this data can lead to privacy violations, identity theft, or competitive espionage.</a:t>
            </a:r>
          </a:p>
          <a:p>
            <a:r>
              <a:rPr sz="1400">
                <a:latin typeface="DejaVu Sans"/>
              </a:rPr>
              <a:t>        *   *Example*: A smart home security camera system is hacked, allowing attackers to view live feeds or recorded footage of residents' private lives.</a:t>
            </a:r>
          </a:p>
          <a:p>
            <a:r>
              <a:rPr sz="1400">
                <a:latin typeface="DejaVu Sans"/>
              </a:rPr>
              <a:t>    *   **Device Tampering and Physical Attacks**: Attackers may physically access IoT devices to extract sensitive information, inject malicious code, or disable their functionality.</a:t>
            </a:r>
          </a:p>
          <a:p>
            <a:r>
              <a:rPr sz="1400">
                <a:latin typeface="DejaVu Sans"/>
              </a:rPr>
              <a:t>        *   *Example*: A smart meter in a public utility grid is tampered with to manipulate readings or disrupt power supply.</a:t>
            </a:r>
          </a:p>
          <a:p>
            <a:r>
              <a:rPr sz="1400">
                <a:latin typeface="DejaVu Sans"/>
              </a:rPr>
              <a:t>    *   **Denial of Service (DoS/DDoS) Attacks**: Attackers can overwhelm IoT devices, networks, or cloud services with traffic, making them unavailable to legitimate users or systems. IoT devices themselves can also be conscripted into botnets to launch DDoS attacks against other targets.</a:t>
            </a:r>
          </a:p>
          <a:p>
            <a:r>
              <a:rPr sz="1400">
                <a:latin typeface="DejaVu Sans"/>
              </a:rPr>
              <a:t>        *   *Example*: The Mirai botnet famously leveraged thousands of compromised IoT devices (like IP cameras and DVRs with default credentials) to launch massive DDoS attacks against websites and services.</a:t>
            </a:r>
          </a:p>
          <a:p>
            <a:r>
              <a:rPr sz="1400">
                <a:latin typeface="DejaVu Sans"/>
              </a:rPr>
              <a:t>    *   **Malware and Ransomware**: Malicious software can infect IoT devices, leading to data corruption, unauthorized control, or holding device functionality hostage until a ransom is paid.</a:t>
            </a:r>
          </a:p>
          <a:p>
            <a:r>
              <a:rPr sz="1400">
                <a:latin typeface="DejaVu Sans"/>
              </a:rPr>
              <a:t>        *   *Example*: Ransomware infects smart factory machinery, locking down production lines until a cryptocurrency payment is made.</a:t>
            </a:r>
          </a:p>
          <a:p>
            <a:r>
              <a:rPr sz="1400">
                <a:latin typeface="DejaVu Sans"/>
              </a:rPr>
              <a:t>    *   **Eavesdropping and Man-in-the-Middle (MitM) Attacks**: Attackers can intercept communication between IoT devices, gateways, and cloud platforms to steal data, alter messages, or impersonate legitimate entities.</a:t>
            </a:r>
          </a:p>
          <a:p>
            <a:r>
              <a:rPr sz="1400">
                <a:latin typeface="DejaVu Sans"/>
              </a:rPr>
              <a:t>        *   *Example*: An attacker intercepts unencrypted communication between a smart thermostat and its cloud service to monitor a home's occupancy patterns.</a:t>
            </a:r>
          </a:p>
          <a:p>
            <a:r>
              <a:rPr sz="1400">
                <a:latin typeface="DejaVu Sans"/>
              </a:rPr>
              <a:t>    *   **Authentication and Authorization Vulnerabilities**: Weak or default passwords, lack of multi-factor authentication, and improper access controls are common in IoT, allowing unauthorized users to gain control of devices or systems.</a:t>
            </a:r>
          </a:p>
          <a:p>
            <a:r>
              <a:rPr sz="1400">
                <a:latin typeface="DejaVu Sans"/>
              </a:rPr>
              <a:t>        *   *Example*: A smart door lock is accessed by an attacker who guesses the default administrator password, allowing them to unlock the door remotely.</a:t>
            </a:r>
          </a:p>
          <a:p>
            <a:r>
              <a:rPr sz="1400">
                <a:latin typeface="DejaVu Sans"/>
              </a:rPr>
              <a:t>    *   **Firmware Vulnerabilities**: Flaws in the embedded software (firmware) of IoT devices can be exploited to gain control, inject malicious code, or cause device malfunction.</a:t>
            </a:r>
          </a:p>
          <a:p>
            <a:r>
              <a:rPr sz="1400">
                <a:latin typeface="DejaVu Sans"/>
              </a:rPr>
              <a:t>        *   *Example*: A vulnerability in a smart TV's firmware allows an attacker to remotely install spyware or take over the device's camera and microphone.</a:t>
            </a:r>
          </a:p>
          <a:p>
            <a:r>
              <a:rPr sz="1400">
                <a:latin typeface="DejaVu Sans"/>
              </a:rPr>
              <a:t>    *   **Cloud and Backend System Vulnerabilities**: The centralized cloud platforms and backend services that manage IoT devices can also be targets. Misconfigurations, weak APIs, or unpatched software in these systems can expose the entire IoT ecosystem.</a:t>
            </a:r>
          </a:p>
          <a:p>
            <a:r>
              <a:rPr sz="1400">
                <a:latin typeface="DejaVu Sans"/>
              </a:rPr>
              <a:t>        *   *Example*: A misconfigured cloud storage bucket for an IoT fleet exposes sensitive device telemetry data to the public internet.</a:t>
            </a:r>
          </a:p>
          <a:p>
            <a:r>
              <a:rPr sz="1400">
                <a:latin typeface="DejaVu Sans"/>
              </a:rPr>
              <a:t>    *   **Side-Channel Attacks**: These attacks exploit information leaked from the physical implementation of a cryptosystem, such as timing information, power consumption, or electromagnetic emissions, to deduce secret keys.</a:t>
            </a:r>
          </a:p>
          <a:p>
            <a:r>
              <a:rPr sz="1400">
                <a:latin typeface="DejaVu Sans"/>
              </a:rPr>
              <a:t>        *   *Example*: An attacker analyzes the power consumption patterns of a smart card reader to extract its encryption key.</a:t>
            </a:r>
          </a:p>
          <a:p/>
          <a:p>
            <a:r>
              <a:rPr sz="1400">
                <a:latin typeface="DejaVu Sans"/>
              </a:rPr>
              <a:t>Conclusion:</a:t>
            </a:r>
          </a:p>
          <a:p/>
          <a:p>
            <a:r>
              <a:rPr sz="1400">
                <a:latin typeface="DejaVu Sans"/>
              </a:rPr>
              <a:t>The landscape of IoT security is complex and constantly evolving. The unique characteristics of IoT devices – their diversity, resource constraints, long lifespans, and widespread deployment – create a fertile ground for various security challenges. From data breaches and physical tampering to sophisticated malware and DDoS attacks, the threats are significant and can have severe consequences for individuals, businesses, and critical infrastructure. A comprehensive security strategy for IoT must address these challenges head-on, incorporating security by design, robust authentication, encryption, regular updates, and continuous monitoring across the entire ecosystem. As we move forward in this course, we will explore various strategies and technologies to mitigate these risks and build more resilient IoT systems. Remember, security is not an afterthought; it is an integral component of any successful IoT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Best Practices for Securing IoT Devices and Data</a:t>
            </a:r>
          </a:p>
        </p:txBody>
      </p:sp>
      <p:sp>
        <p:nvSpPr>
          <p:cNvPr id="3" name="Content Placeholder 2"/>
          <p:cNvSpPr>
            <a:spLocks noGrp="1"/>
          </p:cNvSpPr>
          <p:nvPr>
            <p:ph idx="1"/>
          </p:nvPr>
        </p:nvSpPr>
        <p:spPr/>
        <p:txBody>
          <a:bodyPr wrap="square"/>
          <a:lstStyle/>
          <a:p>
            <a:r>
              <a:rPr sz="1400">
                <a:latin typeface="DejaVu Sans"/>
              </a:rPr>
              <a:t>Welcome to Lesson 5.2: Best Practices for Securing IoT Devices and Data. As the Internet of Things rapidly expands, connecting billions of devices, the importance of robust security measures cannot be overstated. IoT devices often collect sensitive data, control critical infrastructure, and operate in environments with varying levels of physical security, making them attractive targets for cyberattacks. A single vulnerability can have far-reaching consequences, from data breaches and privacy violations to service disruptions and physical harm. This lesson will explore the essential best practices for securing IoT devices and the data they generate, covering the entire lifecycle from design to deployment and ongoing maintenance. We will delve into core concepts, providing examples to illustrate how these practices are implemented in real-world scenarios. Our goal is to equip you with a comprehensive understanding of how to build and maintain a secure IoT ecosystem. Let's begin by examining the foundational aspects of IoT security. Our first core concept is Secure Device Design and Manufacturing. Security must be embedded into IoT devices from their inception, not as an afterthought. This involves implementing a Hardware Root of Trust (HRoT), which is a set of immutable functions in the hardware that can always be trusted. HRoT enables secure boot processes, ensuring that only authenticated and authorized firmware can run on the device. Tamper detection and resistance mechanisms, such as secure enclosures or sensors that alert upon physical intrusion, are also crucial. Furthermore, securing the supply chain is vital to prevent the introduction of malicious components or software during manufacturing. For example, a microcontroller with a built-in secure element can provide cryptographic functions and secure key storage, forming a strong HRoT for an IoT device like a smart meter. Next, we address Secure Software Development. The firmware and applications running on IoT devices are often the primary attack vectors. Adhering to secure coding practices, such as those outlined by the OWASP IoT Top 10, is paramount. This includes minimizing the attack surface by removing unnecessary services and ports, validating all inputs, and avoiding hardcoded credentials. Code signing ensures the integrity and authenticity of firmware updates, preventing unauthorized modifications. Regular security testing, including penetration testing and vulnerability scanning, should be integrated into the development lifecycle. For instance, an IoT device's firmware should be developed using secure libraries and frameworks, and all default credentials must be removed or forced to be changed upon initial setup. Our third best practice focuses on Secure Network Communication. Data transmitted between IoT devices, gateways, and cloud platforms must be protected from eavesdropping and tampering. This is achieved through strong encryption protocols like TLS/SSL for TCP-based communication or DTLS for UDP-based communication. Secure protocols such as MQTT over TLS or CoAP over DTLS should be used. Network segmentation can isolate IoT devices from critical enterprise networks, limiting the lateral movement of attackers. Virtual Private Networks (VPNs) can also provide secure tunnels for remote access. Consider a smart home security camera that encrypts its video stream using HTTPS before sending it to a cloud storage service, ensuring privacy and data integrity. Following this, we have Secure Data Storage and Management. IoT devices generate vast amounts of data, much of which can be sensitive. Data at rest must be encrypted, whether it's stored on the device itself, on a local gateway, or in a cloud database. Robust access controls must be implemented for all data storage locations, ensuring that only authorized entities can retrieve or modify data. Data anonymization or minimization techniques should be applied where possible to reduce the risk associated with data breaches. Regular backups are also essential for disaster recovery. An example is a smart health wearable that encrypts all collected biometric data before storing it in a HIPAA-compliant cloud database, with strict access policies for healthcare providers. Identity and Access Management (IAM) is our fifth critical area. Every IoT device and user interacting with the IoT ecosystem needs a unique and verifiable identity. Strong authentication mechanisms, including multi-factor authentication (MFA) for users, are crucial. The principle of least privilege should be applied, granting devices and users only the minimum necessary permissions to perform their functions. Unique device identities, often implemented using digital certificates, enable secure authentication and authorization. Role-based access control (RBAC) helps manage permissions efficiently. For instance, each smart factory sensor could have a unique X.509 certificate for authenticating with the central control system, while factory operators require MFA to access the monitoring dashboard. Regular Updates and Patch Management form our sixth best practice. The threat landscape is constantly evolving, and new vulnerabilities are discovered regularly. IoT devices must be designed to support secure Over-the-Air (OTA) updates for firmware and software. A robust patch management process is essential to promptly address security flaws. Automated vulnerability scanning and continuous monitoring help identify outdated software or known vulnerabilities. Imagine a smart thermostat receiving an encrypted and signed firmware update overnight to patch a newly discovered security vulnerability, ensuring continuous protection without user intervention. Physical Security is often overlooked but is equally important. Many IoT devices are deployed in accessible locations, making them vulnerable to physical tampering or theft. Implementing tamper-proof enclosures, securing installation locations, and controlling physical access to devices are vital. Features like tamper detection alarms can alert administrators to unauthorized physical access. For example, an industrial IoT sensor deployed in a remote facility might be housed in a locked, tamper-resistant enclosure with environmental sensors that trigger an alert if the enclosure is opened or moved. Our eighth best practice is Incident Response and Recovery Planning. Despite all preventative measures, security incidents can still occur. A well-defined incident response plan is crucial for detecting, analyzing, containing, eradicating, and recovering from security breaches. This includes comprehensive logging and monitoring of device activity, establishing clear communication protocols, and having a disaster recovery strategy. A Security Operations Center (SOC) monitoring logs from smart city cameras for unusual network traffic patterns and having a predefined playbook to isolate compromised devices exemplifies effective incident response. User Education and Awareness is also a key component. Many IoT security incidents stem from human error or lack of awareness. Educating users about the importance of strong, unique passwords, secure Wi-Fi networks, and recognizing phishing attempts is essential. Providing clear instructions on how to configure privacy settings and security features on their IoT devices empowers users to contribute to their own security. For instance, a smart home device manufacturer provides a user guide that clearly explains how to set up a strong password, enable two-factor authentication, and understand data sharing settings. Finally, we consider Compliance and Regulations. Depending on the industry and geographical location, IoT deployments must adhere to various data protection laws and industry-specific security standards. Examples include GDPR (General Data Protection Regulation) for personal data in Europe, CCPA (California Consumer Privacy Act) in the US, and industry standards like NIST Cybersecurity Framework or ETSI EN 303 645 for consumer IoT security. Ensuring compliance helps build trust and avoids legal repercussions. A medical IoT device, for example, must comply with HIPAA regulations regarding patient data privacy and security, requiring specific encryption and access control measures. In summary, securing IoT devices and data requires a multi-layered, holistic approach that spans the entire product lifecycle. From secure design and manufacturing to robust software development, encrypted communication, secure data storage, stringent identity and access management, and continuous updates, each best practice plays a vital role. Physical security, proactive incident response, user education, and adherence to compliance standards further strengthen the security posture. By implementing these best practices, we can mitigate risks, protect sensitive information, and foster trust in the ever-expanding world of the Internet of Things. Remember, IoT security is not a one-time task but an ongoing commitment to vigilance and adaptation.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Privacy Concerns and Regulations in IoT (e.g., GDPR)</a:t>
            </a:r>
          </a:p>
        </p:txBody>
      </p:sp>
      <p:sp>
        <p:nvSpPr>
          <p:cNvPr id="3" name="Content Placeholder 2"/>
          <p:cNvSpPr>
            <a:spLocks noGrp="1"/>
          </p:cNvSpPr>
          <p:nvPr>
            <p:ph idx="1"/>
          </p:nvPr>
        </p:nvSpPr>
        <p:spPr/>
        <p:txBody>
          <a:bodyPr wrap="square"/>
          <a:lstStyle/>
          <a:p>
            <a:r>
              <a:rPr sz="1400">
                <a:latin typeface="DejaVu Sans"/>
              </a:rPr>
              <a:t>&lt;h2&gt;5.3: Privacy Concerns and Regulations in IoT (e.g., GDPR)&lt;/h2&gt;&lt;h3&gt;Introduction&lt;/h3&gt;The Internet of Things (IoT) promises a future of seamless connectivity and intelligent automation, but this convenience comes with significant implications for personal privacy. As billions of devices collect vast amounts of data about our lives, habits, and environments, the potential for misuse, unauthorized access, and surveillance grows. This lesson will delve into the critical privacy concerns inherent in IoT ecosystems and explore the regulatory frameworks, such as the General Data Protection Regulation (GDPR), designed to protect individuals' data rights in this increasingly connected world. Understanding these issues is crucial for anyone involved in developing, deploying, or using IoT technologies.&lt;h3&gt;What is IoT Privacy?&lt;/h3&gt;IoT privacy refers to the ability of individuals to control what personal data is collected by IoT devices, how it is used, stored, and shared, and who has access to it. It's about ensuring that the data generated by our interactions with smart devices does not compromise our autonomy, security, or fundamental rights.&lt;h4&gt;Types of Data Collected by IoT Devices:&lt;/h4&gt;IoT devices are designed to sense and collect various types of data, which can often be linked back to an individual, making it personal data. This includes:&lt;ul&gt;&lt;li&gt;&lt;strong&gt;Personal Identifiable Information (PII):&lt;/strong&gt; Names, email addresses, IP addresses, device IDs, payment information.&lt;/li&gt;&lt;li&gt;&lt;strong&gt;Behavioral Data:&lt;/strong&gt; Usage patterns, routines, preferences (e.g., smart thermostat settings, smart TV viewing habits).&lt;/li&gt;&lt;li&gt;&lt;strong&gt;Location Data:&lt;/strong&gt; GPS coordinates from smart cars, wearables, or mobile devices.&lt;/li&gt;&lt;li&gt;&lt;strong&gt;Biometric Data:&lt;/strong&gt; Fingerprints, facial scans, voice patterns (e.g., smart locks, voice assistants).&lt;/li&gt;&lt;li&gt;&lt;strong&gt;Health Data:&lt;/strong&gt; Heart rate, sleep patterns, activity levels (e.g., fitness trackers, smart health monitors).&lt;/li&gt;&lt;li&gt;&lt;strong&gt;Environmental Data:&lt;/strong&gt; Temperature, humidity, air quality, light levels (can become personal when linked to a specific home or individual).&lt;/li&gt;&lt;/ul&gt;&lt;h3&gt;Key Privacy Concerns in IoT&lt;/h3&gt;The pervasive nature of IoT data collection raises several significant privacy concerns:&lt;ul&gt;&lt;li&gt;&lt;strong&gt;Lack of Transparency:&lt;/strong&gt; Users are often unaware of exactly what data their devices collect, how it's processed, or with whom it's shared. Terms of service can be complex and lengthy, making informed consent difficult.&lt;/li&gt;&lt;li&gt;&lt;strong&gt;Data Breaches and Hacking:&lt;/strong&gt; Many IoT devices have weak security, making them vulnerable to cyberattacks. A breach could expose sensitive personal data, leading to identity theft, financial fraud, or even physical harm (e.g., smart home systems being compromised).&lt;/li&gt;&lt;li&gt;&lt;strong&gt;Surveillance and Tracking:&lt;/strong&gt; Constant monitoring by devices like smart cameras, voice assistants, and location trackers can lead to a feeling of being perpetually watched, eroding personal freedom and anonymity.&lt;/li&gt;&lt;li&gt;&lt;strong&gt;Data Aggregation and Profiling:&lt;/strong&gt; Data from multiple IoT devices (e.g., smart home, car, wearable) can be combined to create highly detailed and intrusive profiles of individuals, revealing intimate details about their lives, habits, and even health.&lt;/li&gt;&lt;li&gt;&lt;strong&gt;Secondary Use of Data:&lt;/strong&gt; Data collected for one purpose (e.g., a smart TV collecting viewing habits to improve recommendations) might be used for another without explicit consent (e.g., selling viewing data to advertisers).&lt;/li&gt;&lt;li&gt;&lt;strong&gt;Consent Management:&lt;/strong&gt; Obtaining and managing meaningful consent in a complex IoT ecosystem, where data flows between multiple devices, platforms, and third parties, is a significant challenge.&lt;/li&gt;&lt;/ul&gt;&lt;h3&gt;Regulatory Landscape: Protecting Privacy in IoT&lt;/h3&gt;To address these concerns, governments and international bodies have introduced regulations aimed at protecting personal data.&lt;h4&gt;Why Regulations are Needed:&lt;/h4&gt;&lt;ul&gt;&lt;li&gt;To establish clear rules for data collection, processing, and storage.&lt;/li&gt;&lt;li&gt;To empower individuals with rights over their personal data.&lt;/li&gt;&lt;li&gt;To hold organizations accountable for data protection.&lt;/li&gt;&lt;li&gt;To build trust in digital technologies and foster responsible innovation.&lt;/li&gt;&lt;/ul&gt;&lt;h4&gt;General Data Protection Regulation (GDPR)&lt;/h4&gt;The GDPR is a landmark data protection law enacted by the European Union (EU) in 2018. It has a significant global impact due to its broad extraterritorial scope, meaning it applies to any organization, anywhere in the world, that processes the personal data of EU citizens.&lt;h5&gt;Key Principles of GDPR:&lt;/h5&gt;&lt;ul&gt;&lt;li&gt;&lt;strong&gt;Lawfulness, Fairness, and Transparency:&lt;/strong&gt; Data must be processed lawfully, fairly, and in a transparent manner.&lt;/li&gt;&lt;li&gt;&lt;strong&gt;Purpose Limitation:&lt;/strong&gt; Data must be collected for specified, explicit, and legitimate purposes and not further processed in a manner incompatible with those purposes.&lt;/li&gt;&lt;li&gt;&lt;strong&gt;Data Minimization:&lt;/strong&gt; Only data that is adequate, relevant, and limited to what is necessary for the processing purpose should be collected.&lt;/li&gt;&lt;li&gt;&lt;strong&gt;Accuracy:&lt;/strong&gt; Personal data must be accurate and kept up to date.&lt;/li&gt;&lt;li&gt;&lt;strong&gt;Storage Limitation:&lt;/strong&gt; Data should be kept for no longer than is necessary for the purposes for which it is processed.&lt;/li&gt;&lt;li&gt;&lt;strong&gt;Integrity and Confidentiality:&lt;/strong&gt; Data must be processed in a manner that ensures appropriate security, including protection against unauthorized or unlawful processing and against accidental loss, destruction, or damage.&lt;/li&gt;&lt;li&gt;&lt;strong&gt;Accountability:&lt;/strong&gt; Data controllers are responsible for demonstrating compliance with the GDPR principles.&lt;/li&gt;&lt;/ul&gt;&lt;h5&gt;Key Rights for Individuals (Data Subjects) under GDPR:&lt;/h5&gt;&lt;ul&gt;&lt;li&gt;&lt;strong&gt;Right to Access:&lt;/strong&gt; Individuals can request access to their personal data.&lt;/li&gt;&lt;li&gt;&lt;strong&gt;Right to Rectification:&lt;/strong&gt; Individuals can request correction of inaccurate data.&lt;/li&gt;&lt;li&gt;&lt;strong&gt;Right to Erasure ('Right to be Forgotten'):&lt;/strong&gt; Individuals can request deletion of their data under certain conditions.&lt;/li&gt;&lt;li&gt;&lt;strong&gt;Right to Restriction of Processing:&lt;/strong&gt; Individuals can request limits on how their data is processed.&lt;/li&gt;&lt;li&gt;&lt;strong&gt;Right to Data Portability:&lt;/strong&gt; Individuals can obtain and reuse their personal data for their own purposes across different services.&lt;/li&gt;&lt;li&gt;&lt;strong&gt;Right to Object:&lt;/strong&gt; Individuals can object to the processing of their data in certain situations.&lt;/li&gt;&lt;/ul&gt;&lt;h5&gt;Impact of GDPR on IoT:&lt;/h5&gt;The GDPR has profound implications for IoT device manufacturers and service providers:&lt;ul&gt;&lt;li&gt;&lt;strong&gt;Privacy by Design and Default:&lt;/strong&gt; IoT systems must be designed from the ground up with privacy in mind, and the default settings should be the most privacy-friendly.&lt;/li&gt;&lt;li&gt;&lt;strong&gt;Strict Consent Requirements:&lt;/strong&gt; Consent for data collection must be freely given, specific, informed, and unambiguous. Pre-ticked boxes or implied consent are generally not sufficient.&lt;/li&gt;&lt;li&gt;&lt;strong&gt;Data Protection Impact Assessments (DPIAs):&lt;/strong&gt; Organizations must conduct DPIAs for high-risk data processing activities, which often include large-scale IoT deployments.&lt;/li&gt;&lt;li&gt;&lt;strong&gt;Data Minimization:&lt;/strong&gt; IoT devices should only collect the data absolutely necessary for their function.&lt;/li&gt;&lt;li&gt;&lt;strong&gt;Enhanced Security:&lt;/strong&gt; Robust security measures are mandatory to protect personal data.&lt;/li&gt;&lt;li&gt;&lt;strong&gt;Accountability:&lt;/strong&gt; Organizations must be able to demonstrate compliance with GDPR principles.&lt;/li&gt;&lt;li&gt;&lt;strong&gt;Significant Fines:&lt;/strong&gt; Non-compliance can result in hefty fines, up to €20 million or 4% of annual global turnover, whichever is higher.&lt;/li&gt;&lt;/ul&gt;&lt;h5&gt;Examples of GDPR in IoT:&lt;/h5&gt;&lt;ul&gt;&lt;li&gt;A smart home assistant needs explicit consent to record and store voice commands, clearly explaining how the data will be used and for how long.&lt;/li&gt;&lt;li&gt;A connected car manufacturer must inform users about the types of location and driving data collected, obtain consent, and provide mechanisms for users to access or delete this data.&lt;/li&gt;&lt;li&gt;A wearable fitness tracker must clearly state what health metrics it collects, how they are processed, and ensure users can easily export or delete their health data.&lt;/li&gt;&lt;/ul&gt;&lt;h4&gt;Other Notable Regulations and Frameworks:&lt;/h4&gt;&lt;ul&gt;&lt;li&gt;&lt;strong&gt;California Consumer Privacy Act (CCPA) / California Privacy Rights Act (CPRA):&lt;/strong&gt; US state-level laws providing similar rights to California residents as GDPR.&lt;/li&gt;&lt;li&gt;&lt;strong&gt;HIPAA (Health Insurance Portability and Accountability Act):&lt;/strong&gt; US law governing the privacy and security of protected health information, relevant for health-related IoT devices.&lt;/li&gt;&lt;li&gt;&lt;strong&gt;Sector-Specific Regulations:&lt;/strong&gt; Various industries (e.g., automotive, finance) may have their own data protection requirements that apply to IoT devices within their domain.&lt;/li&gt;&lt;li&gt;&lt;strong&gt;Emerging Global Regulations:&lt;/strong&gt; Many countries worldwide are developing or have enacted their own comprehensive data protection laws, often inspired by GDPR.&lt;/li&gt;&lt;/ul&gt;&lt;h3&gt;Best Practices for IoT Privacy&lt;/h3&gt;For organizations developing or deploying IoT solutions, adhering to privacy best practices is essential:&lt;ul&gt;&lt;li&gt;&lt;strong&gt;Privacy by Design and Default:&lt;/strong&gt; Integrate privacy considerations into every stage of the IoT product lifecycle.&lt;/li&gt;&lt;li&gt;&lt;strong&gt;Data Minimization:&lt;/strong&gt; Collect only the data that is absolutely necessary for the intended purpose.&lt;/li&gt;&lt;li&gt;&lt;strong&gt;Transparency and Clear Consent:&lt;/strong&gt; Be explicit about data collection, usage, and sharing practices. Provide easy-to-understand privacy policies and clear consent mechanisms.&lt;/li&gt;&lt;li&gt;&lt;strong&gt;Robust Security Measures:&lt;/strong&gt; Implement strong encryption, authentication, access controls, and regular security audits.&lt;/li&gt;&lt;li&gt;&lt;strong&gt;Regular Privacy Audits and DPIAs:&lt;/strong&gt; Continuously assess and mitigate privacy risks.&lt;/li&gt;&lt;li&gt;&lt;strong&gt;User Control over Data:&lt;/strong&gt; Provide users with tools to access, correct, delete, and manage their data preferences.&lt;/li&gt;&lt;li&gt;&lt;strong&gt;Anonymization and Pseudonymization:&lt;/strong&gt; Where possible, anonymize or pseudonymize data to reduce privacy risks.&lt;/li&gt;&lt;/ul&gt;&lt;h3&gt;Conclusion&lt;/h3&gt;Privacy concerns are at the forefront of the IoT revolution. The vast amounts of personal data collected by connected devices necessitate robust regulatory frameworks to protect individuals' rights and foster trust. Regulations like the GDPR serve as critical blueprints for responsible data handling, emphasizing transparency, consent, and accountability. As IoT technology continues to evolve, a continuous dialogue between innovators, policymakers, and users will be essential to strike a balance between technological advancement and the fundamental right to privacy. Adhering to privacy-by-design principles and understanding the regulatory landscape is not just a legal obligation but a cornerstone of ethical and sustainable IoT development.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Ethical Considerations in IoT Deployment</a:t>
            </a:r>
          </a:p>
        </p:txBody>
      </p:sp>
      <p:sp>
        <p:nvSpPr>
          <p:cNvPr id="3" name="Content Placeholder 2"/>
          <p:cNvSpPr>
            <a:spLocks noGrp="1"/>
          </p:cNvSpPr>
          <p:nvPr>
            <p:ph idx="1"/>
          </p:nvPr>
        </p:nvSpPr>
        <p:spPr/>
        <p:txBody>
          <a:bodyPr wrap="square"/>
          <a:lstStyle/>
          <a:p>
            <a:r>
              <a:rPr sz="1400">
                <a:latin typeface="DejaVu Sans"/>
              </a:rPr>
              <a:t>Welcome to Lesson 5.4: Ethical Considerations in IoT Deployment. As the Internet of Things (IoT) continues to expand its reach into every facet of our lives, from smart homes and cities to healthcare and industrial automation, the ethical implications of these interconnected devices become increasingly critical. While IoT promises unprecedented convenience, efficiency, and innovation, it also introduces complex challenges related to privacy, security, autonomy, and societal impact. Understanding and addressing these ethical considerations is paramount for responsible IoT development and deployment, ensuring that technology serves humanity's best interests without compromising fundamental rights or values. This lesson will delve into the core ethical dilemmas posed by IoT and explore strategies for navigating them responsibly. \n\nCore Ethical Considerations\n\n1. Privacy\n\nOne of the most significant ethical concerns in IoT is privacy. IoT devices are designed to collect vast amounts of data, often continuously, about users, their environments, and their behaviors. This data can range from simple temperature readings to highly personal information like health metrics, location data, and even emotional states inferred from voice or facial expressions. \n\n*   **Data Collection and Surveillance**: Many IoT devices, such as smart cameras, voice assistants, and wearables, inherently involve surveillance. The question arises: how much data is too much? Who owns this data? And how is it used? \n    *   **Example**: A smart home security system records video and audio inside your home. While intended for security, this data could be accessed by third parties, used for targeted advertising, or even subpoenaed by law enforcement, raising concerns about constant monitoring and the erosion of personal space. \n*   **Consent**: Obtaining meaningful consent for data collection can be challenging with IoT. Users often agree to lengthy terms and conditions without fully understanding the extent of data collection or its potential uses. \n*   **Anonymization and De-anonymization**: Even if data is initially anonymized, advanced analytical techniques can often de-anonymize individuals, especially when combining data from multiple sources. \n\n2. Security\n\nIoT devices are often deployed in large numbers, sometimes with limited processing power or memory, making robust security implementation difficult. A breach in an IoT system can have severe ethical consequences beyond just data theft. \n\n*   **Vulnerability to Attacks**: Insecure IoT devices can be easily hacked, leading to data breaches, device hijacking, or even physical harm. \n    *   **Example**: A compromised smart medical device (e.g., an insulin pump or pacemaker) could be remotely manipulated, posing a direct threat to a patient's life. Similarly, a hacked smart lock could compromise home security. \n*   **Data Integrity and Trust**: If IoT data is manipulated or compromised, the trust in the system and the decisions made based on that data can be undermined, leading to potentially dangerous outcomes. \n*   **Botnets**: Insecure IoT devices are often exploited to form botnets (e.g., Mirai botnet), which can launch massive distributed denial-of-service (DDoS) attacks, impacting critical internet infrastructure. \n\n3. Autonomy and Control\n\nAs IoT systems become more sophisticated and incorporate artificial intelligence (AI), they can make decisions and take actions autonomously. This raises questions about human agency and control. \n\n*   **Loss of Human Control**: When IoT systems make decisions without direct human oversight, there's a risk of unintended consequences or a reduction in human autonomy. \n    *   **Example**: An autonomous vehicle's decision-making in a critical accident scenario, or a smart thermostat that overrides user preferences based on predictive algorithms, can lead to a feeling of loss of control. \n*   **Manipulation and Persuasion**: IoT devices, especially those integrated with AI, can analyze user behavior to predict and even influence choices, raising concerns about subtle manipulation. \n    *   **Example**: Smart speakers or personalized advertising systems that use IoT data to push specific products or services, potentially exploiting psychological vulnerabilities. \n\n4. Bias and Discrimination\n\nIoT systems, like any technology, are susceptible to biases present in their design, data, or algorithms. This can lead to discriminatory outcomes. \n\n*   **Algorithmic Bias**: If the data used to train AI models for IoT devices is biased (e.g., underrepresenting certain demographics), the system's decisions can perpetuate or amplify existing societal inequalities. \n    *   **Example**: Facial recognition systems used in smart cities might perform poorly on certain ethnic groups, leading to misidentification or unfair targeting. Smart health trackers might not accurately reflect the physiological data of all body types or skin tones. \n*   **Exclusion**: The digital divide can be exacerbated by IoT, as access to these technologies and their benefits might be limited to certain socioeconomic groups, creating new forms of exclusion. \n\n5. Accountability and Transparency\n\nWhen an IoT system malfunctions or causes harm, determining who is responsible can be incredibly complex due to the distributed nature of IoT ecosystems (device manufacturers, software developers, service providers, data aggregators, users). \n\n*   **Lack of Clear Accountability**: Is it the device manufacturer, the software developer, the network provider, or the user who is accountable for a security breach or a system failure? \n    *   **Example**: If an autonomous delivery robot causes an accident, who bears the legal and ethical responsibility? \n*   **Explainability (XAI)**: Many advanced IoT systems use complex AI algorithms (black boxes) that make it difficult to understand how they arrive at certain decisions. This lack of transparency hinders accountability and trust. \n\n6. Environmental Impact\n\nThe sheer scale of IoT deployment raises significant environmental concerns. \n\n*   **E-waste**: The rapid proliferation and obsolescence of IoT devices contribute to a growing problem of electronic waste, which often contains hazardous materials. \n*   **Energy Consumption**: The vast networks of IoT devices, sensors, data centers, and communication infrastructure consume substantial amounts of energy, contributing to carbon emissions. \n\nMitigation Strategies and Best Practices\n\nAddressing these ethical challenges requires a multi-faceted approach involving technology, policy, and education:\n\n*   **Privacy by Design**: Integrate privacy considerations into the entire lifecycle of IoT products and services, from conception to deployment and disposal. This includes data minimization, anonymization techniques, and robust access controls.\n*   **Robust Security Measures**: Implement strong encryption, secure boot processes, regular security updates, and authentication mechanisms to protect devices and data from cyber threats.\n*   **User Consent and Control**: Provide clear, understandable, and granular options for users to consent to data collection and processing. Empower users with control over their data and device settings.\n*   **Ethical AI Development**: Develop AI algorithms for IoT with fairness, transparency, and accountability in mind. Regularly audit systems for bias and ensure diverse datasets are used for training.\n*   **Regulatory Compliance**: Adhere to data protection regulations like GDPR (General Data Protection Regulation) and CCPA (California Consumer Privacy Act), which provide frameworks for data privacy and security.\n*   **Transparency and Explainability**: Strive for transparency in how IoT systems operate and make decisions. Where AI is involved, explore explainable AI (XAI) techniques to provide insights into algorithmic reasoning.\n*   **Lifecycle Management and Sustainability**: Design devices for longevity, repairability, and recyclability. Promote responsible disposal and explore energy-efficient solutions.\n*   **Ethical Guidelines and Frameworks**: Develop and adopt industry-wide ethical guidelines and codes of conduct for IoT development and deployment.\n\nConclusion\n\nThe Internet of Things holds immense potential to transform our world for the better, but its ethical implications cannot be overlooked. From safeguarding personal privacy and ensuring robust security to promoting fairness, accountability, and environmental sustainability, the challenges are significant. By proactively integrating ethical considerations into every stage of IoT development and deployment, fostering transparency, empowering users, and adhering to strong regulatory frameworks, we can harness the power of IoT responsibly. The ongoing dialogue between technologists, policymakers, ethicists, and the public is crucial to building an IoT ecosystem that is not only innovative and efficient but also trustworthy and beneficial for all.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Emerging Trends and Future of IoT (AIoT, Digital Twins, Web3.0 and IoT)</a:t>
            </a:r>
          </a:p>
        </p:txBody>
      </p:sp>
      <p:sp>
        <p:nvSpPr>
          <p:cNvPr id="3" name="Content Placeholder 2"/>
          <p:cNvSpPr>
            <a:spLocks noGrp="1"/>
          </p:cNvSpPr>
          <p:nvPr>
            <p:ph idx="1"/>
          </p:nvPr>
        </p:nvSpPr>
        <p:spPr/>
        <p:txBody>
          <a:bodyPr wrap="square"/>
          <a:lstStyle/>
          <a:p>
            <a:r>
              <a:rPr sz="1400">
                <a:latin typeface="DejaVu Sans"/>
              </a:rPr>
              <a:t>Welcome to Lesson 5.5: Emerging Trends and Future of IoT. The Internet of Things (IoT) is a rapidly evolving field, constantly integrating with new technologies to expand its capabilities and impact. As we look to the future, several key trends are shaping the next generation of IoT, promising more intelligent, autonomous, and secure connected environments. In this lesson, we will explore three pivotal emerging trends: the Artificial Intelligence of Things (AIoT), Digital Twins, and the intersection of Web3.0 with IoT. Understanding these concepts is crucial for grasping the full potential and future direction of connected technologies.   First, let's delve into the Artificial Intelligence of Things (AIoT). AIoT represents the powerful synergy between Artificial Intelligence (AI) and the Internet of Things (IoT). It's about embedding AI capabilities directly into IoT devices and infrastructure, enabling them to not just collect data, but also to analyze it, learn from it, and make intelligent decisions autonomously, often at the 'edge' of the network.   How it works: AIoT leverages machine learning algorithms to process data collected by IoT sensors. This processing can happen locally on the device (edge AI) for faster response times and reduced bandwidth, or in the cloud for more complex analysis and pattern recognition. The insights gained allow devices to predict failures, optimize performance, and respond dynamically to changing conditions without constant human intervention.   Benefits of AIoT are extensive: it leads to smarter, more efficient, and more autonomous systems. Devices can perform predictive maintenance, identifying potential issues before they cause downtime. They can optimize energy consumption, personalize user experiences, and enhance security through intelligent anomaly detection.   Examples: Consider a smart factory where AIoT sensors monitor machinery. Instead of just reporting temperature, AI algorithms analyze vibration patterns, motor currents, and historical data to predict when a machine part is likely to fail, scheduling maintenance proactively. In smart cities, AIoT-powered traffic lights can adapt their timing in real-time based on traffic flow, reducing congestion. In healthcare, AIoT wearables can monitor vital signs and use AI to detect early signs of health deterioration, alerting patients or caregivers.   Next, we explore Digital Twins, a revolutionary concept that creates a virtual replica of a physical object, process, or system. A digital twin is not just a 3D model; it's a dynamic, living model that is continuously updated with real-time data from its physical counterpart via IoT sensors.   Components: A digital twin consists of three main parts: the physical asset itself, the virtual model, and the data connection that links them. IoT sensors on the physical asset collect data on its performance, environment, and condition. This data is then fed into the virtual model, which accurately reflects the physical asset's state and behavior.   How it works: The digital twin acts as a bridge between the physical and digital worlds. By continuously receiving real-time data, the virtual model can simulate the physical asset's behavior, predict its future performance, and even allow for remote manipulation or testing of changes in a risk-free virtual environment before applying them to the physical world.   Benefits: Digital twins offer immense value across industries. They enable real-time monitoring and diagnostics, allowing operators to understand the current state of an asset at any moment. They facilitate predictive maintenance, identifying potential failures before they occur. They optimize performance by simulating different scenarios and finding the most efficient operating parameters. Furthermore, they support remote operations and scenario planning, reducing the need for physical presence and enabling better decision-making.   Examples: In aerospace, a digital twin of an aircraft engine can monitor its performance during flight, predict maintenance needs, and simulate the impact of different flight conditions. In smart buildings, a digital twin can optimize energy consumption, manage HVAC systems, and predict occupancy patterns. Manufacturers use digital twins of production lines to identify bottlenecks, test new configurations, and improve overall efficiency without disrupting actual production.   Finally, let's examine the intersection of Web3.0 and IoT. Web3.0 represents the next evolution of the internet, characterized by decentralization, blockchain technology, smart contracts, and enhanced user control over data. When combined with IoT, Web3.0 promises to address some of the most significant challenges facing connected devices, particularly around security, privacy, and data ownership.   How Web3.0 enhances IoT:   Decentralization: Traditional IoT relies heavily on centralized cloud servers, creating single points of failure and potential security vulnerabilities. Web3.0, through blockchain and peer-to-peer networks, enables decentralized IoT architectures where devices can communicate and transact directly with each other without intermediaries, enhancing resilience and reducing latency.   Security and Trust: Blockchain's immutable ledger provides a tamper-proof record of all device interactions and data. This can be used for secure device identity management, ensuring that only authorized devices connect to the network. Smart contracts can automate secure transactions and agreements between devices, building trust in autonomous systems.   Data Ownership and Monetization: In Web2.0 IoT, data often belongs to the platform provider. Web3.0 empowers users and devices to own their data. Through tokenization and decentralized data marketplaces, devices could securely share and even monetize the data they collect, creating new economic models for the IoT ecosystem.   Automated Transactions: Smart contracts, self-executing agreements stored on a blockchain, can enable autonomous transactions between IoT devices. For instance, a smart meter could automatically purchase energy from the cheapest available source on a decentralized grid, or a smart car could pay for parking and charging services directly.   Examples: Imagine a decentralized energy grid where smart homes with solar panels can automatically sell surplus energy to neighbors via a blockchain-based smart contract. In supply chain management, IoT sensors track goods, and their data is recorded on a blockchain, providing an immutable and transparent history of a product's journey from origin to consumer, ensuring authenticity and reducing fraud. Secure data marketplaces could allow smart city sensors to sell anonymized traffic or environmental data to urban planners or researchers, with clear ownership and usage rights defined by smart contracts.   The convergence of AI, digital replication, and decentralized web technologies is propelling IoT into an exciting and transformative future. AIoT is making our devices and systems smarter and more autonomous, capable of learning and adapting. Digital Twins are providing unprecedented insights and control over physical assets, enabling optimization and predictive capabilities across industries. Web3.0 is laying the groundwork for a more secure, transparent, and user-centric IoT ecosystem, addressing critical concerns around data privacy, ownership, and trust.   While challenges such as interoperability, robust security, and ethical considerations remain, the ongoing innovation in these areas promises to unlock new levels of efficiency, convenience, and sustainability. The future of IoT is not just about connecting more devices; it's about creating an intelligent, interconnected world where devices can think, learn, and interact autonomously and securely, fundamentally reshaping industries and our daily lives. Understanding these emerging trends is key to navigating and contributing to the next wave of IoT innovation.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