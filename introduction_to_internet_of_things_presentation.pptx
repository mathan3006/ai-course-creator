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Introduction to Internet of Things</a:t>
            </a:r>
          </a:p>
        </p:txBody>
      </p:sp>
      <p:sp>
        <p:nvSpPr>
          <p:cNvPr id="3" name="Subtitle 2"/>
          <p:cNvSpPr>
            <a:spLocks noGrp="1"/>
          </p:cNvSpPr>
          <p:nvPr>
            <p:ph type="subTitle" idx="1"/>
          </p:nvPr>
        </p:nvSpPr>
        <p:spPr/>
        <p:txBody>
          <a:bodyPr/>
          <a:lstStyle/>
          <a:p>
            <a:r>
              <a:t>Generated by AI Course Creator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1.1: What is the Internet of Things (IoT)? (Part 1)</a:t>
            </a:r>
          </a:p>
        </p:txBody>
      </p:sp>
      <p:sp>
        <p:nvSpPr>
          <p:cNvPr id="3" name="Content Placeholder 2"/>
          <p:cNvSpPr>
            <a:spLocks noGrp="1"/>
          </p:cNvSpPr>
          <p:nvPr>
            <p:ph idx="1"/>
          </p:nvPr>
        </p:nvSpPr>
        <p:spPr/>
        <p:txBody>
          <a:bodyPr/>
          <a:lstStyle/>
          <a:p/>
          <a:p>
            <a:pPr>
              <a:spcAft>
                <a:spcPts val="500"/>
              </a:spcAft>
              <a:defRPr sz="1600">
                <a:latin typeface="DejaVu Sans"/>
              </a:defRPr>
            </a:pPr>
            <a:r>
              <a:t>• The Internet of Things (IoT) is a network of physical objects ('things') embedded with sensors and software, enabling them to connect, collect, and exchange data over the internet for autonomous sensing and action.</a:t>
            </a:r>
          </a:p>
          <a:p>
            <a:pPr>
              <a:spcAft>
                <a:spcPts val="500"/>
              </a:spcAft>
              <a:defRPr sz="1600">
                <a:latin typeface="DejaVu Sans"/>
              </a:defRPr>
            </a:pPr>
            <a:r>
              <a:t>• Core IoT architecture consists of 'things' (devices with sensors/actuators), connectivity for data transmission, cloud-based data processing and analytics, and user interfaces for human interaction.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1.1: What is the Internet of Things (IoT)? (Part 2)</a:t>
            </a:r>
          </a:p>
        </p:txBody>
      </p:sp>
      <p:sp>
        <p:nvSpPr>
          <p:cNvPr id="3" name="Content Placeholder 2"/>
          <p:cNvSpPr>
            <a:spLocks noGrp="1"/>
          </p:cNvSpPr>
          <p:nvPr>
            <p:ph idx="1"/>
          </p:nvPr>
        </p:nvSpPr>
        <p:spPr/>
        <p:txBody>
          <a:bodyPr/>
          <a:lstStyle/>
          <a:p/>
          <a:p>
            <a:pPr>
              <a:spcAft>
                <a:spcPts val="500"/>
              </a:spcAft>
              <a:defRPr sz="1600">
                <a:latin typeface="DejaVu Sans"/>
              </a:defRPr>
            </a:pPr>
            <a:r>
              <a:t>• IoT systems operate by sensing environmental data, transmitting it via various connectivity options, processing it in the cloud for insights, and then triggering actions or alerts through user applications.</a:t>
            </a:r>
          </a:p>
          <a:p>
            <a:pPr>
              <a:spcAft>
                <a:spcPts val="500"/>
              </a:spcAft>
              <a:defRPr sz="1600">
                <a:latin typeface="DejaVu Sans"/>
              </a:defRPr>
            </a:pPr>
            <a:r>
              <a:t>• Key characteristics like interconnectivity, pervasive computing, and enormous scale drive IoT's benefits, including increased efficiency, convenience, enhanced safety, and data-driven insights across diverse applications.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1.2: History and Evolution of IoT (Part 1)</a:t>
            </a:r>
          </a:p>
        </p:txBody>
      </p:sp>
      <p:sp>
        <p:nvSpPr>
          <p:cNvPr id="3" name="Content Placeholder 2"/>
          <p:cNvSpPr>
            <a:spLocks noGrp="1"/>
          </p:cNvSpPr>
          <p:nvPr>
            <p:ph idx="1"/>
          </p:nvPr>
        </p:nvSpPr>
        <p:spPr/>
        <p:txBody>
          <a:bodyPr/>
          <a:lstStyle/>
          <a:p/>
          <a:p>
            <a:pPr>
              <a:spcAft>
                <a:spcPts val="500"/>
              </a:spcAft>
              <a:defRPr sz="1600">
                <a:latin typeface="DejaVu Sans"/>
              </a:defRPr>
            </a:pPr>
            <a:r>
              <a:t>• The concept of connecting everyday objects predates the term "Internet of Things," rooted in early networked devices (1980s vending machine) and Mark Weiser's 1990s vision of "ubiquitous computing."</a:t>
            </a:r>
          </a:p>
          <a:p>
            <a:pPr>
              <a:spcAft>
                <a:spcPts val="500"/>
              </a:spcAft>
              <a:defRPr sz="1600">
                <a:latin typeface="DejaVu Sans"/>
              </a:defRPr>
            </a:pPr>
            <a:r>
              <a:t>• The term "Internet of Things" was coined by Kevin Ashton in 1999, advocating for RFID technology to efficiently manage objects in supply chains.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1.2: History and Evolution of IoT (Part 2)</a:t>
            </a:r>
          </a:p>
        </p:txBody>
      </p:sp>
      <p:sp>
        <p:nvSpPr>
          <p:cNvPr id="3" name="Content Placeholder 2"/>
          <p:cNvSpPr>
            <a:spLocks noGrp="1"/>
          </p:cNvSpPr>
          <p:nvPr>
            <p:ph idx="1"/>
          </p:nvPr>
        </p:nvSpPr>
        <p:spPr/>
        <p:txBody>
          <a:bodyPr/>
          <a:lstStyle/>
          <a:p/>
          <a:p>
            <a:pPr>
              <a:spcAft>
                <a:spcPts val="500"/>
              </a:spcAft>
              <a:defRPr sz="1600">
                <a:latin typeface="DejaVu Sans"/>
              </a:defRPr>
            </a:pPr>
            <a:r>
              <a:t>• IoT's evolution was made possible by key technological advancements: miniaturization and cost reduction of hardware, diverse wireless communication, IPv6 adoption, scalable cloud computing, and improved sensor technology.</a:t>
            </a:r>
          </a:p>
          <a:p>
            <a:pPr>
              <a:spcAft>
                <a:spcPts val="500"/>
              </a:spcAft>
              <a:defRPr sz="1600">
                <a:latin typeface="DejaVu Sans"/>
              </a:defRPr>
            </a:pPr>
            <a:r>
              <a:t>• Early stages saw M2M communication and RFID applications (early 2000s), progressing with smartphone integration and mature cloud services (mid-2000s) for early wearables and smart grids.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1.3: Key Components and Architecture of IoT Systems (Part 1)</a:t>
            </a:r>
          </a:p>
        </p:txBody>
      </p:sp>
      <p:sp>
        <p:nvSpPr>
          <p:cNvPr id="3" name="Content Placeholder 2"/>
          <p:cNvSpPr>
            <a:spLocks noGrp="1"/>
          </p:cNvSpPr>
          <p:nvPr>
            <p:ph idx="1"/>
          </p:nvPr>
        </p:nvSpPr>
        <p:spPr/>
        <p:txBody>
          <a:bodyPr/>
          <a:lstStyle/>
          <a:p/>
          <a:p>
            <a:pPr>
              <a:spcAft>
                <a:spcPts val="500"/>
              </a:spcAft>
              <a:defRPr sz="1600">
                <a:latin typeface="DejaVu Sans"/>
              </a:defRPr>
            </a:pPr>
            <a:r>
              <a:t>• IoT systems are built upon physical 'Things' (sensors collecting data, actuators taking action) that perceive and interact with the physical world.</a:t>
            </a:r>
          </a:p>
          <a:p>
            <a:pPr>
              <a:spcAft>
                <a:spcPts val="500"/>
              </a:spcAft>
              <a:defRPr sz="1600">
                <a:latin typeface="DejaVu Sans"/>
              </a:defRPr>
            </a:pPr>
            <a:r>
              <a:t>• Connectivity (e.g., Wi-Fi, LoRaWAN, Cellular) forms the crucial infrastructure enabling data exchange between devices and the cloud, often via gateways.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1.3: Key Components and Architecture of IoT Systems (Part 2)</a:t>
            </a:r>
          </a:p>
        </p:txBody>
      </p:sp>
      <p:sp>
        <p:nvSpPr>
          <p:cNvPr id="3" name="Content Placeholder 2"/>
          <p:cNvSpPr>
            <a:spLocks noGrp="1"/>
          </p:cNvSpPr>
          <p:nvPr>
            <p:ph idx="1"/>
          </p:nvPr>
        </p:nvSpPr>
        <p:spPr/>
        <p:txBody>
          <a:bodyPr/>
          <a:lstStyle/>
          <a:p/>
          <a:p>
            <a:pPr>
              <a:spcAft>
                <a:spcPts val="500"/>
              </a:spcAft>
              <a:defRPr sz="1600">
                <a:latin typeface="DejaVu Sans"/>
              </a:defRPr>
            </a:pPr>
            <a:r>
              <a:t>• Data Processing occurs at the 'Edge' for real-time actions and reduced bandwidth, and in the 'Cloud' for extensive storage, advanced analytics, and machine learning capabilities.</a:t>
            </a:r>
          </a:p>
          <a:p>
            <a:pPr>
              <a:spcAft>
                <a:spcPts val="500"/>
              </a:spcAft>
              <a:defRPr sz="1600">
                <a:latin typeface="DejaVu Sans"/>
              </a:defRPr>
            </a:pPr>
            <a:r>
              <a:t>• User Interfaces &amp; Applications provide the means for users to interact with the system, visualize data, control devices, and derive actionable insights.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1.4: Benefits and Challenges of IoT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1</a:t>
            </a:r>
          </a:p>
          <a:p>
            <a:pPr>
              <a:spcAft>
                <a:spcPts val="500"/>
              </a:spcAft>
              <a:defRPr sz="1600">
                <a:latin typeface="DejaVu Sans"/>
              </a:defRPr>
            </a:pPr>
            <a:r>
              <a:t>• 4: Benefits and Challenges of IoT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1.4: Benefits and Challenges of IoT (Part 2)</a:t>
            </a:r>
          </a:p>
        </p:txBody>
      </p:sp>
      <p:sp>
        <p:nvSpPr>
          <p:cNvPr id="3" name="Content Placeholder 2"/>
          <p:cNvSpPr>
            <a:spLocks noGrp="1"/>
          </p:cNvSpPr>
          <p:nvPr>
            <p:ph idx="1"/>
          </p:nvPr>
        </p:nvSpPr>
        <p:spPr/>
        <p:txBody>
          <a:bodyPr/>
          <a:lstStyle/>
          <a:p/>
          <a:p>
            <a:pPr>
              <a:spcAft>
                <a:spcPts val="500"/>
              </a:spcAft>
              <a:defRPr sz="1600">
                <a:latin typeface="DejaVu Sans"/>
              </a:defRPr>
            </a:pPr>
            <a:r>
              <a:t>•  In our previous lessons, we've explored what the Internet of Things is and its fundamental components</a:t>
            </a:r>
          </a:p>
          <a:p>
            <a:pPr>
              <a:spcAft>
                <a:spcPts val="500"/>
              </a:spcAft>
              <a:defRPr sz="1600">
                <a:latin typeface="DejaVu Sans"/>
              </a:defRPr>
            </a:pPr>
            <a:r>
              <a:t>•  Now, as we delve deeper, it's crucial to understand the dual nature of IoT – its immense potential to transform industries and daily life, alongside the significant hurdles that need to be addressed for its successful and ethical implementation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1.5: Real-world Applications of IoT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1</a:t>
            </a:r>
          </a:p>
          <a:p>
            <a:pPr>
              <a:spcAft>
                <a:spcPts val="500"/>
              </a:spcAft>
              <a:defRPr sz="1600">
                <a:latin typeface="DejaVu Sans"/>
              </a:defRPr>
            </a:pPr>
            <a:r>
              <a:t>• 5: Real-world Applications of IoT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1.5: Real-world Applications of IoT (Part 2)</a:t>
            </a:r>
          </a:p>
        </p:txBody>
      </p:sp>
      <p:sp>
        <p:nvSpPr>
          <p:cNvPr id="3" name="Content Placeholder 2"/>
          <p:cNvSpPr>
            <a:spLocks noGrp="1"/>
          </p:cNvSpPr>
          <p:nvPr>
            <p:ph idx="1"/>
          </p:nvPr>
        </p:nvSpPr>
        <p:spPr/>
        <p:txBody>
          <a:bodyPr/>
          <a:lstStyle/>
          <a:p/>
          <a:p>
            <a:pPr>
              <a:spcAft>
                <a:spcPts val="500"/>
              </a:spcAft>
              <a:defRPr sz="1600">
                <a:latin typeface="DejaVu Sans"/>
              </a:defRPr>
            </a:pPr>
            <a:r>
              <a:t>•  In our previous lessons, we explored the fundamental concepts and architecture of the Internet of Things</a:t>
            </a:r>
          </a:p>
          <a:p>
            <a:pPr>
              <a:spcAft>
                <a:spcPts val="500"/>
              </a:spcAft>
              <a:defRPr sz="1600">
                <a:latin typeface="DejaVu Sans"/>
              </a:defRPr>
            </a:pPr>
            <a:r>
              <a:t>•  Now, it's time to see how these concepts translate into tangible solutions that are transforming industries and daily life around the globe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2.1: Introduction to IoT Devices and Sensors (Part 1)</a:t>
            </a:r>
          </a:p>
        </p:txBody>
      </p:sp>
      <p:sp>
        <p:nvSpPr>
          <p:cNvPr id="3" name="Content Placeholder 2"/>
          <p:cNvSpPr>
            <a:spLocks noGrp="1"/>
          </p:cNvSpPr>
          <p:nvPr>
            <p:ph idx="1"/>
          </p:nvPr>
        </p:nvSpPr>
        <p:spPr/>
        <p:txBody>
          <a:bodyPr/>
          <a:lstStyle/>
          <a:p/>
          <a:p>
            <a:pPr>
              <a:spcAft>
                <a:spcPts val="500"/>
              </a:spcAft>
              <a:defRPr sz="1600">
                <a:latin typeface="DejaVu Sans"/>
              </a:defRPr>
            </a:pPr>
            <a:r>
              <a:t>• IoT devices are physical objects embedded with sensors, software, and other technologies to connect and exchange data, characterized by connectivity, sensing/actuation, processing, unique identity, and a power source.</a:t>
            </a:r>
          </a:p>
          <a:p>
            <a:pPr>
              <a:spcAft>
                <a:spcPts val="500"/>
              </a:spcAft>
              <a:defRPr sz="1600">
                <a:latin typeface="DejaVu Sans"/>
              </a:defRPr>
            </a:pPr>
            <a:r>
              <a:t>• Key components of an IoT device include sensors (input), actuators (output), a processor, communication module, power management, and memory, working together to enable functionality.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2.1: Introduction to IoT Devices and Sensors (Part 2)</a:t>
            </a:r>
          </a:p>
        </p:txBody>
      </p:sp>
      <p:sp>
        <p:nvSpPr>
          <p:cNvPr id="3" name="Content Placeholder 2"/>
          <p:cNvSpPr>
            <a:spLocks noGrp="1"/>
          </p:cNvSpPr>
          <p:nvPr>
            <p:ph idx="1"/>
          </p:nvPr>
        </p:nvSpPr>
        <p:spPr/>
        <p:txBody>
          <a:bodyPr/>
          <a:lstStyle/>
          <a:p/>
          <a:p>
            <a:pPr>
              <a:spcAft>
                <a:spcPts val="500"/>
              </a:spcAft>
              <a:defRPr sz="1600">
                <a:latin typeface="DejaVu Sans"/>
              </a:defRPr>
            </a:pPr>
            <a:r>
              <a:t>• Sensors are critical input components that detect various physical phenomena (e.g., temperature, light, motion, pressure) and convert them into electrical signals for processing and transmission.</a:t>
            </a:r>
          </a:p>
          <a:p>
            <a:pPr>
              <a:spcAft>
                <a:spcPts val="500"/>
              </a:spcAft>
              <a:defRPr sz="1600">
                <a:latin typeface="DejaVu Sans"/>
              </a:defRPr>
            </a:pPr>
            <a:r>
              <a:t>• A vast array of sensor types, such as temperature, humidity, motion, light, GPS, and gas sensors, are used in IoT to gather specific data, enabling diverse applications across industries.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2.2: Types of Sensors and Actuators (Part 1)</a:t>
            </a:r>
          </a:p>
        </p:txBody>
      </p:sp>
      <p:sp>
        <p:nvSpPr>
          <p:cNvPr id="3" name="Content Placeholder 2"/>
          <p:cNvSpPr>
            <a:spLocks noGrp="1"/>
          </p:cNvSpPr>
          <p:nvPr>
            <p:ph idx="1"/>
          </p:nvPr>
        </p:nvSpPr>
        <p:spPr/>
        <p:txBody>
          <a:bodyPr/>
          <a:lstStyle/>
          <a:p/>
          <a:p>
            <a:pPr>
              <a:spcAft>
                <a:spcPts val="500"/>
              </a:spcAft>
              <a:defRPr sz="1600">
                <a:latin typeface="DejaVu Sans"/>
              </a:defRPr>
            </a:pPr>
            <a:r>
              <a:t>• Sensors are the 'eyes and ears' of IoT, detecting physical phenomena (e.g., temperature, light, motion) and converting them into electrical signals for processing.</a:t>
            </a:r>
          </a:p>
          <a:p>
            <a:pPr>
              <a:spcAft>
                <a:spcPts val="500"/>
              </a:spcAft>
              <a:defRPr sz="1600">
                <a:latin typeface="DejaVu Sans"/>
              </a:defRPr>
            </a:pPr>
            <a:r>
              <a:t>• Sensors are categorized (e.g., analog/digital, active/passive) and include various types like temperature, light, proximity, and motion sensors, each having key characteristics like accuracy and response time.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2.2: Types of Sensors and Actuators (Part 2)</a:t>
            </a:r>
          </a:p>
        </p:txBody>
      </p:sp>
      <p:sp>
        <p:nvSpPr>
          <p:cNvPr id="3" name="Content Placeholder 2"/>
          <p:cNvSpPr>
            <a:spLocks noGrp="1"/>
          </p:cNvSpPr>
          <p:nvPr>
            <p:ph idx="1"/>
          </p:nvPr>
        </p:nvSpPr>
        <p:spPr/>
        <p:txBody>
          <a:bodyPr/>
          <a:lstStyle/>
          <a:p/>
          <a:p>
            <a:pPr>
              <a:spcAft>
                <a:spcPts val="500"/>
              </a:spcAft>
              <a:defRPr sz="1600">
                <a:latin typeface="DejaVu Sans"/>
              </a:defRPr>
            </a:pPr>
            <a:r>
              <a:t>• Actuators are the 'hands and feet' of IoT, converting electrical signals into physical actions to interact with the environment, such as motors (for motion), solenoids (for linear action), relays (for switching), and LEDs (for visual feedback).</a:t>
            </a:r>
          </a:p>
          <a:p>
            <a:pPr>
              <a:spcAft>
                <a:spcPts val="500"/>
              </a:spcAft>
              <a:defRPr sz="1600">
                <a:latin typeface="DejaVu Sans"/>
              </a:defRPr>
            </a:pPr>
            <a:r>
              <a:t>• The core of IoT functionality lies in the feedback loop where sensors detect changes, the system processes this data, and actuators then perform specific physical actions in response.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2.3: Microcontrollers and Microprocessors for IoT (e.g., Arduino, Raspberry Pi) (Part 1)</a:t>
            </a:r>
          </a:p>
        </p:txBody>
      </p:sp>
      <p:sp>
        <p:nvSpPr>
          <p:cNvPr id="3" name="Content Placeholder 2"/>
          <p:cNvSpPr>
            <a:spLocks noGrp="1"/>
          </p:cNvSpPr>
          <p:nvPr>
            <p:ph idx="1"/>
          </p:nvPr>
        </p:nvSpPr>
        <p:spPr/>
        <p:txBody>
          <a:bodyPr/>
          <a:lstStyle/>
          <a:p/>
          <a:p>
            <a:pPr>
              <a:spcAft>
                <a:spcPts val="500"/>
              </a:spcAft>
              <a:defRPr sz="1600">
                <a:latin typeface="DejaVu Sans"/>
              </a:defRPr>
            </a:pPr>
            <a:r>
              <a:t>• Microcontrollers (MCUs) and Microprocessors (MPUs) are the 'brains' of IoT, each serving distinct roles based on their architecture and capabilities.</a:t>
            </a:r>
          </a:p>
          <a:p>
            <a:pPr>
              <a:spcAft>
                <a:spcPts val="500"/>
              </a:spcAft>
              <a:defRPr sz="1600">
                <a:latin typeface="DejaVu Sans"/>
              </a:defRPr>
            </a:pPr>
            <a:r>
              <a:t>• MCUs are compact, integrated single-chip systems (CPU, memory, I/O) designed for low-power, real-time, specific tasks at the IoT edge, exemplified by Arduino boards.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2.3: Microcontrollers and Microprocessors for IoT (e.g., Arduino, Raspberry Pi) (Part 2)</a:t>
            </a:r>
          </a:p>
        </p:txBody>
      </p:sp>
      <p:sp>
        <p:nvSpPr>
          <p:cNvPr id="3" name="Content Placeholder 2"/>
          <p:cNvSpPr>
            <a:spLocks noGrp="1"/>
          </p:cNvSpPr>
          <p:nvPr>
            <p:ph idx="1"/>
          </p:nvPr>
        </p:nvSpPr>
        <p:spPr/>
        <p:txBody>
          <a:bodyPr/>
          <a:lstStyle/>
          <a:p/>
          <a:p>
            <a:pPr>
              <a:spcAft>
                <a:spcPts val="500"/>
              </a:spcAft>
              <a:defRPr sz="1600">
                <a:latin typeface="DejaVu Sans"/>
              </a:defRPr>
            </a:pPr>
            <a:r>
              <a:t>• MPUs are powerful, general-purpose CPUs requiring external components and full OS support, suited for complex computations, data analytics, and IoT gateways, like the Raspberry Pi.</a:t>
            </a:r>
          </a:p>
          <a:p>
            <a:pPr>
              <a:spcAft>
                <a:spcPts val="500"/>
              </a:spcAft>
              <a:defRPr sz="1600">
                <a:latin typeface="DejaVu Sans"/>
              </a:defRPr>
            </a:pPr>
            <a:r>
              <a:t>• Key differences include integration (MCU: system-on-chip; MPU: CPU plus external), OS support (MCU: bare-metal/RTOS; MPU: full OS), processing power, and power consumption.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 2.4: Communication Modules (Wi-Fi, Bluetooth, LoRa, Cellular) (Part 1)</a:t>
            </a:r>
          </a:p>
        </p:txBody>
      </p:sp>
      <p:sp>
        <p:nvSpPr>
          <p:cNvPr id="3" name="Content Placeholder 2"/>
          <p:cNvSpPr>
            <a:spLocks noGrp="1"/>
          </p:cNvSpPr>
          <p:nvPr>
            <p:ph idx="1"/>
          </p:nvPr>
        </p:nvSpPr>
        <p:spPr/>
        <p:txBody>
          <a:bodyPr/>
          <a:lstStyle/>
          <a:p/>
          <a:p>
            <a:pPr>
              <a:spcAft>
                <a:spcPts val="500"/>
              </a:spcAft>
              <a:defRPr sz="1600">
                <a:latin typeface="DejaVu Sans"/>
              </a:defRPr>
            </a:pPr>
            <a:r>
              <a:t>• IoT communication modules (Wi-Fi, Bluetooth, LoRa, Cellular) are crucial for device interaction, with selection impacting factors like power, range, data rate, and cost.</a:t>
            </a:r>
          </a:p>
          <a:p>
            <a:pPr>
              <a:spcAft>
                <a:spcPts val="500"/>
              </a:spcAft>
              <a:defRPr sz="1600">
                <a:latin typeface="DejaVu Sans"/>
              </a:defRPr>
            </a:pPr>
            <a:r>
              <a:t>• Wi-Fi provides high-bandwidth local connectivity for data-intensive applications like smart cameras but has higher power consumption and limited range. Bluetooth, particularly BLE, offers short-range, ultra-low-power connectivity ideal for wearables and device-to-device links.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 2.4: Communication Modules (Wi-Fi, Bluetooth, LoRa, Cellular) (Part 2)</a:t>
            </a:r>
          </a:p>
        </p:txBody>
      </p:sp>
      <p:sp>
        <p:nvSpPr>
          <p:cNvPr id="3" name="Content Placeholder 2"/>
          <p:cNvSpPr>
            <a:spLocks noGrp="1"/>
          </p:cNvSpPr>
          <p:nvPr>
            <p:ph idx="1"/>
          </p:nvPr>
        </p:nvSpPr>
        <p:spPr/>
        <p:txBody>
          <a:bodyPr/>
          <a:lstStyle/>
          <a:p/>
          <a:p>
            <a:pPr>
              <a:spcAft>
                <a:spcPts val="500"/>
              </a:spcAft>
              <a:defRPr sz="1600">
                <a:latin typeface="DejaVu Sans"/>
              </a:defRPr>
            </a:pPr>
            <a:r>
              <a:t>• LoRa (Long Range) is an LPWAN technology enabling extremely long-range, ultra-low-power communication for infrequent, small data packets, perfect for smart agriculture or asset tracking, at the expense of data rate.</a:t>
            </a:r>
          </a:p>
          <a:p>
            <a:pPr>
              <a:spcAft>
                <a:spcPts val="500"/>
              </a:spcAft>
              <a:defRPr sz="1600">
                <a:latin typeface="DejaVu Sans"/>
              </a:defRPr>
            </a:pPr>
            <a:r>
              <a:t>• Cellular technologies (2G/3G/4G/5G and IoT-specific NB-IoT/LTE-M) offer extensive wide-area coverage and reliability. Traditional cellular provides high data, while NB-IoT optimizes for ultra-low power and LTE-M balances performance for applications like smart metering or connected vehicles.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2.5: 2.5: Power Management for IoT Devices (Part 1)</a:t>
            </a:r>
          </a:p>
        </p:txBody>
      </p:sp>
      <p:sp>
        <p:nvSpPr>
          <p:cNvPr id="3" name="Content Placeholder 2"/>
          <p:cNvSpPr>
            <a:spLocks noGrp="1"/>
          </p:cNvSpPr>
          <p:nvPr>
            <p:ph idx="1"/>
          </p:nvPr>
        </p:nvSpPr>
        <p:spPr/>
        <p:txBody>
          <a:bodyPr/>
          <a:lstStyle/>
          <a:p/>
          <a:p>
            <a:pPr>
              <a:spcAft>
                <a:spcPts val="500"/>
              </a:spcAft>
              <a:defRPr sz="1600">
                <a:latin typeface="DejaVu Sans"/>
              </a:defRPr>
            </a:pPr>
            <a:r>
              <a:t>• Efficient power management is fundamental for IoT devices due to finite battery life, remote deployments, and size/cost constraints, directly impacting longevity, reliability, and maintenance costs.</a:t>
            </a:r>
          </a:p>
          <a:p>
            <a:pPr>
              <a:spcAft>
                <a:spcPts val="500"/>
              </a:spcAft>
              <a:defRPr sz="1600">
                <a:latin typeface="DejaVu Sans"/>
              </a:defRPr>
            </a:pPr>
            <a:r>
              <a:t>• Primary power consumers in IoT devices include the Microcontroller (MCU), sensors, and most notably, wireless communication modules (Wi-Fi, Cellular, LoRaWAN, Bluetooth), which are often the most power-intensive.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2.5: 2.5: Power Management for IoT Devices (Part 2)</a:t>
            </a:r>
          </a:p>
        </p:txBody>
      </p:sp>
      <p:sp>
        <p:nvSpPr>
          <p:cNvPr id="3" name="Content Placeholder 2"/>
          <p:cNvSpPr>
            <a:spLocks noGrp="1"/>
          </p:cNvSpPr>
          <p:nvPr>
            <p:ph idx="1"/>
          </p:nvPr>
        </p:nvSpPr>
        <p:spPr/>
        <p:txBody>
          <a:bodyPr/>
          <a:lstStyle/>
          <a:p/>
          <a:p>
            <a:pPr>
              <a:spcAft>
                <a:spcPts val="500"/>
              </a:spcAft>
              <a:defRPr sz="1600">
                <a:latin typeface="DejaVu Sans"/>
              </a:defRPr>
            </a:pPr>
            <a:r>
              <a:t>• Leveraging MCU low-power modes (e.g., Sleep, Deep Sleep, Hibernate) and implementing duty cycling (waking up briefly to perform tasks then sleeping) is a core technique to drastically reduce average power consumption.</a:t>
            </a:r>
          </a:p>
          <a:p>
            <a:pPr>
              <a:spcAft>
                <a:spcPts val="500"/>
              </a:spcAft>
              <a:defRPr sz="1600">
                <a:latin typeface="DejaVu Sans"/>
              </a:defRPr>
            </a:pPr>
            <a:r>
              <a:t>• Optimizing communication involves selecting energy-efficient protocols (e.g., BLE, LoRaWAN for LPWAN) and minimizing transmission frequency; sensor usage is optimized via duty cycling, data aggregation, or threshold-based activation.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3.1: 3.1: Overview of IoT Network Topologies (Part 1)</a:t>
            </a:r>
          </a:p>
        </p:txBody>
      </p:sp>
      <p:sp>
        <p:nvSpPr>
          <p:cNvPr id="3" name="Content Placeholder 2"/>
          <p:cNvSpPr>
            <a:spLocks noGrp="1"/>
          </p:cNvSpPr>
          <p:nvPr>
            <p:ph idx="1"/>
          </p:nvPr>
        </p:nvSpPr>
        <p:spPr/>
        <p:txBody>
          <a:bodyPr/>
          <a:lstStyle/>
          <a:p/>
          <a:p>
            <a:pPr>
              <a:spcAft>
                <a:spcPts val="500"/>
              </a:spcAft>
              <a:defRPr sz="1600">
                <a:latin typeface="DejaVu Sans"/>
              </a:defRPr>
            </a:pPr>
            <a:r>
              <a:t>• IoT network topologies describe the physical and logical arrangement of devices (sensors, gateways, cloud), fundamentally influencing network performance, reliability, scalability, and cost.</a:t>
            </a:r>
          </a:p>
          <a:p>
            <a:pPr>
              <a:spcAft>
                <a:spcPts val="500"/>
              </a:spcAft>
              <a:defRPr sz="1600">
                <a:latin typeface="DejaVu Sans"/>
              </a:defRPr>
            </a:pPr>
            <a:r>
              <a:t>• Star topology connects devices to a central hub, offering simplicity and easy management, but creating a single point of failure (e.g., smart home systems).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3.1: 3.1: Overview of IoT Network Topologies (Part 2)</a:t>
            </a:r>
          </a:p>
        </p:txBody>
      </p:sp>
      <p:sp>
        <p:nvSpPr>
          <p:cNvPr id="3" name="Content Placeholder 2"/>
          <p:cNvSpPr>
            <a:spLocks noGrp="1"/>
          </p:cNvSpPr>
          <p:nvPr>
            <p:ph idx="1"/>
          </p:nvPr>
        </p:nvSpPr>
        <p:spPr/>
        <p:txBody>
          <a:bodyPr/>
          <a:lstStyle/>
          <a:p/>
          <a:p>
            <a:pPr>
              <a:spcAft>
                <a:spcPts val="500"/>
              </a:spcAft>
              <a:defRPr sz="1600">
                <a:latin typeface="DejaVu Sans"/>
              </a:defRPr>
            </a:pPr>
            <a:r>
              <a:t>• Mesh topology provides high reliability and fault tolerance through redundant interconnections, suitable for critical and large-scale applications but is complex and costly (e.g., smart cities, IIoT).</a:t>
            </a:r>
          </a:p>
          <a:p>
            <a:pPr>
              <a:spcAft>
                <a:spcPts val="500"/>
              </a:spcAft>
              <a:defRPr sz="1600">
                <a:latin typeface="DejaVu Sans"/>
              </a:defRPr>
            </a:pPr>
            <a:r>
              <a:t>• While Bus and Ring topologies have niche applications, large-scale IoT commonly employs Hybrid topologies, combining different basic types to leverage their strengths and meet specific deployment needs.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3.2: 3.2: Short-Range Protocols: Bluetooth, Zigbee, NFC (Part 1)</a:t>
            </a:r>
          </a:p>
        </p:txBody>
      </p:sp>
      <p:sp>
        <p:nvSpPr>
          <p:cNvPr id="3" name="Content Placeholder 2"/>
          <p:cNvSpPr>
            <a:spLocks noGrp="1"/>
          </p:cNvSpPr>
          <p:nvPr>
            <p:ph idx="1"/>
          </p:nvPr>
        </p:nvSpPr>
        <p:spPr/>
        <p:txBody>
          <a:bodyPr/>
          <a:lstStyle/>
          <a:p/>
          <a:p>
            <a:pPr>
              <a:spcAft>
                <a:spcPts val="500"/>
              </a:spcAft>
              <a:defRPr sz="1600">
                <a:latin typeface="DejaVu Sans"/>
              </a:defRPr>
            </a:pPr>
            <a:r>
              <a:t>• Short-range protocols like Bluetooth, Zigbee, and NFC are fundamental for IoT, enabling local device-to-device communication with low power consumption over limited distances.</a:t>
            </a:r>
          </a:p>
          <a:p>
            <a:pPr>
              <a:spcAft>
                <a:spcPts val="500"/>
              </a:spcAft>
              <a:defRPr sz="1600">
                <a:latin typeface="DejaVu Sans"/>
              </a:defRPr>
            </a:pPr>
            <a:r>
              <a:t>• Bluetooth (especially BLE) establishes Personal Area Networks (PANs) for connecting peripherals like wearables and smart home devices, supporting both point-to-point and mesh topologies.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3.2: 3.2: Short-Range Protocols: Bluetooth, Zigbee, NFC (Part 2)</a:t>
            </a:r>
          </a:p>
        </p:txBody>
      </p:sp>
      <p:sp>
        <p:nvSpPr>
          <p:cNvPr id="3" name="Content Placeholder 2"/>
          <p:cNvSpPr>
            <a:spLocks noGrp="1"/>
          </p:cNvSpPr>
          <p:nvPr>
            <p:ph idx="1"/>
          </p:nvPr>
        </p:nvSpPr>
        <p:spPr/>
        <p:txBody>
          <a:bodyPr/>
          <a:lstStyle/>
          <a:p/>
          <a:p>
            <a:pPr>
              <a:spcAft>
                <a:spcPts val="500"/>
              </a:spcAft>
              <a:defRPr sz="1600">
                <a:latin typeface="DejaVu Sans"/>
              </a:defRPr>
            </a:pPr>
            <a:r>
              <a:t>• Zigbee excels in creating robust, scalable, and self-healing mesh networks, making it ideal for comprehensive smart home automation and industrial control due to its low power and extended range capabilities.</a:t>
            </a:r>
          </a:p>
          <a:p>
            <a:pPr>
              <a:spcAft>
                <a:spcPts val="500"/>
              </a:spcAft>
              <a:defRPr sz="1600">
                <a:latin typeface="DejaVu Sans"/>
              </a:defRPr>
            </a:pPr>
            <a:r>
              <a:t>• NFC (Near Field Communication) facilitates ultra-short-range (under 4 cm), secure interactions for applications such as contactless payments, access control, and quick device pairing, often using passive tags.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3.3: 3.3: Long-Range Protocols: LoRaWAN, NB-IoT, Sigfox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3</a:t>
            </a:r>
          </a:p>
          <a:p>
            <a:pPr>
              <a:spcAft>
                <a:spcPts val="500"/>
              </a:spcAft>
              <a:defRPr sz="1600">
                <a:latin typeface="DejaVu Sans"/>
              </a:defRPr>
            </a:pPr>
            <a:r>
              <a:t>• 3: Long-Range Protocols: LoRaWAN, NB-IoT, Sigfox</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3.3: 3.3: Long-Range Protocols: LoRaWAN, NB-IoT, Sigfox (Part 2)</a:t>
            </a:r>
          </a:p>
        </p:txBody>
      </p:sp>
      <p:sp>
        <p:nvSpPr>
          <p:cNvPr id="3" name="Content Placeholder 2"/>
          <p:cNvSpPr>
            <a:spLocks noGrp="1"/>
          </p:cNvSpPr>
          <p:nvPr>
            <p:ph idx="1"/>
          </p:nvPr>
        </p:nvSpPr>
        <p:spPr/>
        <p:txBody>
          <a:bodyPr/>
          <a:lstStyle/>
          <a:p/>
          <a:p>
            <a:pPr>
              <a:spcAft>
                <a:spcPts val="500"/>
              </a:spcAft>
              <a:defRPr sz="1600">
                <a:latin typeface="DejaVu Sans"/>
              </a:defRPr>
            </a:pPr>
            <a:r>
              <a:t>•  In the vast and diverse landscape of the Internet of Things (IoT), not all devices can rely on short-range, high-bandwidth communication like Wi-Fi or Bluetooth</a:t>
            </a:r>
          </a:p>
          <a:p>
            <a:pPr>
              <a:spcAft>
                <a:spcPts val="500"/>
              </a:spcAft>
              <a:defRPr sz="1600">
                <a:latin typeface="DejaVu Sans"/>
              </a:defRPr>
            </a:pPr>
            <a:r>
              <a:t>•  Many IoT applications, especially those in remote areas, smart cities, or industrial settings, require devices to communicate over long distances while consuming minimal power to ensure extended battery life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 3.4: Application Layer Protocols: MQTT, CoAP, HTTP (Part 1)</a:t>
            </a:r>
          </a:p>
        </p:txBody>
      </p:sp>
      <p:sp>
        <p:nvSpPr>
          <p:cNvPr id="3" name="Content Placeholder 2"/>
          <p:cNvSpPr>
            <a:spLocks noGrp="1"/>
          </p:cNvSpPr>
          <p:nvPr>
            <p:ph idx="1"/>
          </p:nvPr>
        </p:nvSpPr>
        <p:spPr/>
        <p:txBody>
          <a:bodyPr/>
          <a:lstStyle/>
          <a:p/>
          <a:p>
            <a:pPr>
              <a:spcAft>
                <a:spcPts val="500"/>
              </a:spcAft>
              <a:defRPr sz="1600">
                <a:latin typeface="DejaVu Sans"/>
              </a:defRPr>
            </a:pPr>
            <a:r>
              <a:t>• Application layer protocols (MQTT, CoAP, HTTP) are crucial for efficient IoT communication, chosen based on device constraints, network conditions, and communication patterns.</a:t>
            </a:r>
          </a:p>
          <a:p>
            <a:pPr>
              <a:spcAft>
                <a:spcPts val="500"/>
              </a:spcAft>
              <a:defRPr sz="1600">
                <a:latin typeface="DejaVu Sans"/>
              </a:defRPr>
            </a:pPr>
            <a:r>
              <a:t>• MQTT (Message Queuing Telemetry Transport) is a lightweight, publish/subscribe protocol over TCP/IP, ideal for constrained devices, unreliable networks, and telemetry (e.g., sensor networks) using a central broker and topics.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 3.4: Application Layer Protocols: MQTT, CoAP, HTTP (Part 2)</a:t>
            </a:r>
          </a:p>
        </p:txBody>
      </p:sp>
      <p:sp>
        <p:nvSpPr>
          <p:cNvPr id="3" name="Content Placeholder 2"/>
          <p:cNvSpPr>
            <a:spLocks noGrp="1"/>
          </p:cNvSpPr>
          <p:nvPr>
            <p:ph idx="1"/>
          </p:nvPr>
        </p:nvSpPr>
        <p:spPr/>
        <p:txBody>
          <a:bodyPr/>
          <a:lstStyle/>
          <a:p/>
          <a:p>
            <a:pPr>
              <a:spcAft>
                <a:spcPts val="500"/>
              </a:spcAft>
              <a:defRPr sz="1600">
                <a:latin typeface="DejaVu Sans"/>
              </a:defRPr>
            </a:pPr>
            <a:r>
              <a:t>• CoAP (Constrained Application Protocol) is a lightweight, RESTful request/response protocol over UDP, designed for resource-constrained nodes to enable direct device interaction and resource observation.</a:t>
            </a:r>
          </a:p>
          <a:p>
            <a:pPr>
              <a:spcAft>
                <a:spcPts val="500"/>
              </a:spcAft>
              <a:defRPr sz="1600">
                <a:latin typeface="DejaVu Sans"/>
              </a:defRPr>
            </a:pPr>
            <a:r>
              <a:t>• HTTP (Hypertext Transfer Protocol) is a robust, ubiquitous request/response protocol over TCP/IP, suitable for IoT devices with ample resources, cloud integration, web services, and powerful gateways despite its higher overhead.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3.5: 3.5: Data Formats and Serialization (JSON, XML)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3</a:t>
            </a:r>
          </a:p>
          <a:p>
            <a:pPr>
              <a:spcAft>
                <a:spcPts val="500"/>
              </a:spcAft>
              <a:defRPr sz="1600">
                <a:latin typeface="DejaVu Sans"/>
              </a:defRPr>
            </a:pPr>
            <a:r>
              <a:t>• 5: Data Formats and Serialization (JSON, XML)</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3.5: 3.5: Data Formats and Serialization (JSON, XML) (Part 2)</a:t>
            </a:r>
          </a:p>
        </p:txBody>
      </p:sp>
      <p:sp>
        <p:nvSpPr>
          <p:cNvPr id="3" name="Content Placeholder 2"/>
          <p:cNvSpPr>
            <a:spLocks noGrp="1"/>
          </p:cNvSpPr>
          <p:nvPr>
            <p:ph idx="1"/>
          </p:nvPr>
        </p:nvSpPr>
        <p:spPr/>
        <p:txBody>
          <a:bodyPr/>
          <a:lstStyle/>
          <a:p/>
          <a:p>
            <a:pPr>
              <a:spcAft>
                <a:spcPts val="500"/>
              </a:spcAft>
              <a:defRPr sz="1600">
                <a:latin typeface="DejaVu Sans"/>
              </a:defRPr>
            </a:pPr>
            <a:r>
              <a:t>•  In the world of the Internet of Things (IoT), devices constantly generate and exchange vast amounts of data</a:t>
            </a:r>
          </a:p>
          <a:p>
            <a:pPr>
              <a:spcAft>
                <a:spcPts val="500"/>
              </a:spcAft>
              <a:defRPr sz="1600">
                <a:latin typeface="DejaVu Sans"/>
              </a:defRPr>
            </a:pPr>
            <a:r>
              <a:t>•  For this data to be useful, it needs to be structured, transmitted efficiently, and understood by different systems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4.1: 4.1: Introduction to IoT Data Collection and Storage (Part 1)</a:t>
            </a:r>
          </a:p>
        </p:txBody>
      </p:sp>
      <p:sp>
        <p:nvSpPr>
          <p:cNvPr id="3" name="Content Placeholder 2"/>
          <p:cNvSpPr>
            <a:spLocks noGrp="1"/>
          </p:cNvSpPr>
          <p:nvPr>
            <p:ph idx="1"/>
          </p:nvPr>
        </p:nvSpPr>
        <p:spPr/>
        <p:txBody>
          <a:bodyPr/>
          <a:lstStyle/>
          <a:p/>
          <a:p>
            <a:pPr>
              <a:spcAft>
                <a:spcPts val="500"/>
              </a:spcAft>
              <a:defRPr sz="1600">
                <a:latin typeface="DejaVu Sans"/>
              </a:defRPr>
            </a:pPr>
            <a:r>
              <a:t>• IoT data, vital for intelligent systems, is diverse information (e.g., sensor readings, device status, media) characterized by its Volume, Velocity, and Variety.</a:t>
            </a:r>
          </a:p>
          <a:p>
            <a:pPr>
              <a:spcAft>
                <a:spcPts val="500"/>
              </a:spcAft>
              <a:defRPr sz="1600">
                <a:latin typeface="DejaVu Sans"/>
              </a:defRPr>
            </a:pPr>
            <a:r>
              <a:t>• Data collection involves sensors, IoT devices, and gateways for aggregation, with transmission facilitated by various communication protocols like MQTT, Wi-Fi, and LoRaWAN.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4.1: 4.1: Introduction to IoT Data Collection and Storage (Part 2)</a:t>
            </a:r>
          </a:p>
        </p:txBody>
      </p:sp>
      <p:sp>
        <p:nvSpPr>
          <p:cNvPr id="3" name="Content Placeholder 2"/>
          <p:cNvSpPr>
            <a:spLocks noGrp="1"/>
          </p:cNvSpPr>
          <p:nvPr>
            <p:ph idx="1"/>
          </p:nvPr>
        </p:nvSpPr>
        <p:spPr/>
        <p:txBody>
          <a:bodyPr/>
          <a:lstStyle/>
          <a:p/>
          <a:p>
            <a:pPr>
              <a:spcAft>
                <a:spcPts val="500"/>
              </a:spcAft>
              <a:defRPr sz="1600">
                <a:latin typeface="DejaVu Sans"/>
              </a:defRPr>
            </a:pPr>
            <a:r>
              <a:t>• Edge computing optimizes data collection by processing data closer to the source, reducing latency, saving bandwidth, enhancing security, and enabling offline operations.</a:t>
            </a:r>
          </a:p>
          <a:p>
            <a:pPr>
              <a:spcAft>
                <a:spcPts val="500"/>
              </a:spcAft>
              <a:defRPr sz="1600">
                <a:latin typeface="DejaVu Sans"/>
              </a:defRPr>
            </a:pPr>
            <a:r>
              <a:t>• IoT data storage is essential for analysis and AI/ML, utilizing options from local/edge devices to scalable cloud platforms, including SQL, NoSQL, and specialized Time-Series databases or data lakes.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4.2: 4.2: Edge Computing vs. Cloud Computing in IoT (Part 1)</a:t>
            </a:r>
          </a:p>
        </p:txBody>
      </p:sp>
      <p:sp>
        <p:nvSpPr>
          <p:cNvPr id="3" name="Content Placeholder 2"/>
          <p:cNvSpPr>
            <a:spLocks noGrp="1"/>
          </p:cNvSpPr>
          <p:nvPr>
            <p:ph idx="1"/>
          </p:nvPr>
        </p:nvSpPr>
        <p:spPr/>
        <p:txBody>
          <a:bodyPr/>
          <a:lstStyle/>
          <a:p/>
          <a:p>
            <a:pPr>
              <a:spcAft>
                <a:spcPts val="500"/>
              </a:spcAft>
              <a:defRPr sz="1600">
                <a:latin typeface="DejaVu Sans"/>
              </a:defRPr>
            </a:pPr>
            <a:r>
              <a:t>• Cloud Computing centralizes IoT data processing in remote servers, offering unparalleled scalability, vast storage, powerful analytics, and global access but introduces latency and bandwidth dependency.</a:t>
            </a:r>
          </a:p>
          <a:p>
            <a:pPr>
              <a:spcAft>
                <a:spcPts val="500"/>
              </a:spcAft>
              <a:defRPr sz="1600">
                <a:latin typeface="DejaVu Sans"/>
              </a:defRPr>
            </a:pPr>
            <a:r>
              <a:t>• Edge Computing processes IoT data locally at the network's periphery, enabling low-latency real-time responses, reduced bandwidth usage, enhanced security, and offline operation for mission-critical applications.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4.2: 4.2: Edge Computing vs. Cloud Computing in IoT (Part 2)</a:t>
            </a:r>
          </a:p>
        </p:txBody>
      </p:sp>
      <p:sp>
        <p:nvSpPr>
          <p:cNvPr id="3" name="Content Placeholder 2"/>
          <p:cNvSpPr>
            <a:spLocks noGrp="1"/>
          </p:cNvSpPr>
          <p:nvPr>
            <p:ph idx="1"/>
          </p:nvPr>
        </p:nvSpPr>
        <p:spPr/>
        <p:txBody>
          <a:bodyPr/>
          <a:lstStyle/>
          <a:p/>
          <a:p>
            <a:pPr>
              <a:spcAft>
                <a:spcPts val="500"/>
              </a:spcAft>
              <a:defRPr sz="1600">
                <a:latin typeface="DejaVu Sans"/>
              </a:defRPr>
            </a:pPr>
            <a:r>
              <a:t>• Cloud excels in big data analytics, long-term storage, and complex machine learning for global insights, while Edge is crucial for immediate decision-making and operational efficiency close to the data source.</a:t>
            </a:r>
          </a:p>
          <a:p>
            <a:pPr>
              <a:spcAft>
                <a:spcPts val="500"/>
              </a:spcAft>
              <a:defRPr sz="1600">
                <a:latin typeface="DejaVu Sans"/>
              </a:defRPr>
            </a:pPr>
            <a:r>
              <a:t>• Key trade-offs include Cloud's high processing power and storage versus Edge's speed and reduced bandwidth; however, Edge devices have limited resources and can incur higher initial hardware costs.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4.3: 4.3: Popular IoT Cloud Platforms (e.g., AWS IoT, Azure IoT, Google Cloud IoT) (Part 1)</a:t>
            </a:r>
          </a:p>
        </p:txBody>
      </p:sp>
      <p:sp>
        <p:nvSpPr>
          <p:cNvPr id="3" name="Content Placeholder 2"/>
          <p:cNvSpPr>
            <a:spLocks noGrp="1"/>
          </p:cNvSpPr>
          <p:nvPr>
            <p:ph idx="1"/>
          </p:nvPr>
        </p:nvSpPr>
        <p:spPr/>
        <p:txBody>
          <a:bodyPr/>
          <a:lstStyle/>
          <a:p/>
          <a:p>
            <a:pPr>
              <a:spcAft>
                <a:spcPts val="500"/>
              </a:spcAft>
              <a:defRPr sz="1600">
                <a:latin typeface="DejaVu Sans"/>
              </a:defRPr>
            </a:pPr>
            <a:r>
              <a:t>• IoT cloud platforms provide scalable, secure, and managed services essential for connecting, managing, processing, and analyzing vast amounts of data from IoT devices, abstracting complex infrastructure.</a:t>
            </a:r>
          </a:p>
          <a:p>
            <a:pPr>
              <a:spcAft>
                <a:spcPts val="500"/>
              </a:spcAft>
              <a:defRPr sz="1600">
                <a:latin typeface="DejaVu Sans"/>
              </a:defRPr>
            </a:pPr>
            <a:r>
              <a:t>• Key functionalities include robust device management (registration, monitoring, updates), secure communication with authentication and encryption, efficient data ingestion and processing, and seamless integration with analytics and machine learning tools.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4.3: 4.3: Popular IoT Cloud Platforms (e.g., AWS IoT, Azure IoT, Google Cloud IoT) (Part 2)</a:t>
            </a:r>
          </a:p>
        </p:txBody>
      </p:sp>
      <p:sp>
        <p:nvSpPr>
          <p:cNvPr id="3" name="Content Placeholder 2"/>
          <p:cNvSpPr>
            <a:spLocks noGrp="1"/>
          </p:cNvSpPr>
          <p:nvPr>
            <p:ph idx="1"/>
          </p:nvPr>
        </p:nvSpPr>
        <p:spPr/>
        <p:txBody>
          <a:bodyPr/>
          <a:lstStyle/>
          <a:p/>
          <a:p>
            <a:pPr>
              <a:spcAft>
                <a:spcPts val="500"/>
              </a:spcAft>
              <a:defRPr sz="1600">
                <a:latin typeface="DejaVu Sans"/>
              </a:defRPr>
            </a:pPr>
            <a:r>
              <a:t>• AWS IoT offers a comprehensive suite centered around AWS IoT Core for secure device connectivity, message routing, and virtual device representations (Device Shadow), complemented by AWS IoT Greengrass for edge computing.</a:t>
            </a:r>
          </a:p>
          <a:p>
            <a:pPr>
              <a:spcAft>
                <a:spcPts val="500"/>
              </a:spcAft>
              <a:defRPr sz="1600">
                <a:latin typeface="DejaVu Sans"/>
              </a:defRPr>
            </a:pPr>
            <a:r>
              <a:t>• Azure IoT leverages Azure IoT Hub for secure bi-directional device communication and remote management via device twins, with Azure IoT Edge extending cloud intelligence to local devices and Azure Digital Twins for environmental modeling.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4.4: 4.4: Data Processing and Analytics for IoT (Part 1)</a:t>
            </a:r>
          </a:p>
        </p:txBody>
      </p:sp>
      <p:sp>
        <p:nvSpPr>
          <p:cNvPr id="3" name="Content Placeholder 2"/>
          <p:cNvSpPr>
            <a:spLocks noGrp="1"/>
          </p:cNvSpPr>
          <p:nvPr>
            <p:ph idx="1"/>
          </p:nvPr>
        </p:nvSpPr>
        <p:spPr/>
        <p:txBody>
          <a:bodyPr/>
          <a:lstStyle/>
          <a:p/>
          <a:p>
            <a:pPr>
              <a:spcAft>
                <a:spcPts val="500"/>
              </a:spcAft>
              <a:defRPr sz="1600">
                <a:latin typeface="DejaVu Sans"/>
              </a:defRPr>
            </a:pPr>
            <a:r>
              <a:t>• Introduction: The Internet of Things (IoT) generates an unprecedented volume of data from countless connected devices</a:t>
            </a:r>
          </a:p>
          <a:p>
            <a:pPr>
              <a:spcAft>
                <a:spcPts val="500"/>
              </a:spcAft>
              <a:defRPr sz="1600">
                <a:latin typeface="DejaVu Sans"/>
              </a:defRPr>
            </a:pPr>
            <a:r>
              <a:t>•  Raw IoT data, however, holds little inherent value until it is properly processed, analyzed, and transformed into actionable insights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4.4: 4.4: Data Processing and Analytics for IoT (Part 2)</a:t>
            </a:r>
          </a:p>
        </p:txBody>
      </p:sp>
      <p:sp>
        <p:nvSpPr>
          <p:cNvPr id="3" name="Content Placeholder 2"/>
          <p:cNvSpPr>
            <a:spLocks noGrp="1"/>
          </p:cNvSpPr>
          <p:nvPr>
            <p:ph idx="1"/>
          </p:nvPr>
        </p:nvSpPr>
        <p:spPr/>
        <p:txBody>
          <a:bodyPr/>
          <a:lstStyle/>
          <a:p/>
          <a:p>
            <a:pPr>
              <a:spcAft>
                <a:spcPts val="500"/>
              </a:spcAft>
              <a:defRPr sz="1600">
                <a:latin typeface="DejaVu Sans"/>
              </a:defRPr>
            </a:pPr>
            <a:r>
              <a:t>•  This lesson, "4</a:t>
            </a:r>
          </a:p>
          <a:p>
            <a:pPr>
              <a:spcAft>
                <a:spcPts val="500"/>
              </a:spcAft>
              <a:defRPr sz="1600">
                <a:latin typeface="DejaVu Sans"/>
              </a:defRPr>
            </a:pPr>
            <a:r>
              <a:t>• 4: Data Processing and Analytics for IoT," delves into the critical stages and techniques involved in converting this deluge of data into intelligence, enabling smart decisions and automated actions across various IoT applications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4.5: 4.5: Data Visualization and Dashboards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4</a:t>
            </a:r>
          </a:p>
          <a:p>
            <a:pPr>
              <a:spcAft>
                <a:spcPts val="500"/>
              </a:spcAft>
              <a:defRPr sz="1600">
                <a:latin typeface="DejaVu Sans"/>
              </a:defRPr>
            </a:pPr>
            <a:r>
              <a:t>• 5: Data Visualization and Dashboards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4.5: 4.5: Data Visualization and Dashboards (Part 2)</a:t>
            </a:r>
          </a:p>
        </p:txBody>
      </p:sp>
      <p:sp>
        <p:nvSpPr>
          <p:cNvPr id="3" name="Content Placeholder 2"/>
          <p:cNvSpPr>
            <a:spLocks noGrp="1"/>
          </p:cNvSpPr>
          <p:nvPr>
            <p:ph idx="1"/>
          </p:nvPr>
        </p:nvSpPr>
        <p:spPr/>
        <p:txBody>
          <a:bodyPr/>
          <a:lstStyle/>
          <a:p/>
          <a:p>
            <a:pPr>
              <a:spcAft>
                <a:spcPts val="500"/>
              </a:spcAft>
              <a:defRPr sz="1600">
                <a:latin typeface="DejaVu Sans"/>
              </a:defRPr>
            </a:pPr>
            <a:r>
              <a:t>•  In the previous lessons, we've explored how IoT devices collect vast amounts of data and how this data is processed and stored</a:t>
            </a:r>
          </a:p>
          <a:p>
            <a:pPr>
              <a:spcAft>
                <a:spcPts val="500"/>
              </a:spcAft>
              <a:defRPr sz="1600">
                <a:latin typeface="DejaVu Sans"/>
              </a:defRPr>
            </a:pPr>
            <a:r>
              <a:t>•  But what good is all that data if we can't understand it or extract meaningful insights from it? This is where data visualization and dashboards come into play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5.1: 5.1: IoT Security Challenges and Threats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5</a:t>
            </a:r>
          </a:p>
          <a:p>
            <a:pPr>
              <a:spcAft>
                <a:spcPts val="500"/>
              </a:spcAft>
              <a:defRPr sz="1600">
                <a:latin typeface="DejaVu Sans"/>
              </a:defRPr>
            </a:pPr>
            <a:r>
              <a:t>• 1: IoT Security Challenges and Threats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5.1: 5.1: IoT Security Challenges and Threats (Part 2)</a:t>
            </a:r>
          </a:p>
        </p:txBody>
      </p:sp>
      <p:sp>
        <p:nvSpPr>
          <p:cNvPr id="3" name="Content Placeholder 2"/>
          <p:cNvSpPr>
            <a:spLocks noGrp="1"/>
          </p:cNvSpPr>
          <p:nvPr>
            <p:ph idx="1"/>
          </p:nvPr>
        </p:nvSpPr>
        <p:spPr/>
        <p:txBody>
          <a:bodyPr/>
          <a:lstStyle/>
          <a:p/>
          <a:p>
            <a:pPr>
              <a:spcAft>
                <a:spcPts val="500"/>
              </a:spcAft>
              <a:defRPr sz="1600">
                <a:latin typeface="DejaVu Sans"/>
              </a:defRPr>
            </a:pPr>
            <a:r>
              <a:t>•  As the Internet of Things (IoT) expands, connecting billions of devices from smart homes to industrial sensors, the attack surface for cyber threats grows exponentially</a:t>
            </a:r>
          </a:p>
          <a:p>
            <a:pPr>
              <a:spcAft>
                <a:spcPts val="500"/>
              </a:spcAft>
              <a:defRPr sz="1600">
                <a:latin typeface="DejaVu Sans"/>
              </a:defRPr>
            </a:pPr>
            <a:r>
              <a:t>•  Unlike traditional IT systems, IoT introduces unique security complexities due to the diversity of devices, resource constraints, distributed nature, and often long lifecycles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5.2: 5.2: Securing IoT Devices and Networks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5</a:t>
            </a:r>
          </a:p>
          <a:p>
            <a:pPr>
              <a:spcAft>
                <a:spcPts val="500"/>
              </a:spcAft>
              <a:defRPr sz="1600">
                <a:latin typeface="DejaVu Sans"/>
              </a:defRPr>
            </a:pPr>
            <a:r>
              <a:t>• 2: Securing IoT Devices and Networks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5.2: 5.2: Securing IoT Devices and Networks (Part 2)</a:t>
            </a:r>
          </a:p>
        </p:txBody>
      </p:sp>
      <p:sp>
        <p:nvSpPr>
          <p:cNvPr id="3" name="Content Placeholder 2"/>
          <p:cNvSpPr>
            <a:spLocks noGrp="1"/>
          </p:cNvSpPr>
          <p:nvPr>
            <p:ph idx="1"/>
          </p:nvPr>
        </p:nvSpPr>
        <p:spPr/>
        <p:txBody>
          <a:bodyPr/>
          <a:lstStyle/>
          <a:p/>
          <a:p>
            <a:pPr>
              <a:spcAft>
                <a:spcPts val="500"/>
              </a:spcAft>
              <a:defRPr sz="1600">
                <a:latin typeface="DejaVu Sans"/>
              </a:defRPr>
            </a:pPr>
            <a:r>
              <a:t>•  As the Internet of Things (IoT) continues its rapid expansion, connecting billions of devices from smart home appliances to industrial sensors, the importance of robust security measures has never been more critical</a:t>
            </a:r>
          </a:p>
          <a:p>
            <a:pPr>
              <a:spcAft>
                <a:spcPts val="500"/>
              </a:spcAft>
              <a:defRPr sz="1600">
                <a:latin typeface="DejaVu Sans"/>
              </a:defRPr>
            </a:pPr>
            <a:r>
              <a:t>•  The very nature of IoT—distributed, diverse, and often resource-constrained devices—presents unique and complex security challenges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5.3: 5.3: Data Privacy and Regulatory Compliance (GDPR, CCPA) (Part 1)</a:t>
            </a:r>
          </a:p>
        </p:txBody>
      </p:sp>
      <p:sp>
        <p:nvSpPr>
          <p:cNvPr id="3" name="Content Placeholder 2"/>
          <p:cNvSpPr>
            <a:spLocks noGrp="1"/>
          </p:cNvSpPr>
          <p:nvPr>
            <p:ph idx="1"/>
          </p:nvPr>
        </p:nvSpPr>
        <p:spPr/>
        <p:txBody>
          <a:bodyPr/>
          <a:lstStyle/>
          <a:p/>
          <a:p>
            <a:pPr>
              <a:spcAft>
                <a:spcPts val="500"/>
              </a:spcAft>
              <a:defRPr sz="1600">
                <a:latin typeface="DejaVu Sans"/>
              </a:defRPr>
            </a:pPr>
            <a:r>
              <a:t>• &lt;h2&gt;5</a:t>
            </a:r>
          </a:p>
          <a:p>
            <a:pPr>
              <a:spcAft>
                <a:spcPts val="500"/>
              </a:spcAft>
              <a:defRPr sz="1600">
                <a:latin typeface="DejaVu Sans"/>
              </a:defRPr>
            </a:pPr>
            <a:r>
              <a:t>• 3: Data Privacy and Regulatory Compliance (GDPR, CCPA)&lt;/h2&gt;&lt;p&gt;Welcome to Lesson 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5.3: 5.3: Data Privacy and Regulatory Compliance (GDPR, CCPA) (Part 2)</a:t>
            </a:r>
          </a:p>
        </p:txBody>
      </p:sp>
      <p:sp>
        <p:nvSpPr>
          <p:cNvPr id="3" name="Content Placeholder 2"/>
          <p:cNvSpPr>
            <a:spLocks noGrp="1"/>
          </p:cNvSpPr>
          <p:nvPr>
            <p:ph idx="1"/>
          </p:nvPr>
        </p:nvSpPr>
        <p:spPr/>
        <p:txBody>
          <a:bodyPr/>
          <a:lstStyle/>
          <a:p/>
          <a:p>
            <a:pPr>
              <a:spcAft>
                <a:spcPts val="500"/>
              </a:spcAft>
              <a:defRPr sz="1600">
                <a:latin typeface="DejaVu Sans"/>
              </a:defRPr>
            </a:pPr>
            <a:r>
              <a:t>• 3, where we delve into one of the most critical aspects of modern technology, especially in the context of the Internet of Things: Data Privacy and Regulatory Compliance</a:t>
            </a:r>
          </a:p>
          <a:p>
            <a:pPr>
              <a:spcAft>
                <a:spcPts val="500"/>
              </a:spcAft>
              <a:defRPr sz="1600">
                <a:latin typeface="DejaVu Sans"/>
              </a:defRPr>
            </a:pPr>
            <a:r>
              <a:t>•  As IoT devices become ubiquitous, collecting vast amounts of personal and sensitive data, understanding how to protect this data and adhere to legal frameworks is not just good practice—it's a fundamental requirement for building trust and avoiding severe penalties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5.4: 5.4: Ethical Considerations in IoT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5</a:t>
            </a:r>
          </a:p>
          <a:p>
            <a:pPr>
              <a:spcAft>
                <a:spcPts val="500"/>
              </a:spcAft>
              <a:defRPr sz="1600">
                <a:latin typeface="DejaVu Sans"/>
              </a:defRPr>
            </a:pPr>
            <a:r>
              <a:t>• 4: Ethical Considerations in IoT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5.4: 5.4: Ethical Considerations in IoT (Part 2)</a:t>
            </a:r>
          </a:p>
        </p:txBody>
      </p:sp>
      <p:sp>
        <p:nvSpPr>
          <p:cNvPr id="3" name="Content Placeholder 2"/>
          <p:cNvSpPr>
            <a:spLocks noGrp="1"/>
          </p:cNvSpPr>
          <p:nvPr>
            <p:ph idx="1"/>
          </p:nvPr>
        </p:nvSpPr>
        <p:spPr/>
        <p:txBody>
          <a:bodyPr/>
          <a:lstStyle/>
          <a:p/>
          <a:p>
            <a:pPr>
              <a:spcAft>
                <a:spcPts val="500"/>
              </a:spcAft>
              <a:defRPr sz="1600">
                <a:latin typeface="DejaVu Sans"/>
              </a:defRPr>
            </a:pPr>
            <a:r>
              <a:t>•  As the Internet of Things (IoT) continues to expand its reach into every facet of our lives, from smart homes and wearable tech to industrial automation and smart cities, the ethical implications of these interconnected devices become increasingly critical</a:t>
            </a:r>
          </a:p>
          <a:p>
            <a:pPr>
              <a:spcAft>
                <a:spcPts val="500"/>
              </a:spcAft>
              <a:defRPr sz="1600">
                <a:latin typeface="DejaVu Sans"/>
              </a:defRPr>
            </a:pPr>
            <a:r>
              <a:t>•  While IoT promises unprecedented convenience, efficiency, and innovation, it also introduces complex challenges related to privacy, security, autonomy, bias, and accountability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5.5: 5.5: Future Trends: AI in IoT, 5G, Digital Twins, and Smart Cities (Part 1)</a:t>
            </a:r>
          </a:p>
        </p:txBody>
      </p:sp>
      <p:sp>
        <p:nvSpPr>
          <p:cNvPr id="3" name="Content Placeholder 2"/>
          <p:cNvSpPr>
            <a:spLocks noGrp="1"/>
          </p:cNvSpPr>
          <p:nvPr>
            <p:ph idx="1"/>
          </p:nvPr>
        </p:nvSpPr>
        <p:spPr/>
        <p:txBody>
          <a:bodyPr/>
          <a:lstStyle/>
          <a:p/>
          <a:p>
            <a:pPr>
              <a:spcAft>
                <a:spcPts val="500"/>
              </a:spcAft>
              <a:defRPr sz="1600">
                <a:latin typeface="DejaVu Sans"/>
              </a:defRPr>
            </a:pPr>
            <a:r>
              <a:t>• Welcome to Lesson 5</a:t>
            </a:r>
          </a:p>
          <a:p>
            <a:pPr>
              <a:spcAft>
                <a:spcPts val="500"/>
              </a:spcAft>
              <a:defRPr sz="1600">
                <a:latin typeface="DejaVu Sans"/>
              </a:defRPr>
            </a:pPr>
            <a:r>
              <a:t>• 5: Future Trends: AI in IoT, 5G, Digital Twins, and Smart Cities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5.5: 5.5: Future Trends: AI in IoT, 5G, Digital Twins, and Smart Cities (Part 2)</a:t>
            </a:r>
          </a:p>
        </p:txBody>
      </p:sp>
      <p:sp>
        <p:nvSpPr>
          <p:cNvPr id="3" name="Content Placeholder 2"/>
          <p:cNvSpPr>
            <a:spLocks noGrp="1"/>
          </p:cNvSpPr>
          <p:nvPr>
            <p:ph idx="1"/>
          </p:nvPr>
        </p:nvSpPr>
        <p:spPr/>
        <p:txBody>
          <a:bodyPr/>
          <a:lstStyle/>
          <a:p/>
          <a:p>
            <a:pPr>
              <a:spcAft>
                <a:spcPts val="500"/>
              </a:spcAft>
              <a:defRPr sz="1600">
                <a:latin typeface="DejaVu Sans"/>
              </a:defRPr>
            </a:pPr>
            <a:r>
              <a:t>•  In this lesson, we will explore the cutting-edge technologies that are shaping the next generation of the Internet of Things</a:t>
            </a:r>
          </a:p>
          <a:p>
            <a:pPr>
              <a:spcAft>
                <a:spcPts val="500"/>
              </a:spcAft>
              <a:defRPr sz="1600">
                <a:latin typeface="DejaVu Sans"/>
              </a:defRPr>
            </a:pPr>
            <a:r>
              <a:t>•  The convergence of Artificial Intelligence (AI), 5G connectivity, Digital Twins, and the concept of Smart Cities represents a powerful evolution, promising unprecedented levels of automation, efficiency, and intelligence across various domains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